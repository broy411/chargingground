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 id="2147483691" r:id="rId2"/>
  </p:sldMasterIdLst>
  <p:notesMasterIdLst>
    <p:notesMasterId r:id="rId45"/>
  </p:notesMasterIdLst>
  <p:handoutMasterIdLst>
    <p:handoutMasterId r:id="rId46"/>
  </p:handoutMasterIdLst>
  <p:sldIdLst>
    <p:sldId id="256" r:id="rId3"/>
    <p:sldId id="747" r:id="rId4"/>
    <p:sldId id="628" r:id="rId5"/>
    <p:sldId id="700" r:id="rId6"/>
    <p:sldId id="721" r:id="rId7"/>
    <p:sldId id="258" r:id="rId8"/>
    <p:sldId id="716" r:id="rId9"/>
    <p:sldId id="733" r:id="rId10"/>
    <p:sldId id="732" r:id="rId11"/>
    <p:sldId id="321" r:id="rId12"/>
    <p:sldId id="717" r:id="rId13"/>
    <p:sldId id="727" r:id="rId14"/>
    <p:sldId id="266" r:id="rId15"/>
    <p:sldId id="728" r:id="rId16"/>
    <p:sldId id="268" r:id="rId17"/>
    <p:sldId id="729" r:id="rId18"/>
    <p:sldId id="270" r:id="rId19"/>
    <p:sldId id="693" r:id="rId20"/>
    <p:sldId id="730" r:id="rId21"/>
    <p:sldId id="272" r:id="rId22"/>
    <p:sldId id="699" r:id="rId23"/>
    <p:sldId id="731" r:id="rId24"/>
    <p:sldId id="726" r:id="rId25"/>
    <p:sldId id="686" r:id="rId26"/>
    <p:sldId id="709" r:id="rId27"/>
    <p:sldId id="722" r:id="rId28"/>
    <p:sldId id="723" r:id="rId29"/>
    <p:sldId id="736" r:id="rId30"/>
    <p:sldId id="724" r:id="rId31"/>
    <p:sldId id="725" r:id="rId32"/>
    <p:sldId id="708" r:id="rId33"/>
    <p:sldId id="737" r:id="rId34"/>
    <p:sldId id="738" r:id="rId35"/>
    <p:sldId id="739" r:id="rId36"/>
    <p:sldId id="740" r:id="rId37"/>
    <p:sldId id="741" r:id="rId38"/>
    <p:sldId id="742" r:id="rId39"/>
    <p:sldId id="749" r:id="rId40"/>
    <p:sldId id="555" r:id="rId41"/>
    <p:sldId id="752" r:id="rId42"/>
    <p:sldId id="753" r:id="rId43"/>
    <p:sldId id="754" r:id="rId44"/>
  </p:sldIdLst>
  <p:sldSz cx="9144000" cy="5143500" type="screen16x9"/>
  <p:notesSz cx="7112000" cy="939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9AB3"/>
    <a:srgbClr val="22A9C4"/>
    <a:srgbClr val="BFD01E"/>
    <a:srgbClr val="D145D1"/>
    <a:srgbClr val="24B2CE"/>
    <a:srgbClr val="FFA117"/>
    <a:srgbClr val="2DBEDB"/>
    <a:srgbClr val="000000"/>
    <a:srgbClr val="F5922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67" autoAdjust="0"/>
    <p:restoredTop sz="94905" autoAdjust="0"/>
  </p:normalViewPr>
  <p:slideViewPr>
    <p:cSldViewPr snapToGrid="0" snapToObjects="1">
      <p:cViewPr varScale="1">
        <p:scale>
          <a:sx n="145" d="100"/>
          <a:sy n="145" d="100"/>
        </p:scale>
        <p:origin x="1128" y="17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snapToGrid="0" snapToObjects="1">
      <p:cViewPr varScale="1">
        <p:scale>
          <a:sx n="71" d="100"/>
          <a:sy n="71" d="100"/>
        </p:scale>
        <p:origin x="3536"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1D0BE7-04B7-1440-BB45-B0506ACE9042}" type="doc">
      <dgm:prSet loTypeId="urn:microsoft.com/office/officeart/2005/8/layout/pyramid1" loCatId="" qsTypeId="urn:microsoft.com/office/officeart/2005/8/quickstyle/simple4" qsCatId="simple" csTypeId="urn:microsoft.com/office/officeart/2005/8/colors/accent1_2" csCatId="accent1" phldr="1"/>
      <dgm:spPr/>
    </dgm:pt>
    <dgm:pt modelId="{57A8EF69-33C6-2F41-B2F3-F3BF3508DEA4}">
      <dgm:prSet phldrT="[Text]" custT="1"/>
      <dgm:spPr>
        <a:solidFill>
          <a:schemeClr val="tx1">
            <a:lumMod val="50000"/>
            <a:lumOff val="50000"/>
          </a:schemeClr>
        </a:solidFill>
      </dgm:spPr>
      <dgm:t>
        <a:bodyPr/>
        <a:lstStyle/>
        <a:p>
          <a:endParaRPr lang="en-US" sz="1200" dirty="0">
            <a:solidFill>
              <a:schemeClr val="bg1"/>
            </a:solidFill>
          </a:endParaRPr>
        </a:p>
        <a:p>
          <a:endParaRPr lang="en-US" sz="1200" dirty="0">
            <a:solidFill>
              <a:schemeClr val="bg1"/>
            </a:solidFill>
          </a:endParaRPr>
        </a:p>
        <a:p>
          <a:r>
            <a:rPr lang="en-US" sz="1400" dirty="0">
              <a:solidFill>
                <a:schemeClr val="bg1"/>
              </a:solidFill>
              <a:latin typeface="Calibri" panose="020F0502020204030204" pitchFamily="34" charset="0"/>
              <a:cs typeface="Calibri" panose="020F0502020204030204" pitchFamily="34" charset="0"/>
            </a:rPr>
            <a:t>PLANNING</a:t>
          </a:r>
        </a:p>
      </dgm:t>
    </dgm:pt>
    <dgm:pt modelId="{D4D5C088-E34A-D647-B64C-C2F4558AC277}" type="parTrans" cxnId="{32953A89-81AE-664B-A153-48C3E566FD3C}">
      <dgm:prSet/>
      <dgm:spPr/>
      <dgm:t>
        <a:bodyPr/>
        <a:lstStyle/>
        <a:p>
          <a:endParaRPr lang="en-US"/>
        </a:p>
      </dgm:t>
    </dgm:pt>
    <dgm:pt modelId="{22BCDA6C-1805-1F4F-A3BA-AB51CECF1469}" type="sibTrans" cxnId="{32953A89-81AE-664B-A153-48C3E566FD3C}">
      <dgm:prSet/>
      <dgm:spPr/>
      <dgm:t>
        <a:bodyPr/>
        <a:lstStyle/>
        <a:p>
          <a:endParaRPr lang="en-US"/>
        </a:p>
      </dgm:t>
    </dgm:pt>
    <dgm:pt modelId="{4008B111-5255-B04D-BE9A-022DB3F17AE6}">
      <dgm:prSet phldrT="[Text]" custT="1"/>
      <dgm:spPr>
        <a:solidFill>
          <a:srgbClr val="22A9C4"/>
        </a:solidFill>
      </dgm:spPr>
      <dgm:t>
        <a:bodyPr/>
        <a:lstStyle/>
        <a:p>
          <a:endParaRPr lang="en-US" sz="5400" dirty="0">
            <a:solidFill>
              <a:schemeClr val="bg1"/>
            </a:solidFill>
          </a:endParaRPr>
        </a:p>
        <a:p>
          <a:r>
            <a:rPr lang="en-US" sz="4050" dirty="0">
              <a:solidFill>
                <a:schemeClr val="bg1"/>
              </a:solidFill>
              <a:latin typeface="Calibri" panose="020F0502020204030204" pitchFamily="34" charset="0"/>
              <a:cs typeface="Calibri" panose="020F0502020204030204" pitchFamily="34" charset="0"/>
            </a:rPr>
            <a:t>EXECUTION</a:t>
          </a:r>
        </a:p>
      </dgm:t>
    </dgm:pt>
    <dgm:pt modelId="{717F4B39-5AFE-7C4C-8588-3ACD464DE593}" type="parTrans" cxnId="{D45CE9DA-D2BB-1549-AE7F-5FB2BF09FD39}">
      <dgm:prSet/>
      <dgm:spPr/>
      <dgm:t>
        <a:bodyPr/>
        <a:lstStyle/>
        <a:p>
          <a:endParaRPr lang="en-US"/>
        </a:p>
      </dgm:t>
    </dgm:pt>
    <dgm:pt modelId="{F76E48E6-8D5D-1147-834D-EDB61AAF9DD4}" type="sibTrans" cxnId="{D45CE9DA-D2BB-1549-AE7F-5FB2BF09FD39}">
      <dgm:prSet/>
      <dgm:spPr/>
      <dgm:t>
        <a:bodyPr/>
        <a:lstStyle/>
        <a:p>
          <a:endParaRPr lang="en-US"/>
        </a:p>
      </dgm:t>
    </dgm:pt>
    <dgm:pt modelId="{C84ECE4F-E345-1741-9A00-83A5BC985346}" type="pres">
      <dgm:prSet presAssocID="{A01D0BE7-04B7-1440-BB45-B0506ACE9042}" presName="Name0" presStyleCnt="0">
        <dgm:presLayoutVars>
          <dgm:dir/>
          <dgm:animLvl val="lvl"/>
          <dgm:resizeHandles val="exact"/>
        </dgm:presLayoutVars>
      </dgm:prSet>
      <dgm:spPr/>
    </dgm:pt>
    <dgm:pt modelId="{68CF7429-F472-714E-9C46-E535B178E77D}" type="pres">
      <dgm:prSet presAssocID="{57A8EF69-33C6-2F41-B2F3-F3BF3508DEA4}" presName="Name8" presStyleCnt="0"/>
      <dgm:spPr/>
    </dgm:pt>
    <dgm:pt modelId="{CB84AE65-078A-704A-96AD-87D314144674}" type="pres">
      <dgm:prSet presAssocID="{57A8EF69-33C6-2F41-B2F3-F3BF3508DEA4}" presName="level" presStyleLbl="node1" presStyleIdx="0" presStyleCnt="2" custScaleY="59553">
        <dgm:presLayoutVars>
          <dgm:chMax val="1"/>
          <dgm:bulletEnabled val="1"/>
        </dgm:presLayoutVars>
      </dgm:prSet>
      <dgm:spPr/>
    </dgm:pt>
    <dgm:pt modelId="{50473AD7-D718-2842-823B-C50429AE110A}" type="pres">
      <dgm:prSet presAssocID="{57A8EF69-33C6-2F41-B2F3-F3BF3508DEA4}" presName="levelTx" presStyleLbl="revTx" presStyleIdx="0" presStyleCnt="0">
        <dgm:presLayoutVars>
          <dgm:chMax val="1"/>
          <dgm:bulletEnabled val="1"/>
        </dgm:presLayoutVars>
      </dgm:prSet>
      <dgm:spPr/>
    </dgm:pt>
    <dgm:pt modelId="{D6EE4FC4-5467-3D47-9FAE-03E252BB8411}" type="pres">
      <dgm:prSet presAssocID="{4008B111-5255-B04D-BE9A-022DB3F17AE6}" presName="Name8" presStyleCnt="0"/>
      <dgm:spPr/>
    </dgm:pt>
    <dgm:pt modelId="{E3B33ACB-0F26-A144-8D97-716E77569C0A}" type="pres">
      <dgm:prSet presAssocID="{4008B111-5255-B04D-BE9A-022DB3F17AE6}" presName="level" presStyleLbl="node1" presStyleIdx="1" presStyleCnt="2">
        <dgm:presLayoutVars>
          <dgm:chMax val="1"/>
          <dgm:bulletEnabled val="1"/>
        </dgm:presLayoutVars>
      </dgm:prSet>
      <dgm:spPr/>
    </dgm:pt>
    <dgm:pt modelId="{5F328572-9092-DE45-9621-C3E45E9D7330}" type="pres">
      <dgm:prSet presAssocID="{4008B111-5255-B04D-BE9A-022DB3F17AE6}" presName="levelTx" presStyleLbl="revTx" presStyleIdx="0" presStyleCnt="0">
        <dgm:presLayoutVars>
          <dgm:chMax val="1"/>
          <dgm:bulletEnabled val="1"/>
        </dgm:presLayoutVars>
      </dgm:prSet>
      <dgm:spPr/>
    </dgm:pt>
  </dgm:ptLst>
  <dgm:cxnLst>
    <dgm:cxn modelId="{E7154132-12CC-974C-812A-7C462E636D06}" type="presOf" srcId="{4008B111-5255-B04D-BE9A-022DB3F17AE6}" destId="{E3B33ACB-0F26-A144-8D97-716E77569C0A}" srcOrd="0" destOrd="0" presId="urn:microsoft.com/office/officeart/2005/8/layout/pyramid1"/>
    <dgm:cxn modelId="{4B0E3E68-CA64-824B-8593-C54F5E0B0263}" type="presOf" srcId="{57A8EF69-33C6-2F41-B2F3-F3BF3508DEA4}" destId="{CB84AE65-078A-704A-96AD-87D314144674}" srcOrd="0" destOrd="0" presId="urn:microsoft.com/office/officeart/2005/8/layout/pyramid1"/>
    <dgm:cxn modelId="{32953A89-81AE-664B-A153-48C3E566FD3C}" srcId="{A01D0BE7-04B7-1440-BB45-B0506ACE9042}" destId="{57A8EF69-33C6-2F41-B2F3-F3BF3508DEA4}" srcOrd="0" destOrd="0" parTransId="{D4D5C088-E34A-D647-B64C-C2F4558AC277}" sibTransId="{22BCDA6C-1805-1F4F-A3BA-AB51CECF1469}"/>
    <dgm:cxn modelId="{E1282CC7-9851-F047-9EF5-54ED07B0693A}" type="presOf" srcId="{A01D0BE7-04B7-1440-BB45-B0506ACE9042}" destId="{C84ECE4F-E345-1741-9A00-83A5BC985346}" srcOrd="0" destOrd="0" presId="urn:microsoft.com/office/officeart/2005/8/layout/pyramid1"/>
    <dgm:cxn modelId="{D45CE9DA-D2BB-1549-AE7F-5FB2BF09FD39}" srcId="{A01D0BE7-04B7-1440-BB45-B0506ACE9042}" destId="{4008B111-5255-B04D-BE9A-022DB3F17AE6}" srcOrd="1" destOrd="0" parTransId="{717F4B39-5AFE-7C4C-8588-3ACD464DE593}" sibTransId="{F76E48E6-8D5D-1147-834D-EDB61AAF9DD4}"/>
    <dgm:cxn modelId="{552995DC-9248-6E40-8F53-30AB7715DDB1}" type="presOf" srcId="{57A8EF69-33C6-2F41-B2F3-F3BF3508DEA4}" destId="{50473AD7-D718-2842-823B-C50429AE110A}" srcOrd="1" destOrd="0" presId="urn:microsoft.com/office/officeart/2005/8/layout/pyramid1"/>
    <dgm:cxn modelId="{1FF916F0-139B-054C-819F-AD2C73269962}" type="presOf" srcId="{4008B111-5255-B04D-BE9A-022DB3F17AE6}" destId="{5F328572-9092-DE45-9621-C3E45E9D7330}" srcOrd="1" destOrd="0" presId="urn:microsoft.com/office/officeart/2005/8/layout/pyramid1"/>
    <dgm:cxn modelId="{87BD8D78-7A67-CB4A-B617-FC53B4814736}" type="presParOf" srcId="{C84ECE4F-E345-1741-9A00-83A5BC985346}" destId="{68CF7429-F472-714E-9C46-E535B178E77D}" srcOrd="0" destOrd="0" presId="urn:microsoft.com/office/officeart/2005/8/layout/pyramid1"/>
    <dgm:cxn modelId="{BEB73292-8429-A74E-B20E-143C6A7C8F79}" type="presParOf" srcId="{68CF7429-F472-714E-9C46-E535B178E77D}" destId="{CB84AE65-078A-704A-96AD-87D314144674}" srcOrd="0" destOrd="0" presId="urn:microsoft.com/office/officeart/2005/8/layout/pyramid1"/>
    <dgm:cxn modelId="{E88D1E83-3705-2F42-BB12-E19CD0160432}" type="presParOf" srcId="{68CF7429-F472-714E-9C46-E535B178E77D}" destId="{50473AD7-D718-2842-823B-C50429AE110A}" srcOrd="1" destOrd="0" presId="urn:microsoft.com/office/officeart/2005/8/layout/pyramid1"/>
    <dgm:cxn modelId="{B5D0DA7A-EDA3-3542-B8AA-E0B79EC8A768}" type="presParOf" srcId="{C84ECE4F-E345-1741-9A00-83A5BC985346}" destId="{D6EE4FC4-5467-3D47-9FAE-03E252BB8411}" srcOrd="1" destOrd="0" presId="urn:microsoft.com/office/officeart/2005/8/layout/pyramid1"/>
    <dgm:cxn modelId="{75644E7C-5200-3246-9C68-24E3BE2A5189}" type="presParOf" srcId="{D6EE4FC4-5467-3D47-9FAE-03E252BB8411}" destId="{E3B33ACB-0F26-A144-8D97-716E77569C0A}" srcOrd="0" destOrd="0" presId="urn:microsoft.com/office/officeart/2005/8/layout/pyramid1"/>
    <dgm:cxn modelId="{C86DD9BC-5E28-AC4E-AFD6-CAFE89B8A056}" type="presParOf" srcId="{D6EE4FC4-5467-3D47-9FAE-03E252BB8411}" destId="{5F328572-9092-DE45-9621-C3E45E9D7330}"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4AE65-078A-704A-96AD-87D314144674}">
      <dsp:nvSpPr>
        <dsp:cNvPr id="0" name=""/>
        <dsp:cNvSpPr/>
      </dsp:nvSpPr>
      <dsp:spPr>
        <a:xfrm>
          <a:off x="1249844" y="0"/>
          <a:ext cx="1488639" cy="1361991"/>
        </a:xfrm>
        <a:prstGeom prst="trapezoid">
          <a:avLst>
            <a:gd name="adj" fmla="val 54649"/>
          </a:avLst>
        </a:prstGeom>
        <a:solidFill>
          <a:schemeClr val="tx1">
            <a:lumMod val="50000"/>
            <a:lumOff val="5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dirty="0">
            <a:solidFill>
              <a:schemeClr val="bg1"/>
            </a:solidFill>
          </a:endParaRPr>
        </a:p>
        <a:p>
          <a:pPr marL="0" lvl="0" indent="0" algn="ctr" defTabSz="533400">
            <a:lnSpc>
              <a:spcPct val="90000"/>
            </a:lnSpc>
            <a:spcBef>
              <a:spcPct val="0"/>
            </a:spcBef>
            <a:spcAft>
              <a:spcPct val="35000"/>
            </a:spcAft>
            <a:buNone/>
          </a:pPr>
          <a:endParaRPr lang="en-US" sz="1200" kern="1200" dirty="0">
            <a:solidFill>
              <a:schemeClr val="bg1"/>
            </a:solidFill>
          </a:endParaRPr>
        </a:p>
        <a:p>
          <a:pPr marL="0" lvl="0" indent="0" algn="ctr" defTabSz="533400">
            <a:lnSpc>
              <a:spcPct val="90000"/>
            </a:lnSpc>
            <a:spcBef>
              <a:spcPct val="0"/>
            </a:spcBef>
            <a:spcAft>
              <a:spcPct val="35000"/>
            </a:spcAft>
            <a:buNone/>
          </a:pPr>
          <a:r>
            <a:rPr lang="en-US" sz="1400" kern="1200" dirty="0">
              <a:solidFill>
                <a:schemeClr val="bg1"/>
              </a:solidFill>
              <a:latin typeface="Calibri" panose="020F0502020204030204" pitchFamily="34" charset="0"/>
              <a:cs typeface="Calibri" panose="020F0502020204030204" pitchFamily="34" charset="0"/>
            </a:rPr>
            <a:t>PLANNING</a:t>
          </a:r>
        </a:p>
      </dsp:txBody>
      <dsp:txXfrm>
        <a:off x="1249844" y="0"/>
        <a:ext cx="1488639" cy="1361991"/>
      </dsp:txXfrm>
    </dsp:sp>
    <dsp:sp modelId="{E3B33ACB-0F26-A144-8D97-716E77569C0A}">
      <dsp:nvSpPr>
        <dsp:cNvPr id="0" name=""/>
        <dsp:cNvSpPr/>
      </dsp:nvSpPr>
      <dsp:spPr>
        <a:xfrm>
          <a:off x="0" y="1361991"/>
          <a:ext cx="3988327" cy="2287024"/>
        </a:xfrm>
        <a:prstGeom prst="trapezoid">
          <a:avLst>
            <a:gd name="adj" fmla="val 54649"/>
          </a:avLst>
        </a:prstGeom>
        <a:solidFill>
          <a:srgbClr val="22A9C4"/>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2400300">
            <a:lnSpc>
              <a:spcPct val="90000"/>
            </a:lnSpc>
            <a:spcBef>
              <a:spcPct val="0"/>
            </a:spcBef>
            <a:spcAft>
              <a:spcPct val="35000"/>
            </a:spcAft>
            <a:buNone/>
          </a:pPr>
          <a:endParaRPr lang="en-US" sz="5400" kern="1200" dirty="0">
            <a:solidFill>
              <a:schemeClr val="bg1"/>
            </a:solidFill>
          </a:endParaRPr>
        </a:p>
        <a:p>
          <a:pPr marL="0" lvl="0" indent="0" algn="ctr" defTabSz="2400300">
            <a:lnSpc>
              <a:spcPct val="90000"/>
            </a:lnSpc>
            <a:spcBef>
              <a:spcPct val="0"/>
            </a:spcBef>
            <a:spcAft>
              <a:spcPct val="35000"/>
            </a:spcAft>
            <a:buNone/>
          </a:pPr>
          <a:r>
            <a:rPr lang="en-US" sz="4050" kern="1200" dirty="0">
              <a:solidFill>
                <a:schemeClr val="bg1"/>
              </a:solidFill>
              <a:latin typeface="Calibri" panose="020F0502020204030204" pitchFamily="34" charset="0"/>
              <a:cs typeface="Calibri" panose="020F0502020204030204" pitchFamily="34" charset="0"/>
            </a:rPr>
            <a:t>EXECUTION</a:t>
          </a:r>
        </a:p>
      </dsp:txBody>
      <dsp:txXfrm>
        <a:off x="697957" y="1361991"/>
        <a:ext cx="2592413" cy="2287024"/>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82460" cy="470062"/>
          </a:xfrm>
          <a:prstGeom prst="rect">
            <a:avLst/>
          </a:prstGeom>
        </p:spPr>
        <p:txBody>
          <a:bodyPr vert="horz" lIns="93132" tIns="46566" rIns="93132" bIns="46566" rtlCol="0"/>
          <a:lstStyle>
            <a:lvl1pPr algn="l">
              <a:defRPr sz="1200"/>
            </a:lvl1pPr>
          </a:lstStyle>
          <a:p>
            <a:endParaRPr lang="en-US" dirty="0"/>
          </a:p>
        </p:txBody>
      </p:sp>
      <p:sp>
        <p:nvSpPr>
          <p:cNvPr id="3" name="Date Placeholder 2"/>
          <p:cNvSpPr>
            <a:spLocks noGrp="1"/>
          </p:cNvSpPr>
          <p:nvPr>
            <p:ph type="dt" sz="quarter" idx="1"/>
          </p:nvPr>
        </p:nvSpPr>
        <p:spPr>
          <a:xfrm>
            <a:off x="4027921" y="1"/>
            <a:ext cx="3082460" cy="470062"/>
          </a:xfrm>
          <a:prstGeom prst="rect">
            <a:avLst/>
          </a:prstGeom>
        </p:spPr>
        <p:txBody>
          <a:bodyPr vert="horz" lIns="93132" tIns="46566" rIns="93132" bIns="46566" rtlCol="0"/>
          <a:lstStyle>
            <a:lvl1pPr algn="r">
              <a:defRPr sz="1200"/>
            </a:lvl1pPr>
          </a:lstStyle>
          <a:p>
            <a:fld id="{F4049FF4-57F5-4A9E-A64B-55B463AEFB9A}" type="datetimeFigureOut">
              <a:rPr lang="en-US" smtClean="0"/>
              <a:t>11/3/25</a:t>
            </a:fld>
            <a:endParaRPr lang="en-US" dirty="0"/>
          </a:p>
        </p:txBody>
      </p:sp>
      <p:sp>
        <p:nvSpPr>
          <p:cNvPr id="4" name="Footer Placeholder 3"/>
          <p:cNvSpPr>
            <a:spLocks noGrp="1"/>
          </p:cNvSpPr>
          <p:nvPr>
            <p:ph type="ftr" sz="quarter" idx="2"/>
          </p:nvPr>
        </p:nvSpPr>
        <p:spPr>
          <a:xfrm>
            <a:off x="0" y="8926324"/>
            <a:ext cx="3082460" cy="470062"/>
          </a:xfrm>
          <a:prstGeom prst="rect">
            <a:avLst/>
          </a:prstGeom>
        </p:spPr>
        <p:txBody>
          <a:bodyPr vert="horz" lIns="93132" tIns="46566" rIns="93132" bIns="46566"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27921" y="8926324"/>
            <a:ext cx="3082460" cy="470062"/>
          </a:xfrm>
          <a:prstGeom prst="rect">
            <a:avLst/>
          </a:prstGeom>
        </p:spPr>
        <p:txBody>
          <a:bodyPr vert="horz" lIns="93132" tIns="46566" rIns="93132" bIns="46566" rtlCol="0" anchor="b"/>
          <a:lstStyle>
            <a:lvl1pPr algn="r">
              <a:defRPr sz="1200"/>
            </a:lvl1pPr>
          </a:lstStyle>
          <a:p>
            <a:fld id="{9D35598C-59FE-450C-AFA8-084D5A37736B}" type="slidenum">
              <a:rPr lang="en-US" smtClean="0"/>
              <a:t>‹#›</a:t>
            </a:fld>
            <a:endParaRPr lang="en-US" dirty="0"/>
          </a:p>
        </p:txBody>
      </p:sp>
    </p:spTree>
    <p:extLst>
      <p:ext uri="{BB962C8B-B14F-4D97-AF65-F5344CB8AC3E}">
        <p14:creationId xmlns:p14="http://schemas.microsoft.com/office/powerpoint/2010/main" val="24166657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81867" cy="469900"/>
          </a:xfrm>
          <a:prstGeom prst="rect">
            <a:avLst/>
          </a:prstGeom>
        </p:spPr>
        <p:txBody>
          <a:bodyPr vert="horz" lIns="94333" tIns="47167" rIns="94333" bIns="47167" rtlCol="0"/>
          <a:lstStyle>
            <a:lvl1pPr algn="l">
              <a:defRPr sz="1200"/>
            </a:lvl1pPr>
          </a:lstStyle>
          <a:p>
            <a:endParaRPr lang="en-US" dirty="0"/>
          </a:p>
        </p:txBody>
      </p:sp>
      <p:sp>
        <p:nvSpPr>
          <p:cNvPr id="3" name="Date Placeholder 2"/>
          <p:cNvSpPr>
            <a:spLocks noGrp="1"/>
          </p:cNvSpPr>
          <p:nvPr>
            <p:ph type="dt" idx="1"/>
          </p:nvPr>
        </p:nvSpPr>
        <p:spPr>
          <a:xfrm>
            <a:off x="4028487" y="0"/>
            <a:ext cx="3081867" cy="469900"/>
          </a:xfrm>
          <a:prstGeom prst="rect">
            <a:avLst/>
          </a:prstGeom>
        </p:spPr>
        <p:txBody>
          <a:bodyPr vert="horz" lIns="94333" tIns="47167" rIns="94333" bIns="47167" rtlCol="0"/>
          <a:lstStyle>
            <a:lvl1pPr algn="r">
              <a:defRPr sz="1200"/>
            </a:lvl1pPr>
          </a:lstStyle>
          <a:p>
            <a:fld id="{003BD1DC-B2B1-4725-AB06-0761BAD011D0}" type="datetimeFigureOut">
              <a:rPr lang="en-US" smtClean="0"/>
              <a:pPr/>
              <a:t>11/3/25</a:t>
            </a:fld>
            <a:endParaRPr lang="en-US" dirty="0"/>
          </a:p>
        </p:txBody>
      </p:sp>
      <p:sp>
        <p:nvSpPr>
          <p:cNvPr id="4" name="Slide Image Placeholder 3"/>
          <p:cNvSpPr>
            <a:spLocks noGrp="1" noRot="1" noChangeAspect="1"/>
          </p:cNvSpPr>
          <p:nvPr>
            <p:ph type="sldImg" idx="2"/>
          </p:nvPr>
        </p:nvSpPr>
        <p:spPr>
          <a:xfrm>
            <a:off x="423863" y="704850"/>
            <a:ext cx="6264275" cy="3524250"/>
          </a:xfrm>
          <a:prstGeom prst="rect">
            <a:avLst/>
          </a:prstGeom>
          <a:noFill/>
          <a:ln w="12700">
            <a:solidFill>
              <a:prstClr val="black"/>
            </a:solidFill>
          </a:ln>
        </p:spPr>
        <p:txBody>
          <a:bodyPr vert="horz" lIns="94333" tIns="47167" rIns="94333" bIns="47167" rtlCol="0" anchor="ctr"/>
          <a:lstStyle/>
          <a:p>
            <a:endParaRPr lang="en-US" dirty="0"/>
          </a:p>
        </p:txBody>
      </p:sp>
      <p:sp>
        <p:nvSpPr>
          <p:cNvPr id="5" name="Notes Placeholder 4"/>
          <p:cNvSpPr>
            <a:spLocks noGrp="1"/>
          </p:cNvSpPr>
          <p:nvPr>
            <p:ph type="body" sz="quarter" idx="3"/>
          </p:nvPr>
        </p:nvSpPr>
        <p:spPr>
          <a:xfrm>
            <a:off x="711200" y="4464051"/>
            <a:ext cx="5689600" cy="4229100"/>
          </a:xfrm>
          <a:prstGeom prst="rect">
            <a:avLst/>
          </a:prstGeom>
        </p:spPr>
        <p:txBody>
          <a:bodyPr vert="horz" lIns="94333" tIns="47167" rIns="94333" bIns="4716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26469"/>
            <a:ext cx="3081867" cy="469900"/>
          </a:xfrm>
          <a:prstGeom prst="rect">
            <a:avLst/>
          </a:prstGeom>
        </p:spPr>
        <p:txBody>
          <a:bodyPr vert="horz" lIns="94333" tIns="47167" rIns="94333" bIns="47167"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8487" y="8926469"/>
            <a:ext cx="3081867" cy="469900"/>
          </a:xfrm>
          <a:prstGeom prst="rect">
            <a:avLst/>
          </a:prstGeom>
        </p:spPr>
        <p:txBody>
          <a:bodyPr vert="horz" lIns="94333" tIns="47167" rIns="94333" bIns="47167" rtlCol="0" anchor="b"/>
          <a:lstStyle>
            <a:lvl1pPr algn="r">
              <a:defRPr sz="1200"/>
            </a:lvl1pPr>
          </a:lstStyle>
          <a:p>
            <a:fld id="{50A5B7F4-5B36-4259-9317-2F902EED9069}" type="slidenum">
              <a:rPr lang="en-US" smtClean="0"/>
              <a:pPr/>
              <a:t>‹#›</a:t>
            </a:fld>
            <a:endParaRPr lang="en-US" dirty="0"/>
          </a:p>
        </p:txBody>
      </p:sp>
    </p:spTree>
    <p:extLst>
      <p:ext uri="{BB962C8B-B14F-4D97-AF65-F5344CB8AC3E}">
        <p14:creationId xmlns:p14="http://schemas.microsoft.com/office/powerpoint/2010/main" val="3374409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1</a:t>
            </a:fld>
            <a:endParaRPr lang="en-US" dirty="0"/>
          </a:p>
        </p:txBody>
      </p:sp>
    </p:spTree>
    <p:extLst>
      <p:ext uri="{BB962C8B-B14F-4D97-AF65-F5344CB8AC3E}">
        <p14:creationId xmlns:p14="http://schemas.microsoft.com/office/powerpoint/2010/main" val="607843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A5B7F4-5B36-4259-9317-2F902EED9069}" type="slidenum">
              <a:rPr lang="en-US" smtClean="0"/>
              <a:pPr/>
              <a:t>2</a:t>
            </a:fld>
            <a:endParaRPr lang="en-US"/>
          </a:p>
        </p:txBody>
      </p:sp>
    </p:spTree>
    <p:extLst>
      <p:ext uri="{BB962C8B-B14F-4D97-AF65-F5344CB8AC3E}">
        <p14:creationId xmlns:p14="http://schemas.microsoft.com/office/powerpoint/2010/main" val="4174288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txBody>
          <a:bodyPr/>
          <a:lstStyle/>
          <a:p>
            <a:endParaRPr lang="en-US"/>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3</a:t>
            </a:fld>
            <a:endParaRPr lang="en-GB" dirty="0">
              <a:solidFill>
                <a:prstClr val="black"/>
              </a:solidFill>
            </a:endParaRPr>
          </a:p>
        </p:txBody>
      </p:sp>
    </p:spTree>
    <p:extLst>
      <p:ext uri="{BB962C8B-B14F-4D97-AF65-F5344CB8AC3E}">
        <p14:creationId xmlns:p14="http://schemas.microsoft.com/office/powerpoint/2010/main" val="2069307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txBody>
          <a:bodyPr/>
          <a:lstStyle/>
          <a:p>
            <a:endParaRPr lang="en-US"/>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4</a:t>
            </a:fld>
            <a:endParaRPr lang="en-GB" dirty="0">
              <a:solidFill>
                <a:prstClr val="black"/>
              </a:solidFill>
            </a:endParaRPr>
          </a:p>
        </p:txBody>
      </p:sp>
    </p:spTree>
    <p:extLst>
      <p:ext uri="{BB962C8B-B14F-4D97-AF65-F5344CB8AC3E}">
        <p14:creationId xmlns:p14="http://schemas.microsoft.com/office/powerpoint/2010/main" val="1867376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More and more companies are questioning the value of traditional performance review practices – the focus is more on development (coaching/mentoring) vs. bureaucratic evaluation.  </a:t>
            </a:r>
          </a:p>
          <a:p>
            <a:endParaRPr lang="en-US" dirty="0"/>
          </a:p>
          <a:p>
            <a:r>
              <a:rPr lang="en-US" b="1" dirty="0"/>
              <a:t>Love this quote from GE’s SVP of Human Resources, Susan Peters:  “</a:t>
            </a:r>
            <a:r>
              <a:rPr lang="en-US" sz="1200" b="1" i="0" u="none" strike="noStrike" kern="1200" dirty="0">
                <a:solidFill>
                  <a:schemeClr val="tx1"/>
                </a:solidFill>
                <a:effectLst/>
                <a:latin typeface="+mn-lt"/>
                <a:ea typeface="+mn-ea"/>
                <a:cs typeface="+mn-cs"/>
              </a:rPr>
              <a:t>The world isn’t really on an annual cycle any more for anything.”  </a:t>
            </a:r>
          </a:p>
          <a:p>
            <a:endParaRPr lang="en-US" sz="1200" b="1"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More context in Fast Company’s, “The annual performance review is going extinct.” (https://www.fastcompany.com/3052135/why-the-annual-performance-review-is-going-extinct)</a:t>
            </a:r>
            <a:endParaRPr lang="en-US" dirty="0"/>
          </a:p>
          <a:p>
            <a:endParaRPr lang="en-US" dirty="0"/>
          </a:p>
        </p:txBody>
      </p:sp>
      <p:sp>
        <p:nvSpPr>
          <p:cNvPr id="4" name="Slide Number Placeholder 3"/>
          <p:cNvSpPr>
            <a:spLocks noGrp="1"/>
          </p:cNvSpPr>
          <p:nvPr>
            <p:ph type="sldNum" sz="quarter" idx="10"/>
          </p:nvPr>
        </p:nvSpPr>
        <p:spPr/>
        <p:txBody>
          <a:bodyPr/>
          <a:lstStyle/>
          <a:p>
            <a:fld id="{DA59B171-7D14-C747-B9B5-2BC125A2F385}" type="slidenum">
              <a:rPr lang="en-US" smtClean="0"/>
              <a:t>5</a:t>
            </a:fld>
            <a:endParaRPr lang="en-US" dirty="0"/>
          </a:p>
        </p:txBody>
      </p:sp>
    </p:spTree>
    <p:extLst>
      <p:ext uri="{BB962C8B-B14F-4D97-AF65-F5344CB8AC3E}">
        <p14:creationId xmlns:p14="http://schemas.microsoft.com/office/powerpoint/2010/main" val="1578193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A59B171-7D14-C747-B9B5-2BC125A2F385}" type="slidenum">
              <a:rPr lang="en-US" smtClean="0"/>
              <a:t>6</a:t>
            </a:fld>
            <a:endParaRPr lang="en-US" dirty="0"/>
          </a:p>
        </p:txBody>
      </p:sp>
    </p:spTree>
    <p:extLst>
      <p:ext uri="{BB962C8B-B14F-4D97-AF65-F5344CB8AC3E}">
        <p14:creationId xmlns:p14="http://schemas.microsoft.com/office/powerpoint/2010/main" val="2426198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Use the HEAR model:  Hear, Empathize, Analyze, Respond</a:t>
            </a:r>
          </a:p>
        </p:txBody>
      </p:sp>
      <p:sp>
        <p:nvSpPr>
          <p:cNvPr id="4" name="Slide Number Placeholder 3"/>
          <p:cNvSpPr>
            <a:spLocks noGrp="1"/>
          </p:cNvSpPr>
          <p:nvPr>
            <p:ph type="sldNum" sz="quarter" idx="5"/>
          </p:nvPr>
        </p:nvSpPr>
        <p:spPr/>
        <p:txBody>
          <a:bodyPr/>
          <a:lstStyle/>
          <a:p>
            <a:fld id="{50A5B7F4-5B36-4259-9317-2F902EED9069}" type="slidenum">
              <a:rPr lang="en-US" smtClean="0"/>
              <a:pPr/>
              <a:t>8</a:t>
            </a:fld>
            <a:endParaRPr lang="en-US" dirty="0"/>
          </a:p>
        </p:txBody>
      </p:sp>
    </p:spTree>
    <p:extLst>
      <p:ext uri="{BB962C8B-B14F-4D97-AF65-F5344CB8AC3E}">
        <p14:creationId xmlns:p14="http://schemas.microsoft.com/office/powerpoint/2010/main" val="766248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Planning as it relates to feedback conversations can entail: </a:t>
            </a:r>
          </a:p>
          <a:p>
            <a:endParaRPr lang="en-US" dirty="0"/>
          </a:p>
          <a:p>
            <a:pPr marL="171450" indent="-171450">
              <a:buFont typeface="Arial" panose="020B0604020202020204" pitchFamily="34" charset="0"/>
              <a:buChar char="•"/>
            </a:pPr>
            <a:r>
              <a:rPr lang="en-US" dirty="0"/>
              <a:t>Knowing what our triggers are and investing the time to develop skills needed so that we can fully receive feedback</a:t>
            </a:r>
          </a:p>
          <a:p>
            <a:pPr marL="171450" indent="-171450">
              <a:buFont typeface="Arial" panose="020B0604020202020204" pitchFamily="34" charset="0"/>
              <a:buChar char="•"/>
            </a:pPr>
            <a:r>
              <a:rPr lang="en-US" dirty="0"/>
              <a:t>Understanding how those with whom we work want to receive feedback and what their triggers might be (and what we can do to better frame our feedback so that it is effectively received)</a:t>
            </a:r>
          </a:p>
          <a:p>
            <a:pPr marL="171450" indent="-171450">
              <a:buFont typeface="Arial" panose="020B0604020202020204" pitchFamily="34" charset="0"/>
              <a:buChar char="•"/>
            </a:pPr>
            <a:r>
              <a:rPr lang="en-US" dirty="0"/>
              <a:t>Understanding the bigger picture – why the feedback you’re sharing is so important </a:t>
            </a:r>
          </a:p>
          <a:p>
            <a:pPr marL="171450" indent="-171450">
              <a:buFont typeface="Arial" panose="020B0604020202020204" pitchFamily="34" charset="0"/>
              <a:buChar char="•"/>
            </a:pPr>
            <a:r>
              <a:rPr lang="en-US" dirty="0"/>
              <a:t>And especially for the more formal conversations – investing the time in fully preparing (see steps listed on next slide)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Planning isn’t just about investing time – it’s about being thoughtful before you jump to conclusions. </a:t>
            </a:r>
          </a:p>
        </p:txBody>
      </p:sp>
      <p:sp>
        <p:nvSpPr>
          <p:cNvPr id="4" name="Slide Number Placeholder 3"/>
          <p:cNvSpPr>
            <a:spLocks noGrp="1"/>
          </p:cNvSpPr>
          <p:nvPr>
            <p:ph type="sldNum" sz="quarter" idx="10"/>
          </p:nvPr>
        </p:nvSpPr>
        <p:spPr/>
        <p:txBody>
          <a:bodyPr/>
          <a:lstStyle/>
          <a:p>
            <a:fld id="{BEC19E8B-B3B0-47FE-9801-C9A565C49809}" type="slidenum">
              <a:rPr lang="en-US" smtClean="0"/>
              <a:t>10</a:t>
            </a:fld>
            <a:endParaRPr lang="en-US" dirty="0"/>
          </a:p>
        </p:txBody>
      </p:sp>
    </p:spTree>
    <p:extLst>
      <p:ext uri="{BB962C8B-B14F-4D97-AF65-F5344CB8AC3E}">
        <p14:creationId xmlns:p14="http://schemas.microsoft.com/office/powerpoint/2010/main" val="1903474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pPr marL="171450" indent="-171450" eaLnBrk="1" hangingPunct="1">
              <a:buFont typeface="Arial" panose="020B0604020202020204" pitchFamily="34" charset="0"/>
              <a:buChar char="•"/>
            </a:pPr>
            <a:r>
              <a:rPr lang="en-US" b="1" dirty="0"/>
              <a:t>Collect your facts – </a:t>
            </a:r>
            <a:r>
              <a:rPr lang="en-US" b="0" dirty="0"/>
              <a:t>may include interviewing others for information, observing firsthand, etc. </a:t>
            </a:r>
          </a:p>
          <a:p>
            <a:pPr marL="171450" indent="-171450" eaLnBrk="1" hangingPunct="1">
              <a:buFont typeface="Arial" panose="020B0604020202020204" pitchFamily="34" charset="0"/>
              <a:buChar char="•"/>
            </a:pPr>
            <a:r>
              <a:rPr lang="en-US" b="1" dirty="0"/>
              <a:t>Understand the root cause </a:t>
            </a:r>
            <a:r>
              <a:rPr lang="en-US" b="0" dirty="0"/>
              <a:t>of the situation/problem/challenge – is there something bigger that needs to be addressed?  </a:t>
            </a:r>
          </a:p>
          <a:p>
            <a:pPr marL="171450" indent="-171450" eaLnBrk="1" hangingPunct="1">
              <a:buFont typeface="Arial" panose="020B0604020202020204" pitchFamily="34" charset="0"/>
              <a:buChar char="•"/>
            </a:pPr>
            <a:r>
              <a:rPr lang="en-US" b="1" dirty="0"/>
              <a:t>Determine</a:t>
            </a:r>
            <a:r>
              <a:rPr lang="en-US" b="1" baseline="0" dirty="0"/>
              <a:t> your goals for the feedback session – </a:t>
            </a:r>
            <a:r>
              <a:rPr lang="en-US" b="0" baseline="0" dirty="0"/>
              <a:t>what’s the key message you’re intending to share, why does it matter, what do you hope to accomplish with the conversation you’ll have? </a:t>
            </a:r>
          </a:p>
          <a:p>
            <a:pPr marL="171450" indent="-171450" eaLnBrk="1" hangingPunct="1">
              <a:buFont typeface="Arial" panose="020B0604020202020204" pitchFamily="34" charset="0"/>
              <a:buChar char="•"/>
            </a:pPr>
            <a:r>
              <a:rPr lang="en-US" b="1" baseline="0" dirty="0"/>
              <a:t>Draft your opening</a:t>
            </a:r>
            <a:r>
              <a:rPr lang="en-US" b="0" baseline="0" dirty="0"/>
              <a:t>, objectives and time frame for completion</a:t>
            </a:r>
          </a:p>
          <a:p>
            <a:pPr marL="171450" indent="-171450" eaLnBrk="1" hangingPunct="1">
              <a:buFont typeface="Arial" panose="020B0604020202020204" pitchFamily="34" charset="0"/>
              <a:buChar char="•"/>
            </a:pPr>
            <a:r>
              <a:rPr lang="en-US" b="1" baseline="0" dirty="0"/>
              <a:t>Pick the right time and location – </a:t>
            </a:r>
            <a:r>
              <a:rPr lang="en-US" b="0" baseline="0" dirty="0"/>
              <a:t>where and when for optimal active listening and engagement?  No interruptions, distractions</a:t>
            </a:r>
            <a:endParaRPr lang="en-US" b="1" baseline="0" dirty="0"/>
          </a:p>
          <a:p>
            <a:pPr marL="171450" indent="-171450" eaLnBrk="1" hangingPunct="1">
              <a:buFont typeface="Arial" panose="020B0604020202020204" pitchFamily="34" charset="0"/>
              <a:buChar char="•"/>
            </a:pPr>
            <a:r>
              <a:rPr lang="en-US" b="1" baseline="0" dirty="0"/>
              <a:t>Anticipate reactions </a:t>
            </a:r>
            <a:r>
              <a:rPr lang="en-US" b="0" baseline="0" dirty="0"/>
              <a:t>– what can you do ahead of feedback conversations to anticipate how someone will react to your feedback? </a:t>
            </a:r>
            <a:endParaRPr lang="en-US" b="1" baseline="0" dirty="0"/>
          </a:p>
          <a:p>
            <a:pPr eaLnBrk="1" hangingPunct="1"/>
            <a:endParaRPr lang="en-US" b="1" dirty="0"/>
          </a:p>
        </p:txBody>
      </p:sp>
      <p:sp>
        <p:nvSpPr>
          <p:cNvPr id="4" name="Slide Number Placeholder 3"/>
          <p:cNvSpPr>
            <a:spLocks noGrp="1"/>
          </p:cNvSpPr>
          <p:nvPr>
            <p:ph type="sldNum" sz="quarter" idx="10"/>
          </p:nvPr>
        </p:nvSpPr>
        <p:spPr/>
        <p:txBody>
          <a:bodyPr/>
          <a:lstStyle/>
          <a:p>
            <a:pPr>
              <a:defRPr/>
            </a:pPr>
            <a:fld id="{93753EB1-CBA2-4A0E-AC07-497ED77E88C3}" type="slidenum">
              <a:rPr lang="en-US">
                <a:solidFill>
                  <a:srgbClr val="000000"/>
                </a:solidFill>
              </a:rPr>
              <a:pPr>
                <a:defRPr/>
              </a:pPr>
              <a:t>11</a:t>
            </a:fld>
            <a:endParaRPr lang="en-US" dirty="0">
              <a:solidFill>
                <a:srgbClr val="000000"/>
              </a:solidFill>
            </a:endParaRPr>
          </a:p>
        </p:txBody>
      </p:sp>
    </p:spTree>
    <p:extLst>
      <p:ext uri="{BB962C8B-B14F-4D97-AF65-F5344CB8AC3E}">
        <p14:creationId xmlns:p14="http://schemas.microsoft.com/office/powerpoint/2010/main" val="2195823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point of leading with intent is to make sure people know you are actually providing feedback (remembering that one of the biggest feedback mistakes that happens in the workplace is delivering feedback that is vague).  </a:t>
            </a:r>
          </a:p>
          <a:p>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Set the stage for honest and productive feedback conversations.</a:t>
            </a:r>
          </a:p>
          <a:p>
            <a:pPr marL="171450" indent="-171450">
              <a:buFont typeface="Arial" panose="020B0604020202020204" pitchFamily="34" charset="0"/>
              <a:buChar char="•"/>
            </a:pPr>
            <a:r>
              <a:rPr lang="en-US" dirty="0"/>
              <a:t>Use language that feels comfortable to you.  </a:t>
            </a:r>
          </a:p>
          <a:p>
            <a:pPr marL="171450" indent="-171450">
              <a:buFont typeface="Arial" panose="020B0604020202020204" pitchFamily="34" charset="0"/>
              <a:buChar char="•"/>
            </a:pPr>
            <a:r>
              <a:rPr lang="en-US" dirty="0"/>
              <a:t>If it’s more informal feedback – try asking something like, “I have some feedback to share about your presentation based on my observations from those in the audience – are you OK with me sharing this?”  </a:t>
            </a:r>
          </a:p>
          <a:p>
            <a:endParaRPr lang="en-US" dirty="0"/>
          </a:p>
        </p:txBody>
      </p:sp>
      <p:sp>
        <p:nvSpPr>
          <p:cNvPr id="4" name="Slide Number Placeholder 3"/>
          <p:cNvSpPr>
            <a:spLocks noGrp="1"/>
          </p:cNvSpPr>
          <p:nvPr>
            <p:ph type="sldNum" sz="quarter" idx="10"/>
          </p:nvPr>
        </p:nvSpPr>
        <p:spPr/>
        <p:txBody>
          <a:bodyPr/>
          <a:lstStyle/>
          <a:p>
            <a:fld id="{DA59B171-7D14-C747-B9B5-2BC125A2F385}" type="slidenum">
              <a:rPr lang="en-US" smtClean="0"/>
              <a:t>13</a:t>
            </a:fld>
            <a:endParaRPr lang="en-US" dirty="0"/>
          </a:p>
        </p:txBody>
      </p:sp>
    </p:spTree>
    <p:extLst>
      <p:ext uri="{BB962C8B-B14F-4D97-AF65-F5344CB8AC3E}">
        <p14:creationId xmlns:p14="http://schemas.microsoft.com/office/powerpoint/2010/main" val="2161068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State the impact of the behavior – on the team, the goal, the client relationship, etc.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Saying what the impact is allows the receiver of the feedback to better understand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they should change or at least consider the input. </a:t>
            </a:r>
            <a:endParaRPr lang="en-US" dirty="0"/>
          </a:p>
          <a:p>
            <a:endParaRPr lang="en-US" dirty="0"/>
          </a:p>
        </p:txBody>
      </p:sp>
      <p:sp>
        <p:nvSpPr>
          <p:cNvPr id="4" name="Slide Number Placeholder 3"/>
          <p:cNvSpPr>
            <a:spLocks noGrp="1"/>
          </p:cNvSpPr>
          <p:nvPr>
            <p:ph type="sldNum" sz="quarter" idx="10"/>
          </p:nvPr>
        </p:nvSpPr>
        <p:spPr/>
        <p:txBody>
          <a:bodyPr/>
          <a:lstStyle/>
          <a:p>
            <a:fld id="{DA59B171-7D14-C747-B9B5-2BC125A2F385}" type="slidenum">
              <a:rPr lang="en-US" smtClean="0"/>
              <a:t>15</a:t>
            </a:fld>
            <a:endParaRPr lang="en-US" dirty="0"/>
          </a:p>
        </p:txBody>
      </p:sp>
    </p:spTree>
    <p:extLst>
      <p:ext uri="{BB962C8B-B14F-4D97-AF65-F5344CB8AC3E}">
        <p14:creationId xmlns:p14="http://schemas.microsoft.com/office/powerpoint/2010/main" val="1885128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88291" lvl="1" indent="-171450">
              <a:spcBef>
                <a:spcPct val="25000"/>
              </a:spcBef>
              <a:buFont typeface="Arial" panose="020B0604020202020204" pitchFamily="34" charset="0"/>
              <a:buChar char="•"/>
            </a:pPr>
            <a:r>
              <a:rPr lang="en-US" sz="800" b="1" i="1" dirty="0"/>
              <a:t>Listen</a:t>
            </a:r>
            <a:r>
              <a:rPr lang="en-US" sz="800" b="1" dirty="0"/>
              <a:t>:  </a:t>
            </a:r>
            <a:r>
              <a:rPr lang="en-US" sz="800" dirty="0"/>
              <a:t> </a:t>
            </a:r>
          </a:p>
          <a:p>
            <a:pPr marL="405132" lvl="2" indent="-171450">
              <a:spcBef>
                <a:spcPct val="25000"/>
              </a:spcBef>
              <a:buFont typeface="Courier New" panose="02070309020205020404" pitchFamily="49" charset="0"/>
              <a:buChar char="o"/>
            </a:pPr>
            <a:r>
              <a:rPr lang="en-US" sz="800" dirty="0"/>
              <a:t>Provide some good ideas for solutions</a:t>
            </a:r>
          </a:p>
          <a:p>
            <a:pPr marL="405132" lvl="2" indent="-171450">
              <a:spcBef>
                <a:spcPct val="25000"/>
              </a:spcBef>
              <a:buFont typeface="Courier New" panose="02070309020205020404" pitchFamily="49" charset="0"/>
              <a:buChar char="o"/>
            </a:pPr>
            <a:r>
              <a:rPr lang="en-US" sz="800" dirty="0"/>
              <a:t>Help de-fuse the other person’s anger and frustration – they may need to vent before they can turn to constructive problem solving – so let them, it should actually help</a:t>
            </a:r>
          </a:p>
          <a:p>
            <a:pPr marL="405132" lvl="2" indent="-171450">
              <a:spcBef>
                <a:spcPct val="25000"/>
              </a:spcBef>
              <a:buFont typeface="Courier New" panose="02070309020205020404" pitchFamily="49" charset="0"/>
              <a:buChar char="o"/>
            </a:pPr>
            <a:r>
              <a:rPr lang="en-US" sz="800" dirty="0"/>
              <a:t>Surface misperceived aspects of the situation (and if that’s the case, better to listen and figure that out before you jump down someone’s throat mistakenly)</a:t>
            </a:r>
          </a:p>
          <a:p>
            <a:pPr marL="288291" lvl="1" indent="-171450">
              <a:spcBef>
                <a:spcPct val="25000"/>
              </a:spcBef>
              <a:buFont typeface="Arial" panose="020B0604020202020204" pitchFamily="34" charset="0"/>
              <a:buChar char="•"/>
            </a:pPr>
            <a:r>
              <a:rPr lang="en-US" sz="800" b="1" i="1" dirty="0"/>
              <a:t>Ask questions to clarify or probe</a:t>
            </a:r>
            <a:r>
              <a:rPr lang="en-US" sz="800" b="1" dirty="0"/>
              <a:t>:  </a:t>
            </a:r>
            <a:r>
              <a:rPr lang="en-US" sz="800" dirty="0"/>
              <a:t>helps you “look before you leap” to accuse someone of something.  Helps keep the conversation focused on facts and from descending into accusations.  Can be a good device to use if you’re giving feedback to someone who’s particularly sensitive at a given moment or in general.  Turn your accusatory statements into questions and watch the results.  For example, instead of saying, “I think that color blue is too loud and garish to use for our audience” say “Do you think that color blue is distinguished enough for our audience?”</a:t>
            </a:r>
          </a:p>
          <a:p>
            <a:pPr marL="288291" lvl="1" indent="-171450">
              <a:spcBef>
                <a:spcPct val="25000"/>
              </a:spcBef>
              <a:buFont typeface="Arial" panose="020B0604020202020204" pitchFamily="34" charset="0"/>
              <a:buChar char="•"/>
            </a:pPr>
            <a:r>
              <a:rPr lang="en-US" sz="800" b="1" i="1" dirty="0"/>
              <a:t>Reflect</a:t>
            </a:r>
            <a:r>
              <a:rPr lang="en-US" sz="800" b="1" dirty="0"/>
              <a:t>:</a:t>
            </a:r>
            <a:r>
              <a:rPr lang="en-US" sz="800" dirty="0"/>
              <a:t> This does not mean sit back and think about things.  It means play back to someone what they’re telling you so that they feel heard and understood.  “So what I hear you saying is that you think …” or “Sounds like you’re pretty frustrated about what I’ve been telling our partner …”  May sound forced but if reflecting can be done in a genuine fashion, it is a highly effective tool.  Until people feel heard, they’re likely to keep hurling their emotion or their side of the story at you.</a:t>
            </a:r>
          </a:p>
          <a:p>
            <a:pPr marL="288291" lvl="1" indent="-171450">
              <a:spcBef>
                <a:spcPct val="25000"/>
              </a:spcBef>
              <a:buFont typeface="Arial" panose="020B0604020202020204" pitchFamily="34" charset="0"/>
              <a:buChar char="•"/>
            </a:pPr>
            <a:r>
              <a:rPr lang="en-US" sz="800" b="1" i="1" dirty="0"/>
              <a:t>Show empathy</a:t>
            </a:r>
            <a:r>
              <a:rPr lang="en-US" sz="800" b="1" dirty="0"/>
              <a:t>:</a:t>
            </a:r>
            <a:r>
              <a:rPr lang="en-US" sz="800" dirty="0"/>
              <a:t> You can feel (or learn to feel) genuine empathy for someone even if you think they’ve done everything wrong.  And if you can express that empathy, the other person will be able to get past their venting faster and on to problem solving.  For example, “I know you worked until 2:00 AM last night and I appreciate that.  You must be exhausted.  Unfortunately, the presentation still doesn’t flow logically for me from slide to slide.”</a:t>
            </a:r>
          </a:p>
          <a:p>
            <a:endParaRPr lang="en-US" dirty="0"/>
          </a:p>
        </p:txBody>
      </p:sp>
      <p:sp>
        <p:nvSpPr>
          <p:cNvPr id="4" name="Slide Number Placeholder 3"/>
          <p:cNvSpPr>
            <a:spLocks noGrp="1"/>
          </p:cNvSpPr>
          <p:nvPr>
            <p:ph type="sldNum" sz="quarter" idx="10"/>
          </p:nvPr>
        </p:nvSpPr>
        <p:spPr/>
        <p:txBody>
          <a:bodyPr/>
          <a:lstStyle/>
          <a:p>
            <a:fld id="{DA59B171-7D14-C747-B9B5-2BC125A2F385}" type="slidenum">
              <a:rPr lang="en-US" smtClean="0"/>
              <a:t>17</a:t>
            </a:fld>
            <a:endParaRPr lang="en-US" dirty="0"/>
          </a:p>
        </p:txBody>
      </p:sp>
    </p:spTree>
    <p:extLst>
      <p:ext uri="{BB962C8B-B14F-4D97-AF65-F5344CB8AC3E}">
        <p14:creationId xmlns:p14="http://schemas.microsoft.com/office/powerpoint/2010/main" val="2720147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18</a:t>
            </a:fld>
            <a:endParaRPr lang="en-US" dirty="0"/>
          </a:p>
        </p:txBody>
      </p:sp>
    </p:spTree>
    <p:extLst>
      <p:ext uri="{BB962C8B-B14F-4D97-AF65-F5344CB8AC3E}">
        <p14:creationId xmlns:p14="http://schemas.microsoft.com/office/powerpoint/2010/main" val="41415973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SMART Goals</a:t>
            </a:r>
          </a:p>
          <a:p>
            <a:r>
              <a:rPr lang="en-US" sz="1200" kern="1200" dirty="0">
                <a:solidFill>
                  <a:schemeClr val="tx1"/>
                </a:solidFill>
                <a:latin typeface="+mn-lt"/>
                <a:ea typeface="+mn-ea"/>
                <a:cs typeface="+mn-cs"/>
              </a:rPr>
              <a:t>Specific</a:t>
            </a:r>
          </a:p>
          <a:p>
            <a:pPr marL="171450" indent="-171450">
              <a:buFont typeface="Arial" charset="0"/>
              <a:buChar char="•"/>
            </a:pPr>
            <a:r>
              <a:rPr lang="en-US" sz="1200" kern="1200" dirty="0">
                <a:solidFill>
                  <a:schemeClr val="tx1"/>
                </a:solidFill>
                <a:latin typeface="+mn-lt"/>
                <a:ea typeface="+mn-ea"/>
                <a:cs typeface="+mn-cs"/>
              </a:rPr>
              <a:t>Well defined</a:t>
            </a:r>
          </a:p>
          <a:p>
            <a:pPr marL="171450" indent="-171450">
              <a:buFont typeface="Arial" charset="0"/>
              <a:buChar char="•"/>
            </a:pPr>
            <a:r>
              <a:rPr lang="en-US" sz="1200" kern="1200" dirty="0">
                <a:solidFill>
                  <a:schemeClr val="tx1"/>
                </a:solidFill>
                <a:latin typeface="+mn-lt"/>
                <a:ea typeface="+mn-ea"/>
                <a:cs typeface="+mn-cs"/>
              </a:rPr>
              <a:t>Clear to anyone that has a basic knowledge of the project</a:t>
            </a:r>
          </a:p>
          <a:p>
            <a:r>
              <a:rPr lang="en-US" sz="1200" kern="1200" dirty="0">
                <a:solidFill>
                  <a:schemeClr val="tx1"/>
                </a:solidFill>
                <a:latin typeface="+mn-lt"/>
                <a:ea typeface="+mn-ea"/>
                <a:cs typeface="+mn-cs"/>
              </a:rPr>
              <a:t>Measurable</a:t>
            </a:r>
          </a:p>
          <a:p>
            <a:pPr marL="171450" indent="-171450">
              <a:buFont typeface="Arial" charset="0"/>
              <a:buChar char="•"/>
            </a:pPr>
            <a:r>
              <a:rPr lang="en-US" sz="1200" kern="1200" dirty="0">
                <a:solidFill>
                  <a:schemeClr val="tx1"/>
                </a:solidFill>
                <a:latin typeface="+mn-lt"/>
                <a:ea typeface="+mn-ea"/>
                <a:cs typeface="+mn-cs"/>
              </a:rPr>
              <a:t>Know if the goal is obtainable and how far away completion is</a:t>
            </a:r>
          </a:p>
          <a:p>
            <a:pPr marL="171450" indent="-171450">
              <a:buFont typeface="Arial" charset="0"/>
              <a:buChar char="•"/>
            </a:pPr>
            <a:r>
              <a:rPr lang="en-US" sz="1200" kern="1200" dirty="0">
                <a:solidFill>
                  <a:schemeClr val="tx1"/>
                </a:solidFill>
                <a:latin typeface="+mn-lt"/>
                <a:ea typeface="+mn-ea"/>
                <a:cs typeface="+mn-cs"/>
              </a:rPr>
              <a:t>Find out when you have achieved your goal</a:t>
            </a:r>
          </a:p>
          <a:p>
            <a:r>
              <a:rPr lang="en-US" sz="1200" kern="1200" dirty="0">
                <a:solidFill>
                  <a:schemeClr val="tx1"/>
                </a:solidFill>
                <a:latin typeface="+mn-lt"/>
                <a:ea typeface="+mn-ea"/>
                <a:cs typeface="+mn-cs"/>
              </a:rPr>
              <a:t>Agreed Upon</a:t>
            </a:r>
          </a:p>
          <a:p>
            <a:pPr marL="171450" indent="-171450">
              <a:buFont typeface="Arial" charset="0"/>
              <a:buChar char="•"/>
            </a:pPr>
            <a:r>
              <a:rPr lang="en-US" sz="1200" kern="1200" dirty="0">
                <a:solidFill>
                  <a:schemeClr val="tx1"/>
                </a:solidFill>
                <a:latin typeface="+mn-lt"/>
                <a:ea typeface="+mn-ea"/>
                <a:cs typeface="+mn-cs"/>
              </a:rPr>
              <a:t>Agreement with all the stakeholders what the goals should be</a:t>
            </a:r>
          </a:p>
          <a:p>
            <a:r>
              <a:rPr lang="en-US" sz="1200" kern="1200" dirty="0">
                <a:solidFill>
                  <a:schemeClr val="tx1"/>
                </a:solidFill>
                <a:latin typeface="+mn-lt"/>
                <a:ea typeface="+mn-ea"/>
                <a:cs typeface="+mn-cs"/>
              </a:rPr>
              <a:t>Realistic</a:t>
            </a:r>
          </a:p>
          <a:p>
            <a:pPr marL="171450" indent="-171450">
              <a:buFont typeface="Arial" charset="0"/>
              <a:buChar char="•"/>
            </a:pPr>
            <a:r>
              <a:rPr lang="en-US" sz="1200" kern="1200" dirty="0">
                <a:solidFill>
                  <a:schemeClr val="tx1"/>
                </a:solidFill>
                <a:latin typeface="+mn-lt"/>
                <a:ea typeface="+mn-ea"/>
                <a:cs typeface="+mn-cs"/>
              </a:rPr>
              <a:t>Within the availability of resources, knowledge and time</a:t>
            </a:r>
          </a:p>
          <a:p>
            <a:r>
              <a:rPr lang="en-US" sz="1200" kern="1200" dirty="0">
                <a:solidFill>
                  <a:schemeClr val="tx1"/>
                </a:solidFill>
                <a:latin typeface="+mn-lt"/>
                <a:ea typeface="+mn-ea"/>
                <a:cs typeface="+mn-cs"/>
              </a:rPr>
              <a:t>Time-Based</a:t>
            </a:r>
          </a:p>
          <a:p>
            <a:pPr marL="171450" indent="-171450">
              <a:buFont typeface="Arial" charset="0"/>
              <a:buChar char="•"/>
            </a:pPr>
            <a:r>
              <a:rPr lang="en-US" sz="1200" kern="1200" dirty="0">
                <a:solidFill>
                  <a:schemeClr val="tx1"/>
                </a:solidFill>
                <a:latin typeface="+mn-lt"/>
                <a:ea typeface="+mn-ea"/>
                <a:cs typeface="+mn-cs"/>
              </a:rPr>
              <a:t>Enough time to achieve the goal</a:t>
            </a:r>
          </a:p>
          <a:p>
            <a:pPr marL="171450" indent="-171450">
              <a:buFont typeface="Arial" charset="0"/>
              <a:buChar char="•"/>
            </a:pPr>
            <a:r>
              <a:rPr lang="en-US" sz="1200" kern="1200" dirty="0">
                <a:solidFill>
                  <a:schemeClr val="tx1"/>
                </a:solidFill>
                <a:latin typeface="+mn-lt"/>
                <a:ea typeface="+mn-ea"/>
                <a:cs typeface="+mn-cs"/>
              </a:rPr>
              <a:t>Not too much time, which can affect project performance</a:t>
            </a:r>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21</a:t>
            </a:fld>
            <a:endParaRPr lang="en-US" dirty="0"/>
          </a:p>
        </p:txBody>
      </p:sp>
    </p:spTree>
    <p:extLst>
      <p:ext uri="{BB962C8B-B14F-4D97-AF65-F5344CB8AC3E}">
        <p14:creationId xmlns:p14="http://schemas.microsoft.com/office/powerpoint/2010/main" val="1493671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SIMPLE GUIDELINES FOR POSITIVE FEEDBACK: </a:t>
            </a:r>
          </a:p>
          <a:p>
            <a:endParaRPr lang="en-US" dirty="0"/>
          </a:p>
          <a:p>
            <a:pPr marL="171450" indent="-171450">
              <a:buFont typeface="Arial" panose="020B0604020202020204" pitchFamily="34" charset="0"/>
              <a:buChar char="•"/>
            </a:pPr>
            <a:r>
              <a:rPr lang="en-US" b="1" dirty="0"/>
              <a:t>Be genuine </a:t>
            </a:r>
            <a:r>
              <a:rPr lang="en-US" dirty="0"/>
              <a:t>– speak from the heart (remember the adage – be the leader you want to be led by)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Be specific </a:t>
            </a:r>
            <a:r>
              <a:rPr lang="en-US" dirty="0"/>
              <a:t>– simply saying “great job” can backfire – you can come across as disengaged, not really paying attention, not caring enough about the person and/or subject matter to dig into specifics, etc.  Saying something instead like, “when you presented in yesterday’s meeting, I could hear the passion in your voice.  The audience was on the edge of their seats the whole time.” </a:t>
            </a:r>
          </a:p>
          <a:p>
            <a:pPr marL="171450" indent="-171450">
              <a:buFont typeface="Arial" panose="020B0604020202020204" pitchFamily="34" charset="0"/>
              <a:buChar cha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Be timely </a:t>
            </a:r>
            <a:r>
              <a:rPr lang="en-US" dirty="0"/>
              <a:t>- unlike constructive feedback that requires some amount of thought/planning prior to engaging in the feedback conversation – positive feedback should be given quickly, when the employee is still “sweating from the effort.”   </a:t>
            </a:r>
          </a:p>
          <a:p>
            <a:endParaRPr lang="en-US" dirty="0"/>
          </a:p>
          <a:p>
            <a:r>
              <a:rPr lang="en-US" b="1" dirty="0"/>
              <a:t>PRACTICAL TIPS: </a:t>
            </a:r>
          </a:p>
          <a:p>
            <a:endParaRPr lang="en-US" dirty="0"/>
          </a:p>
          <a:p>
            <a:pPr marL="171450" indent="-171450">
              <a:buFont typeface="Arial" panose="020B0604020202020204" pitchFamily="34" charset="0"/>
              <a:buChar char="•"/>
            </a:pPr>
            <a:r>
              <a:rPr lang="en-US" b="1" dirty="0"/>
              <a:t>Recognition is reinforcement </a:t>
            </a:r>
            <a:r>
              <a:rPr lang="en-US" dirty="0"/>
              <a:t>– a way to say “I see what you do, you do it well and I encourage you to do it again and again!”</a:t>
            </a:r>
          </a:p>
          <a:p>
            <a:endParaRPr lang="en-US" dirty="0"/>
          </a:p>
          <a:p>
            <a:pPr marL="171450" indent="-171450">
              <a:buFont typeface="Arial" panose="020B0604020202020204" pitchFamily="34" charset="0"/>
              <a:buChar char="•"/>
            </a:pPr>
            <a:r>
              <a:rPr lang="en-US" b="1" dirty="0"/>
              <a:t>Proactively look for opportunities to recognize</a:t>
            </a:r>
            <a:r>
              <a:rPr lang="en-US" dirty="0"/>
              <a:t>; train yourself to spot the moments (e.g., set a reminder on your calendar each week).</a:t>
            </a:r>
          </a:p>
          <a:p>
            <a:endParaRPr lang="en-US" dirty="0"/>
          </a:p>
          <a:p>
            <a:pPr marL="171450" indent="-171450">
              <a:buFont typeface="Arial" panose="020B0604020202020204" pitchFamily="34" charset="0"/>
              <a:buChar char="•"/>
            </a:pPr>
            <a:r>
              <a:rPr lang="en-US" b="1" dirty="0"/>
              <a:t>Saying thank you is recognition but you can beef it up with specifics </a:t>
            </a:r>
            <a:r>
              <a:rPr lang="en-US" dirty="0"/>
              <a:t>(i.e., not just “thank you” but “thank you for ______ because _____”)</a:t>
            </a:r>
          </a:p>
          <a:p>
            <a:endParaRPr lang="en-US" dirty="0"/>
          </a:p>
        </p:txBody>
      </p:sp>
      <p:sp>
        <p:nvSpPr>
          <p:cNvPr id="4" name="Slide Number Placeholder 3"/>
          <p:cNvSpPr>
            <a:spLocks noGrp="1"/>
          </p:cNvSpPr>
          <p:nvPr>
            <p:ph type="sldNum" sz="quarter" idx="10"/>
          </p:nvPr>
        </p:nvSpPr>
        <p:spPr/>
        <p:txBody>
          <a:bodyPr/>
          <a:lstStyle/>
          <a:p>
            <a:fld id="{DA59B171-7D14-C747-B9B5-2BC125A2F385}" type="slidenum">
              <a:rPr lang="en-US" smtClean="0"/>
              <a:t>23</a:t>
            </a:fld>
            <a:endParaRPr lang="en-US" dirty="0"/>
          </a:p>
        </p:txBody>
      </p:sp>
    </p:spTree>
    <p:extLst>
      <p:ext uri="{BB962C8B-B14F-4D97-AF65-F5344CB8AC3E}">
        <p14:creationId xmlns:p14="http://schemas.microsoft.com/office/powerpoint/2010/main" val="2153061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24</a:t>
            </a:fld>
            <a:endParaRPr lang="en-US" dirty="0"/>
          </a:p>
        </p:txBody>
      </p:sp>
    </p:spTree>
    <p:extLst>
      <p:ext uri="{BB962C8B-B14F-4D97-AF65-F5344CB8AC3E}">
        <p14:creationId xmlns:p14="http://schemas.microsoft.com/office/powerpoint/2010/main" val="2574923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txBody>
          <a:bodyPr/>
          <a:lstStyle/>
          <a:p>
            <a:endParaRPr lang="en-US"/>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25</a:t>
            </a:fld>
            <a:endParaRPr lang="en-GB" dirty="0">
              <a:solidFill>
                <a:prstClr val="black"/>
              </a:solidFill>
            </a:endParaRPr>
          </a:p>
        </p:txBody>
      </p:sp>
    </p:spTree>
    <p:extLst>
      <p:ext uri="{BB962C8B-B14F-4D97-AF65-F5344CB8AC3E}">
        <p14:creationId xmlns:p14="http://schemas.microsoft.com/office/powerpoint/2010/main" val="3114846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0C447A2-FEAA-AC41-A9E2-642241192114}" type="slidenum">
              <a:rPr lang="en-US" altLang="en-US"/>
              <a:pPr>
                <a:defRPr/>
              </a:pPr>
              <a:t>26</a:t>
            </a:fld>
            <a:endParaRPr lang="en-US" altLang="en-US" dirty="0"/>
          </a:p>
        </p:txBody>
      </p:sp>
      <p:sp>
        <p:nvSpPr>
          <p:cNvPr id="459778" name="Rectangle 2"/>
          <p:cNvSpPr>
            <a:spLocks noGrp="1" noRot="1" noChangeAspect="1" noChangeArrowheads="1"/>
          </p:cNvSpPr>
          <p:nvPr>
            <p:ph type="sldImg"/>
          </p:nvPr>
        </p:nvSpPr>
        <p:spPr>
          <a:solidFill>
            <a:srgbClr val="FFFFFF"/>
          </a:solidFill>
          <a:ln/>
        </p:spPr>
        <p:txBody>
          <a:bodyPr/>
          <a:lstStyle/>
          <a:p>
            <a:endParaRPr lang="en-US"/>
          </a:p>
        </p:txBody>
      </p:sp>
      <p:sp>
        <p:nvSpPr>
          <p:cNvPr id="45977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spcBef>
                <a:spcPct val="0"/>
              </a:spcBef>
              <a:defRPr/>
            </a:pPr>
            <a:r>
              <a:rPr lang="en-GB" altLang="en-US" dirty="0"/>
              <a:t>Interpersonal conflict can become an emotionally corrosive process. When we investigate long-standing, deep-rooted antipathy between people we find there are very few facts at the core. A few facts led to perceptions which then lead to more thoughts which created strong feelings, which affect perceptions….</a:t>
            </a:r>
          </a:p>
          <a:p>
            <a:pPr>
              <a:spcBef>
                <a:spcPct val="0"/>
              </a:spcBef>
              <a:defRPr/>
            </a:pPr>
            <a:r>
              <a:rPr lang="en-GB" altLang="en-US" dirty="0"/>
              <a:t>Those feelings typically center around hopes and fears – predominantly fears that hopes will be frustrated.</a:t>
            </a:r>
          </a:p>
          <a:p>
            <a:pPr>
              <a:spcBef>
                <a:spcPct val="0"/>
              </a:spcBef>
              <a:defRPr/>
            </a:pPr>
            <a:r>
              <a:rPr lang="en-GB" altLang="en-US" dirty="0"/>
              <a:t>The key is to unpick the process back to its roots. Very often, the perception of the facts differs from the facts themselves.</a:t>
            </a:r>
            <a:endParaRPr lang="en-US" altLang="en-US" dirty="0"/>
          </a:p>
        </p:txBody>
      </p:sp>
    </p:spTree>
    <p:extLst>
      <p:ext uri="{BB962C8B-B14F-4D97-AF65-F5344CB8AC3E}">
        <p14:creationId xmlns:p14="http://schemas.microsoft.com/office/powerpoint/2010/main" val="4050474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8DD5994-EAC0-ED4B-A3E6-FF9611B94794}" type="slidenum">
              <a:rPr lang="en-US" altLang="en-US"/>
              <a:pPr>
                <a:defRPr/>
              </a:pPr>
              <a:t>27</a:t>
            </a:fld>
            <a:endParaRPr lang="en-US" altLang="en-US" dirty="0"/>
          </a:p>
        </p:txBody>
      </p:sp>
      <p:sp>
        <p:nvSpPr>
          <p:cNvPr id="557058" name="Rectangle 2"/>
          <p:cNvSpPr>
            <a:spLocks noGrp="1" noRot="1" noChangeAspect="1" noChangeArrowheads="1"/>
          </p:cNvSpPr>
          <p:nvPr>
            <p:ph type="sldImg"/>
          </p:nvPr>
        </p:nvSpPr>
        <p:spPr>
          <a:xfrm>
            <a:off x="590550" y="685800"/>
            <a:ext cx="5970588" cy="3359150"/>
          </a:xfrm>
          <a:solidFill>
            <a:srgbClr val="FFFFFF"/>
          </a:solidFill>
          <a:ln/>
        </p:spPr>
        <p:txBody>
          <a:bodyPr/>
          <a:lstStyle/>
          <a:p>
            <a:endParaRPr lang="en-US"/>
          </a:p>
        </p:txBody>
      </p:sp>
      <p:sp>
        <p:nvSpPr>
          <p:cNvPr id="55705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ltLang="en-US" dirty="0">
                <a:solidFill>
                  <a:srgbClr val="090909"/>
                </a:solidFill>
                <a:latin typeface="Times" charset="0"/>
              </a:rPr>
              <a:t>Managers must be sensitive to the fact that positive contributions can arise from conflict providing things do not get out of control.  Teaching your team members to understand conflict and resolve it positively will help the team succeed.  </a:t>
            </a:r>
          </a:p>
          <a:p>
            <a:pPr>
              <a:defRPr/>
            </a:pPr>
            <a:r>
              <a:rPr lang="en-US" altLang="en-US" dirty="0">
                <a:solidFill>
                  <a:srgbClr val="090909"/>
                </a:solidFill>
                <a:latin typeface="Times" charset="0"/>
              </a:rPr>
              <a:t>Conflict is often needed.  It:</a:t>
            </a:r>
          </a:p>
          <a:p>
            <a:pPr marL="514350" lvl="1" indent="-228600">
              <a:lnSpc>
                <a:spcPct val="70000"/>
              </a:lnSpc>
              <a:defRPr/>
            </a:pPr>
            <a:r>
              <a:rPr lang="en-US" altLang="en-US" dirty="0">
                <a:solidFill>
                  <a:srgbClr val="090909"/>
                </a:solidFill>
                <a:latin typeface="Times" charset="0"/>
              </a:rPr>
              <a:t>Helps to raise and address problems.</a:t>
            </a:r>
          </a:p>
          <a:p>
            <a:pPr marL="514350" lvl="1" indent="-228600">
              <a:lnSpc>
                <a:spcPct val="70000"/>
              </a:lnSpc>
              <a:defRPr/>
            </a:pPr>
            <a:r>
              <a:rPr lang="en-US" altLang="en-US" dirty="0">
                <a:solidFill>
                  <a:srgbClr val="090909"/>
                </a:solidFill>
                <a:latin typeface="Times" charset="0"/>
              </a:rPr>
              <a:t>Energizes work to be on the most appropriate issues.</a:t>
            </a:r>
          </a:p>
          <a:p>
            <a:pPr marL="514350" lvl="1" indent="-228600">
              <a:lnSpc>
                <a:spcPct val="70000"/>
              </a:lnSpc>
              <a:defRPr/>
            </a:pPr>
            <a:r>
              <a:rPr lang="en-US" altLang="en-US" dirty="0">
                <a:solidFill>
                  <a:srgbClr val="090909"/>
                </a:solidFill>
                <a:latin typeface="Times" charset="0"/>
              </a:rPr>
              <a:t>Helps people “be real,” for example, it motivates them to participate.</a:t>
            </a:r>
          </a:p>
          <a:p>
            <a:pPr marL="514350" lvl="1" indent="-228600">
              <a:lnSpc>
                <a:spcPct val="70000"/>
              </a:lnSpc>
              <a:defRPr/>
            </a:pPr>
            <a:r>
              <a:rPr lang="en-US" altLang="en-US" dirty="0">
                <a:solidFill>
                  <a:srgbClr val="090909"/>
                </a:solidFill>
                <a:latin typeface="Times" charset="0"/>
              </a:rPr>
              <a:t>Helps people learn how to recognize and benefit from their differences.</a:t>
            </a:r>
          </a:p>
          <a:p>
            <a:pPr>
              <a:defRPr/>
            </a:pPr>
            <a:r>
              <a:rPr lang="en-US" altLang="en-US" dirty="0">
                <a:solidFill>
                  <a:srgbClr val="090909"/>
                </a:solidFill>
                <a:latin typeface="Times" charset="0"/>
              </a:rPr>
              <a:t>Conflict is not the same as discomfort. The conflict isn’t the problem -- it is when conflict is poorly managed that is the problem.  Conflict is a problem when it:</a:t>
            </a:r>
          </a:p>
          <a:p>
            <a:pPr marL="514350" lvl="1" indent="-228600">
              <a:lnSpc>
                <a:spcPct val="70000"/>
              </a:lnSpc>
              <a:defRPr/>
            </a:pPr>
            <a:r>
              <a:rPr lang="en-US" altLang="en-US" dirty="0">
                <a:solidFill>
                  <a:srgbClr val="090909"/>
                </a:solidFill>
                <a:latin typeface="Times" charset="0"/>
              </a:rPr>
              <a:t>Hampers productivity</a:t>
            </a:r>
          </a:p>
          <a:p>
            <a:pPr marL="514350" lvl="1" indent="-228600">
              <a:lnSpc>
                <a:spcPct val="70000"/>
              </a:lnSpc>
              <a:defRPr/>
            </a:pPr>
            <a:r>
              <a:rPr lang="en-US" altLang="en-US" dirty="0">
                <a:solidFill>
                  <a:srgbClr val="090909"/>
                </a:solidFill>
                <a:latin typeface="Times" charset="0"/>
              </a:rPr>
              <a:t>Lowers morale</a:t>
            </a:r>
          </a:p>
          <a:p>
            <a:pPr marL="514350" lvl="1" indent="-228600">
              <a:lnSpc>
                <a:spcPct val="70000"/>
              </a:lnSpc>
              <a:defRPr/>
            </a:pPr>
            <a:r>
              <a:rPr lang="en-US" altLang="en-US" dirty="0">
                <a:solidFill>
                  <a:srgbClr val="090909"/>
                </a:solidFill>
                <a:latin typeface="Times" charset="0"/>
              </a:rPr>
              <a:t>Causes more and continued conflicts</a:t>
            </a:r>
          </a:p>
          <a:p>
            <a:pPr marL="514350" lvl="1" indent="-228600">
              <a:lnSpc>
                <a:spcPct val="70000"/>
              </a:lnSpc>
              <a:defRPr/>
            </a:pPr>
            <a:r>
              <a:rPr lang="en-US" altLang="en-US" dirty="0">
                <a:solidFill>
                  <a:srgbClr val="090909"/>
                </a:solidFill>
                <a:latin typeface="Times" charset="0"/>
              </a:rPr>
              <a:t>Causes inappropriate behaviors</a:t>
            </a:r>
          </a:p>
        </p:txBody>
      </p:sp>
    </p:spTree>
    <p:extLst>
      <p:ext uri="{BB962C8B-B14F-4D97-AF65-F5344CB8AC3E}">
        <p14:creationId xmlns:p14="http://schemas.microsoft.com/office/powerpoint/2010/main" val="26766667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8DD5994-EAC0-ED4B-A3E6-FF9611B94794}" type="slidenum">
              <a:rPr lang="en-US" altLang="en-US"/>
              <a:pPr>
                <a:defRPr/>
              </a:pPr>
              <a:t>28</a:t>
            </a:fld>
            <a:endParaRPr lang="en-US" altLang="en-US" dirty="0"/>
          </a:p>
        </p:txBody>
      </p:sp>
      <p:sp>
        <p:nvSpPr>
          <p:cNvPr id="557058" name="Rectangle 2"/>
          <p:cNvSpPr>
            <a:spLocks noGrp="1" noRot="1" noChangeAspect="1" noChangeArrowheads="1"/>
          </p:cNvSpPr>
          <p:nvPr>
            <p:ph type="sldImg"/>
          </p:nvPr>
        </p:nvSpPr>
        <p:spPr>
          <a:xfrm>
            <a:off x="590550" y="685800"/>
            <a:ext cx="5970588" cy="3359150"/>
          </a:xfrm>
          <a:solidFill>
            <a:srgbClr val="FFFFFF"/>
          </a:solidFill>
          <a:ln/>
        </p:spPr>
        <p:txBody>
          <a:bodyPr/>
          <a:lstStyle/>
          <a:p>
            <a:endParaRPr lang="en-US"/>
          </a:p>
        </p:txBody>
      </p:sp>
      <p:sp>
        <p:nvSpPr>
          <p:cNvPr id="55705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ltLang="en-US" dirty="0">
                <a:solidFill>
                  <a:srgbClr val="090909"/>
                </a:solidFill>
                <a:latin typeface="Times" charset="0"/>
              </a:rPr>
              <a:t>Managers must be sensitive to the fact that positive contributions can arise from conflict providing things do not get out of control.  Teaching your team members to understand conflict and resolve it positively will help the team succeed.  </a:t>
            </a:r>
          </a:p>
          <a:p>
            <a:pPr>
              <a:defRPr/>
            </a:pPr>
            <a:r>
              <a:rPr lang="en-US" altLang="en-US" dirty="0">
                <a:solidFill>
                  <a:srgbClr val="090909"/>
                </a:solidFill>
                <a:latin typeface="Times" charset="0"/>
              </a:rPr>
              <a:t>Conflict is often needed.  It:</a:t>
            </a:r>
          </a:p>
          <a:p>
            <a:pPr marL="514350" lvl="1" indent="-228600">
              <a:lnSpc>
                <a:spcPct val="70000"/>
              </a:lnSpc>
              <a:defRPr/>
            </a:pPr>
            <a:r>
              <a:rPr lang="en-US" altLang="en-US" dirty="0">
                <a:solidFill>
                  <a:srgbClr val="090909"/>
                </a:solidFill>
                <a:latin typeface="Times" charset="0"/>
              </a:rPr>
              <a:t>Helps to raise and address problems.</a:t>
            </a:r>
          </a:p>
          <a:p>
            <a:pPr marL="514350" lvl="1" indent="-228600">
              <a:lnSpc>
                <a:spcPct val="70000"/>
              </a:lnSpc>
              <a:defRPr/>
            </a:pPr>
            <a:r>
              <a:rPr lang="en-US" altLang="en-US" dirty="0">
                <a:solidFill>
                  <a:srgbClr val="090909"/>
                </a:solidFill>
                <a:latin typeface="Times" charset="0"/>
              </a:rPr>
              <a:t>Energizes work to be on the most appropriate issues.</a:t>
            </a:r>
          </a:p>
          <a:p>
            <a:pPr marL="514350" lvl="1" indent="-228600">
              <a:lnSpc>
                <a:spcPct val="70000"/>
              </a:lnSpc>
              <a:defRPr/>
            </a:pPr>
            <a:r>
              <a:rPr lang="en-US" altLang="en-US" dirty="0">
                <a:solidFill>
                  <a:srgbClr val="090909"/>
                </a:solidFill>
                <a:latin typeface="Times" charset="0"/>
              </a:rPr>
              <a:t>Helps people “be real,” for example, it motivates them to participate.</a:t>
            </a:r>
          </a:p>
          <a:p>
            <a:pPr marL="514350" lvl="1" indent="-228600">
              <a:lnSpc>
                <a:spcPct val="70000"/>
              </a:lnSpc>
              <a:defRPr/>
            </a:pPr>
            <a:r>
              <a:rPr lang="en-US" altLang="en-US" dirty="0">
                <a:solidFill>
                  <a:srgbClr val="090909"/>
                </a:solidFill>
                <a:latin typeface="Times" charset="0"/>
              </a:rPr>
              <a:t>Helps people learn how to recognize and benefit from their differences.</a:t>
            </a:r>
          </a:p>
          <a:p>
            <a:pPr>
              <a:defRPr/>
            </a:pPr>
            <a:r>
              <a:rPr lang="en-US" altLang="en-US" dirty="0">
                <a:solidFill>
                  <a:srgbClr val="090909"/>
                </a:solidFill>
                <a:latin typeface="Times" charset="0"/>
              </a:rPr>
              <a:t>Conflict is not the same as discomfort. The conflict isn’t the problem -- it is when conflict is poorly managed that is the problem.  Conflict is a problem when it:</a:t>
            </a:r>
          </a:p>
          <a:p>
            <a:pPr marL="514350" lvl="1" indent="-228600">
              <a:lnSpc>
                <a:spcPct val="70000"/>
              </a:lnSpc>
              <a:defRPr/>
            </a:pPr>
            <a:r>
              <a:rPr lang="en-US" altLang="en-US" dirty="0">
                <a:solidFill>
                  <a:srgbClr val="090909"/>
                </a:solidFill>
                <a:latin typeface="Times" charset="0"/>
              </a:rPr>
              <a:t>Hampers productivity</a:t>
            </a:r>
          </a:p>
          <a:p>
            <a:pPr marL="514350" lvl="1" indent="-228600">
              <a:lnSpc>
                <a:spcPct val="70000"/>
              </a:lnSpc>
              <a:defRPr/>
            </a:pPr>
            <a:r>
              <a:rPr lang="en-US" altLang="en-US" dirty="0">
                <a:solidFill>
                  <a:srgbClr val="090909"/>
                </a:solidFill>
                <a:latin typeface="Times" charset="0"/>
              </a:rPr>
              <a:t>Lowers morale</a:t>
            </a:r>
          </a:p>
          <a:p>
            <a:pPr marL="514350" lvl="1" indent="-228600">
              <a:lnSpc>
                <a:spcPct val="70000"/>
              </a:lnSpc>
              <a:defRPr/>
            </a:pPr>
            <a:r>
              <a:rPr lang="en-US" altLang="en-US" dirty="0">
                <a:solidFill>
                  <a:srgbClr val="090909"/>
                </a:solidFill>
                <a:latin typeface="Times" charset="0"/>
              </a:rPr>
              <a:t>Causes more and continued conflicts</a:t>
            </a:r>
          </a:p>
          <a:p>
            <a:pPr marL="514350" lvl="1" indent="-228600">
              <a:lnSpc>
                <a:spcPct val="70000"/>
              </a:lnSpc>
              <a:defRPr/>
            </a:pPr>
            <a:r>
              <a:rPr lang="en-US" altLang="en-US" dirty="0">
                <a:solidFill>
                  <a:srgbClr val="090909"/>
                </a:solidFill>
                <a:latin typeface="Times" charset="0"/>
              </a:rPr>
              <a:t>Causes inappropriate behaviors</a:t>
            </a:r>
          </a:p>
        </p:txBody>
      </p:sp>
    </p:spTree>
    <p:extLst>
      <p:ext uri="{BB962C8B-B14F-4D97-AF65-F5344CB8AC3E}">
        <p14:creationId xmlns:p14="http://schemas.microsoft.com/office/powerpoint/2010/main" val="40311822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5F93814-C24A-B044-A672-09789C6E1A37}" type="slidenum">
              <a:rPr lang="en-US" altLang="en-US"/>
              <a:pPr>
                <a:defRPr/>
              </a:pPr>
              <a:t>29</a:t>
            </a:fld>
            <a:endParaRPr lang="en-US" altLang="en-US" dirty="0"/>
          </a:p>
        </p:txBody>
      </p:sp>
      <p:sp>
        <p:nvSpPr>
          <p:cNvPr id="461826" name="Rectangle 2"/>
          <p:cNvSpPr>
            <a:spLocks noGrp="1" noRot="1" noChangeAspect="1" noChangeArrowheads="1"/>
          </p:cNvSpPr>
          <p:nvPr>
            <p:ph type="sldImg"/>
          </p:nvPr>
        </p:nvSpPr>
        <p:spPr>
          <a:solidFill>
            <a:srgbClr val="FFFFFF"/>
          </a:solidFill>
          <a:ln/>
        </p:spPr>
        <p:txBody>
          <a:bodyPr/>
          <a:lstStyle/>
          <a:p>
            <a:endParaRPr lang="en-US"/>
          </a:p>
        </p:txBody>
      </p:sp>
      <p:sp>
        <p:nvSpPr>
          <p:cNvPr id="46182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ltLang="en-US" sz="900" b="1" dirty="0">
                <a:latin typeface="Times" charset="0"/>
              </a:rPr>
              <a:t>Types of Managerial actions that cause workplace conflict:</a:t>
            </a:r>
          </a:p>
          <a:p>
            <a:pPr marL="514350" lvl="1" indent="-228600">
              <a:lnSpc>
                <a:spcPct val="70000"/>
              </a:lnSpc>
              <a:defRPr/>
            </a:pPr>
            <a:r>
              <a:rPr lang="en-US" altLang="en-US" sz="900" dirty="0">
                <a:latin typeface="Times" charset="0"/>
              </a:rPr>
              <a:t>Poor communications:  employees experience continuing surprises, they aren’t informed of new decisions, programs, etc.  Employees don’t understand reasons for decisions, they aren’t involved in decision-making.  As a result, employees trust the “rumor mill” more than management.</a:t>
            </a:r>
          </a:p>
          <a:p>
            <a:pPr marL="514350" lvl="1" indent="-228600">
              <a:lnSpc>
                <a:spcPct val="70000"/>
              </a:lnSpc>
              <a:defRPr/>
            </a:pPr>
            <a:r>
              <a:rPr lang="en-US" altLang="en-US" sz="900" dirty="0">
                <a:latin typeface="Times" charset="0"/>
              </a:rPr>
              <a:t>The alignment or the amount of resources is insufficient.  There is:  disagreement about “who does what.”  Stress from working with inadequate resources.</a:t>
            </a:r>
          </a:p>
          <a:p>
            <a:pPr marL="514350" lvl="1" indent="-228600">
              <a:lnSpc>
                <a:spcPct val="70000"/>
              </a:lnSpc>
              <a:defRPr/>
            </a:pPr>
            <a:r>
              <a:rPr lang="en-US" altLang="en-US" sz="900" dirty="0">
                <a:latin typeface="Times" charset="0"/>
              </a:rPr>
              <a:t>“Personal chemistry,” including conflicting values or actions among managers and employees, for example:  strong personal natures don’t match, we often don’t like in others what we don’t like in ourselves.  </a:t>
            </a:r>
          </a:p>
          <a:p>
            <a:pPr marL="514350" lvl="1" indent="-228600">
              <a:lnSpc>
                <a:spcPct val="70000"/>
              </a:lnSpc>
              <a:defRPr/>
            </a:pPr>
            <a:r>
              <a:rPr lang="en-US" altLang="en-US" sz="900" dirty="0">
                <a:latin typeface="Times" charset="0"/>
              </a:rPr>
              <a:t>Leadership problems, including inconsistent, missing, too-strong, or uninformed leadership (at any level in the organization), evidenced by:  avoiding conflict, “passing the buck” with little follow-through on decisions, employees see the same continued issues in the workplace, supervisors don’t understand the jobs of their subordinates.</a:t>
            </a:r>
          </a:p>
          <a:p>
            <a:pPr>
              <a:defRPr/>
            </a:pPr>
            <a:r>
              <a:rPr lang="en-US" altLang="en-US" sz="900" b="1" dirty="0">
                <a:latin typeface="Times" charset="0"/>
              </a:rPr>
              <a:t>Key Managerial actions</a:t>
            </a:r>
            <a:endParaRPr lang="en-US" altLang="en-US" sz="900" dirty="0">
              <a:latin typeface="Times" charset="0"/>
            </a:endParaRPr>
          </a:p>
          <a:p>
            <a:pPr marL="514350" lvl="1" indent="-228600">
              <a:lnSpc>
                <a:spcPct val="50000"/>
              </a:lnSpc>
              <a:defRPr/>
            </a:pPr>
            <a:r>
              <a:rPr lang="en-US" altLang="en-US" sz="900" dirty="0">
                <a:latin typeface="Times" charset="0"/>
              </a:rPr>
              <a:t>Regularly review job descriptions.  Get employee’s input.  Ensure:  job roles don’t conflict, no tasks “fall in a crack”</a:t>
            </a:r>
          </a:p>
          <a:p>
            <a:pPr marL="514350" lvl="1" indent="-228600">
              <a:lnSpc>
                <a:spcPct val="50000"/>
              </a:lnSpc>
              <a:defRPr/>
            </a:pPr>
            <a:r>
              <a:rPr lang="en-US" altLang="en-US" sz="900" dirty="0">
                <a:latin typeface="Times" charset="0"/>
              </a:rPr>
              <a:t>Intentionally build relationships with all subordinates.  Meet at least once a month one-on-one.  Ask about accomplishments, challenges and issues.</a:t>
            </a:r>
          </a:p>
          <a:p>
            <a:pPr marL="514350" lvl="1" indent="-228600">
              <a:lnSpc>
                <a:spcPct val="50000"/>
              </a:lnSpc>
              <a:defRPr/>
            </a:pPr>
            <a:r>
              <a:rPr lang="en-US" altLang="en-US" sz="900" dirty="0">
                <a:latin typeface="Times" charset="0"/>
              </a:rPr>
              <a:t>Get regular, written status reports and include:  accomplishments, current issues and needs from management, plans for the upcoming period</a:t>
            </a:r>
          </a:p>
          <a:p>
            <a:pPr marL="514350" lvl="1" indent="-228600">
              <a:lnSpc>
                <a:spcPct val="50000"/>
              </a:lnSpc>
              <a:defRPr/>
            </a:pPr>
            <a:r>
              <a:rPr lang="en-US" altLang="en-US" sz="900" dirty="0">
                <a:latin typeface="Times" charset="0"/>
              </a:rPr>
              <a:t>Conduct basis training about:  interpersonal communications, conflict management, delegation.</a:t>
            </a:r>
          </a:p>
          <a:p>
            <a:pPr marL="514350" lvl="1" indent="-228600">
              <a:lnSpc>
                <a:spcPct val="50000"/>
              </a:lnSpc>
              <a:defRPr/>
            </a:pPr>
            <a:r>
              <a:rPr lang="en-US" altLang="en-US" sz="900" dirty="0">
                <a:latin typeface="Times" charset="0"/>
              </a:rPr>
              <a:t>Develop procedures for routine tasks and include employees’ input.  Have employees write procedures when possible.  Get employees’ review of the procedures.  Distribute the procedures.  Train employees about the procedures.</a:t>
            </a:r>
          </a:p>
          <a:p>
            <a:pPr marL="514350" lvl="1" indent="-228600">
              <a:lnSpc>
                <a:spcPct val="50000"/>
              </a:lnSpc>
              <a:defRPr/>
            </a:pPr>
            <a:r>
              <a:rPr lang="en-US" altLang="en-US" sz="900" dirty="0">
                <a:latin typeface="Times" charset="0"/>
              </a:rPr>
              <a:t>Regularly hold management meetings (I.e., 1x/mo) to communicate new initiatives and status of current programs.</a:t>
            </a:r>
          </a:p>
          <a:p>
            <a:pPr marL="514350" lvl="1" indent="-228600">
              <a:lnSpc>
                <a:spcPct val="50000"/>
              </a:lnSpc>
              <a:defRPr/>
            </a:pPr>
            <a:r>
              <a:rPr lang="en-US" altLang="en-US" sz="900" dirty="0">
                <a:latin typeface="Times" charset="0"/>
              </a:rPr>
              <a:t>Consider an anonymous suggestion box in which employees can provide suggestions. </a:t>
            </a:r>
          </a:p>
          <a:p>
            <a:pPr>
              <a:buFontTx/>
              <a:buChar char="•"/>
              <a:defRPr/>
            </a:pPr>
            <a:endParaRPr lang="en-US" altLang="en-US" sz="800" dirty="0">
              <a:latin typeface="Times" charset="0"/>
            </a:endParaRPr>
          </a:p>
        </p:txBody>
      </p:sp>
    </p:spTree>
    <p:extLst>
      <p:ext uri="{BB962C8B-B14F-4D97-AF65-F5344CB8AC3E}">
        <p14:creationId xmlns:p14="http://schemas.microsoft.com/office/powerpoint/2010/main" val="39982170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Assertiveness</a:t>
            </a:r>
            <a:r>
              <a:rPr lang="en-US" dirty="0"/>
              <a:t> – how much</a:t>
            </a:r>
            <a:r>
              <a:rPr lang="en-US" baseline="0" dirty="0"/>
              <a:t> you try to satisfy your own concerns</a:t>
            </a:r>
          </a:p>
          <a:p>
            <a:r>
              <a:rPr lang="en-US" b="1" baseline="0" dirty="0"/>
              <a:t>Cooperativeness</a:t>
            </a:r>
            <a:r>
              <a:rPr lang="en-US" baseline="0" dirty="0"/>
              <a:t> – how much you try to satisfy your teammate’s concerns</a:t>
            </a:r>
          </a:p>
          <a:p>
            <a:endParaRPr lang="en-US" baseline="0" dirty="0"/>
          </a:p>
          <a:p>
            <a:r>
              <a:rPr lang="en-US" b="1" baseline="0" dirty="0"/>
              <a:t>Avoiding</a:t>
            </a:r>
            <a:r>
              <a:rPr lang="en-US" baseline="0" dirty="0"/>
              <a:t> – you sidestep the problem without satisfying either person’s concerns</a:t>
            </a:r>
          </a:p>
          <a:p>
            <a:r>
              <a:rPr lang="en-US" b="1" baseline="0" dirty="0"/>
              <a:t>Accommodating</a:t>
            </a:r>
            <a:r>
              <a:rPr lang="en-US" baseline="0" dirty="0"/>
              <a:t> – you attempt to satisfy the other person’s concerns at the expense of your own</a:t>
            </a:r>
          </a:p>
          <a:p>
            <a:r>
              <a:rPr lang="en-US" b="1" baseline="0" dirty="0"/>
              <a:t>Compromising</a:t>
            </a:r>
            <a:r>
              <a:rPr lang="en-US" baseline="0" dirty="0"/>
              <a:t> – you attempt to find an acceptable settlement that only partially satisfies both peoples concerns</a:t>
            </a:r>
          </a:p>
          <a:p>
            <a:r>
              <a:rPr lang="en-US" b="1" baseline="0" dirty="0"/>
              <a:t>Competing</a:t>
            </a:r>
            <a:r>
              <a:rPr lang="en-US" baseline="0" dirty="0"/>
              <a:t> – you try to satisfy your own concerns at the other person’s expense</a:t>
            </a:r>
          </a:p>
          <a:p>
            <a:r>
              <a:rPr lang="en-US" b="1" baseline="0" dirty="0"/>
              <a:t>Collaborating</a:t>
            </a:r>
            <a:r>
              <a:rPr lang="en-US" baseline="0" dirty="0"/>
              <a:t> – you try to find a win-win solution that completely satisfies both people’s concerns</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30</a:t>
            </a:fld>
            <a:endParaRPr lang="en-US" dirty="0"/>
          </a:p>
        </p:txBody>
      </p:sp>
    </p:spTree>
    <p:extLst>
      <p:ext uri="{BB962C8B-B14F-4D97-AF65-F5344CB8AC3E}">
        <p14:creationId xmlns:p14="http://schemas.microsoft.com/office/powerpoint/2010/main" val="41635236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questionnaire is designed to assess your behavior in conflict situations, where a situation arises and at least two people appear to be incompatible. In such situations, we can describe a person's behavior along two basic dimensions: (1) Assertiveness, the extent to which the individual attempts to satisfy his/her own concerns, and (2) Cooperativeness, the extent to which the individual attempts to satisfy the other person's concerns. These two basic dimensions of behavior can be used to define five specific methods of dealing with conflicts, as shown on the grid above</a:t>
            </a:r>
            <a:endParaRPr lang="en-US" dirty="0">
              <a:effectLst/>
            </a:endParaRPr>
          </a:p>
          <a:p>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31</a:t>
            </a:fld>
            <a:endParaRPr lang="en-US" dirty="0"/>
          </a:p>
        </p:txBody>
      </p:sp>
    </p:spTree>
    <p:extLst>
      <p:ext uri="{BB962C8B-B14F-4D97-AF65-F5344CB8AC3E}">
        <p14:creationId xmlns:p14="http://schemas.microsoft.com/office/powerpoint/2010/main" val="1059018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Each of the five conflict modes has its strengths and weaknesses, depending upon the conflict situation you are in. To maximize your ability to influence and manage conflict it is important to know how to adapt your style according to the situation you find yourself in. </a:t>
            </a:r>
            <a:endParaRPr lang="en-US" dirty="0">
              <a:effectLst/>
            </a:endParaRPr>
          </a:p>
          <a:p>
            <a:r>
              <a:rPr lang="en-US" sz="1200" kern="1200" dirty="0">
                <a:solidFill>
                  <a:schemeClr val="tx1"/>
                </a:solidFill>
                <a:effectLst/>
                <a:latin typeface="+mn-lt"/>
                <a:ea typeface="+mn-ea"/>
                <a:cs typeface="+mn-cs"/>
              </a:rPr>
              <a:t>The chart above depicts some examples of conflict situations, and suggests the most appropriate conflict mode to use for that situation. </a:t>
            </a:r>
            <a:endParaRPr lang="en-US" dirty="0">
              <a:effectLst/>
            </a:endParaRPr>
          </a:p>
          <a:p>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32</a:t>
            </a:fld>
            <a:endParaRPr lang="en-US" dirty="0"/>
          </a:p>
        </p:txBody>
      </p:sp>
    </p:spTree>
    <p:extLst>
      <p:ext uri="{BB962C8B-B14F-4D97-AF65-F5344CB8AC3E}">
        <p14:creationId xmlns:p14="http://schemas.microsoft.com/office/powerpoint/2010/main" val="20959332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59F3A9F-03E5-4E4D-9B2C-26F72B2EFC63}" type="slidenum">
              <a:rPr lang="en-US" altLang="en-US"/>
              <a:pPr>
                <a:defRPr/>
              </a:pPr>
              <a:t>33</a:t>
            </a:fld>
            <a:endParaRPr lang="en-US" altLang="en-US" dirty="0"/>
          </a:p>
        </p:txBody>
      </p:sp>
      <p:sp>
        <p:nvSpPr>
          <p:cNvPr id="544770" name="Rectangle 2"/>
          <p:cNvSpPr>
            <a:spLocks noGrp="1" noRot="1" noChangeAspect="1" noChangeArrowheads="1"/>
          </p:cNvSpPr>
          <p:nvPr>
            <p:ph type="sldImg"/>
          </p:nvPr>
        </p:nvSpPr>
        <p:spPr>
          <a:xfrm>
            <a:off x="590550" y="685800"/>
            <a:ext cx="5970588" cy="3359150"/>
          </a:xfrm>
          <a:solidFill>
            <a:srgbClr val="FFFFFF"/>
          </a:solidFill>
          <a:ln/>
        </p:spPr>
        <p:txBody>
          <a:bodyPr/>
          <a:lstStyle/>
          <a:p>
            <a:endParaRPr lang="en-US" dirty="0"/>
          </a:p>
        </p:txBody>
      </p:sp>
      <p:sp>
        <p:nvSpPr>
          <p:cNvPr id="54477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spcBef>
                <a:spcPct val="0"/>
              </a:spcBef>
              <a:defRPr/>
            </a:pPr>
            <a:r>
              <a:rPr lang="en-GB" altLang="en-US" dirty="0"/>
              <a:t>People are often so anxious about dealing with conflict that they cannot bring themselves to open a dialogue to resolve the issue.  This means that the issue does not get resolved and usually will get worse. When people do engage in dialogue, conflict usually reduces significantly so it is always worth the investment. Here’s how to  handle a conflict dialogue constructively.</a:t>
            </a:r>
            <a:endParaRPr lang="en-US" altLang="en-US" dirty="0"/>
          </a:p>
          <a:p>
            <a:pPr>
              <a:spcBef>
                <a:spcPct val="0"/>
              </a:spcBef>
              <a:defRPr/>
            </a:pPr>
            <a:endParaRPr lang="en-US" altLang="en-US" dirty="0"/>
          </a:p>
        </p:txBody>
      </p:sp>
    </p:spTree>
    <p:extLst>
      <p:ext uri="{BB962C8B-B14F-4D97-AF65-F5344CB8AC3E}">
        <p14:creationId xmlns:p14="http://schemas.microsoft.com/office/powerpoint/2010/main" val="22193045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38</a:t>
            </a:fld>
            <a:endParaRPr lang="en-GB" dirty="0">
              <a:solidFill>
                <a:prstClr val="black"/>
              </a:solidFill>
            </a:endParaRPr>
          </a:p>
        </p:txBody>
      </p:sp>
    </p:spTree>
    <p:extLst>
      <p:ext uri="{BB962C8B-B14F-4D97-AF65-F5344CB8AC3E}">
        <p14:creationId xmlns:p14="http://schemas.microsoft.com/office/powerpoint/2010/main" val="5351598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39</a:t>
            </a:fld>
            <a:endParaRPr lang="en-GB" dirty="0">
              <a:solidFill>
                <a:prstClr val="black"/>
              </a:solidFill>
            </a:endParaRPr>
          </a:p>
        </p:txBody>
      </p:sp>
    </p:spTree>
    <p:extLst>
      <p:ext uri="{BB962C8B-B14F-4D97-AF65-F5344CB8AC3E}">
        <p14:creationId xmlns:p14="http://schemas.microsoft.com/office/powerpoint/2010/main" val="3644318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41</a:t>
            </a:fld>
            <a:endParaRPr lang="en-GB" dirty="0">
              <a:solidFill>
                <a:prstClr val="black"/>
              </a:solidFill>
            </a:endParaRPr>
          </a:p>
        </p:txBody>
      </p:sp>
    </p:spTree>
    <p:extLst>
      <p:ext uri="{BB962C8B-B14F-4D97-AF65-F5344CB8AC3E}">
        <p14:creationId xmlns:p14="http://schemas.microsoft.com/office/powerpoint/2010/main" val="28161617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42</a:t>
            </a:fld>
            <a:endParaRPr lang="en-GB" dirty="0">
              <a:solidFill>
                <a:prstClr val="black"/>
              </a:solidFill>
            </a:endParaRPr>
          </a:p>
        </p:txBody>
      </p:sp>
    </p:spTree>
    <p:extLst>
      <p:ext uri="{BB962C8B-B14F-4D97-AF65-F5344CB8AC3E}">
        <p14:creationId xmlns:p14="http://schemas.microsoft.com/office/powerpoint/2010/main" val="21057404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jpe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Rectangle 8"/>
          <p:cNvSpPr/>
          <p:nvPr userDrawn="1"/>
        </p:nvSpPr>
        <p:spPr>
          <a:xfrm>
            <a:off x="5057776" y="2015836"/>
            <a:ext cx="4086225" cy="312766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Rectangle 9"/>
          <p:cNvSpPr/>
          <p:nvPr userDrawn="1"/>
        </p:nvSpPr>
        <p:spPr>
          <a:xfrm>
            <a:off x="5057775" y="1"/>
            <a:ext cx="2012156" cy="192881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Rectangle 10"/>
          <p:cNvSpPr/>
          <p:nvPr userDrawn="1"/>
        </p:nvSpPr>
        <p:spPr>
          <a:xfrm>
            <a:off x="7162800" y="0"/>
            <a:ext cx="1981200" cy="1928813"/>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Rectangle 11"/>
          <p:cNvSpPr/>
          <p:nvPr userDrawn="1"/>
        </p:nvSpPr>
        <p:spPr>
          <a:xfrm>
            <a:off x="2959893" y="3214688"/>
            <a:ext cx="2012156" cy="1928813"/>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3" name="Rectangle 12"/>
          <p:cNvSpPr/>
          <p:nvPr userDrawn="1"/>
        </p:nvSpPr>
        <p:spPr>
          <a:xfrm>
            <a:off x="2" y="3214686"/>
            <a:ext cx="2874167" cy="1928814"/>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 name="Rectangle 13"/>
          <p:cNvSpPr/>
          <p:nvPr userDrawn="1"/>
        </p:nvSpPr>
        <p:spPr>
          <a:xfrm>
            <a:off x="2959893" y="1"/>
            <a:ext cx="2012156" cy="3131344"/>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Rectangle 14"/>
          <p:cNvSpPr/>
          <p:nvPr userDrawn="1"/>
        </p:nvSpPr>
        <p:spPr>
          <a:xfrm>
            <a:off x="-1" y="1"/>
            <a:ext cx="2874167" cy="31313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p:cNvSpPr>
            <a:spLocks noGrp="1"/>
          </p:cNvSpPr>
          <p:nvPr>
            <p:ph type="ctrTitle"/>
          </p:nvPr>
        </p:nvSpPr>
        <p:spPr>
          <a:xfrm>
            <a:off x="5372100" y="2785846"/>
            <a:ext cx="3581400" cy="466579"/>
          </a:xfrm>
        </p:spPr>
        <p:txBody>
          <a:bodyPr/>
          <a:lstStyle>
            <a:lvl1pPr algn="l">
              <a:defRPr sz="3600">
                <a:solidFill>
                  <a:schemeClr val="bg1"/>
                </a:solidFill>
              </a:defRPr>
            </a:lvl1pPr>
          </a:lstStyle>
          <a:p>
            <a:r>
              <a:rPr lang="en-US" dirty="0"/>
              <a:t>Click to edit Master title style</a:t>
            </a:r>
          </a:p>
        </p:txBody>
      </p:sp>
      <p:sp>
        <p:nvSpPr>
          <p:cNvPr id="16" name="Rectangle 15"/>
          <p:cNvSpPr/>
          <p:nvPr userDrawn="1"/>
        </p:nvSpPr>
        <p:spPr>
          <a:xfrm>
            <a:off x="983675" y="2978944"/>
            <a:ext cx="742950" cy="7429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7" name="Rectangle 16"/>
          <p:cNvSpPr/>
          <p:nvPr userDrawn="1"/>
        </p:nvSpPr>
        <p:spPr>
          <a:xfrm>
            <a:off x="1824038" y="1266606"/>
            <a:ext cx="1526383" cy="15263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Rectangle 17"/>
          <p:cNvSpPr/>
          <p:nvPr userDrawn="1"/>
        </p:nvSpPr>
        <p:spPr>
          <a:xfrm>
            <a:off x="421484" y="3888364"/>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Rectangle 18"/>
          <p:cNvSpPr/>
          <p:nvPr userDrawn="1"/>
        </p:nvSpPr>
        <p:spPr>
          <a:xfrm>
            <a:off x="2643077" y="3888363"/>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21" name="Straight Connector 20"/>
          <p:cNvCxnSpPr/>
          <p:nvPr userDrawn="1"/>
        </p:nvCxnSpPr>
        <p:spPr>
          <a:xfrm>
            <a:off x="2909887" y="0"/>
            <a:ext cx="0" cy="514350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5012531" y="-4759"/>
            <a:ext cx="0" cy="514350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7115175" y="-9520"/>
            <a:ext cx="0" cy="1938333"/>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5057776" y="1974053"/>
            <a:ext cx="4086225"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2" y="3174209"/>
            <a:ext cx="5012531"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05808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5367" y="2380378"/>
            <a:ext cx="8294913" cy="466579"/>
          </a:xfrm>
        </p:spPr>
        <p:txBody>
          <a:bodyPr/>
          <a:lstStyle>
            <a:lvl1pPr algn="ctr">
              <a:defRPr sz="4200">
                <a:solidFill>
                  <a:schemeClr val="bg2">
                    <a:lumMod val="75000"/>
                  </a:schemeClr>
                </a:solidFill>
              </a:defRPr>
            </a:lvl1pPr>
          </a:lstStyle>
          <a:p>
            <a:r>
              <a:rPr lang="en-US" dirty="0"/>
              <a:t>Click to edit Master title style</a:t>
            </a:r>
          </a:p>
        </p:txBody>
      </p:sp>
      <p:sp>
        <p:nvSpPr>
          <p:cNvPr id="4" name="Slide Number Placeholder 5"/>
          <p:cNvSpPr>
            <a:spLocks noGrp="1"/>
          </p:cNvSpPr>
          <p:nvPr>
            <p:ph type="sldNum" sz="quarter" idx="4"/>
          </p:nvPr>
        </p:nvSpPr>
        <p:spPr>
          <a:xfrm>
            <a:off x="8546409" y="4717168"/>
            <a:ext cx="450271"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0FF5AF83-51D7-42C6-91B5-890B3BC0DD73}" type="slidenum">
              <a:rPr lang="en-US" smtClean="0"/>
              <a:pPr/>
              <a:t>‹#›</a:t>
            </a:fld>
            <a:endParaRPr lang="en-US" dirty="0"/>
          </a:p>
        </p:txBody>
      </p:sp>
    </p:spTree>
    <p:extLst>
      <p:ext uri="{BB962C8B-B14F-4D97-AF65-F5344CB8AC3E}">
        <p14:creationId xmlns:p14="http://schemas.microsoft.com/office/powerpoint/2010/main" val="32025254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Slide Number Placeholder 5"/>
          <p:cNvSpPr>
            <a:spLocks noGrp="1"/>
          </p:cNvSpPr>
          <p:nvPr>
            <p:ph type="sldNum" sz="quarter" idx="4"/>
          </p:nvPr>
        </p:nvSpPr>
        <p:spPr>
          <a:xfrm>
            <a:off x="8546409" y="4717168"/>
            <a:ext cx="450271"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0FF5AF83-51D7-42C6-91B5-890B3BC0DD73}" type="slidenum">
              <a:rPr lang="en-US" smtClean="0"/>
              <a:pPr/>
              <a:t>‹#›</a:t>
            </a:fld>
            <a:endParaRPr lang="en-US" dirty="0"/>
          </a:p>
        </p:txBody>
      </p:sp>
    </p:spTree>
    <p:extLst>
      <p:ext uri="{BB962C8B-B14F-4D97-AF65-F5344CB8AC3E}">
        <p14:creationId xmlns:p14="http://schemas.microsoft.com/office/powerpoint/2010/main" val="8912013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 name="Title 1"/>
          <p:cNvSpPr>
            <a:spLocks noGrp="1"/>
          </p:cNvSpPr>
          <p:nvPr>
            <p:ph type="title"/>
          </p:nvPr>
        </p:nvSpPr>
        <p:spPr>
          <a:xfrm>
            <a:off x="5350670" y="2978944"/>
            <a:ext cx="3836194" cy="1021556"/>
          </a:xfrm>
        </p:spPr>
        <p:txBody>
          <a:bodyPr anchor="ctr" anchorCtr="0">
            <a:noAutofit/>
          </a:bodyPr>
          <a:lstStyle>
            <a:lvl1pPr algn="l">
              <a:lnSpc>
                <a:spcPct val="90000"/>
              </a:lnSpc>
              <a:defRPr sz="4400" b="0" cap="all">
                <a:solidFill>
                  <a:schemeClr val="bg1"/>
                </a:solidFill>
              </a:defRPr>
            </a:lvl1pPr>
          </a:lstStyle>
          <a:p>
            <a:r>
              <a:rPr lang="en-US" dirty="0"/>
              <a:t>Click to edit Master title style</a:t>
            </a:r>
          </a:p>
        </p:txBody>
      </p:sp>
      <p:grpSp>
        <p:nvGrpSpPr>
          <p:cNvPr id="18" name="Group 17"/>
          <p:cNvGrpSpPr/>
          <p:nvPr userDrawn="1"/>
        </p:nvGrpSpPr>
        <p:grpSpPr>
          <a:xfrm>
            <a:off x="0" y="-9520"/>
            <a:ext cx="9144000" cy="5153020"/>
            <a:chOff x="0" y="-9520"/>
            <a:chExt cx="9144000" cy="5153020"/>
          </a:xfrm>
        </p:grpSpPr>
        <p:sp>
          <p:nvSpPr>
            <p:cNvPr id="6" name="Rectangle 5"/>
            <p:cNvSpPr/>
            <p:nvPr userDrawn="1"/>
          </p:nvSpPr>
          <p:spPr>
            <a:xfrm>
              <a:off x="983675" y="2978944"/>
              <a:ext cx="742950" cy="7429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Rectangle 7"/>
            <p:cNvSpPr/>
            <p:nvPr userDrawn="1"/>
          </p:nvSpPr>
          <p:spPr>
            <a:xfrm>
              <a:off x="1824036" y="1266605"/>
              <a:ext cx="1526383" cy="15263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Rectangle 9"/>
            <p:cNvSpPr/>
            <p:nvPr userDrawn="1"/>
          </p:nvSpPr>
          <p:spPr>
            <a:xfrm>
              <a:off x="421482" y="3888363"/>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Rectangle 10"/>
            <p:cNvSpPr/>
            <p:nvPr userDrawn="1"/>
          </p:nvSpPr>
          <p:spPr>
            <a:xfrm>
              <a:off x="2643075" y="3888362"/>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12" name="Straight Connector 11"/>
            <p:cNvCxnSpPr/>
            <p:nvPr userDrawn="1"/>
          </p:nvCxnSpPr>
          <p:spPr>
            <a:xfrm>
              <a:off x="2909887" y="-9520"/>
              <a:ext cx="0" cy="515302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5012531" y="-4759"/>
              <a:ext cx="0" cy="514350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7115175" y="-9520"/>
              <a:ext cx="0" cy="1938333"/>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5012531" y="1974053"/>
              <a:ext cx="4131469"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0" y="3174209"/>
              <a:ext cx="5012531"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09819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 name="Title 1"/>
          <p:cNvSpPr>
            <a:spLocks noGrp="1"/>
          </p:cNvSpPr>
          <p:nvPr>
            <p:ph type="title"/>
          </p:nvPr>
        </p:nvSpPr>
        <p:spPr>
          <a:xfrm>
            <a:off x="5343526" y="1154913"/>
            <a:ext cx="3836194" cy="1021556"/>
          </a:xfrm>
        </p:spPr>
        <p:txBody>
          <a:bodyPr anchor="ctr" anchorCtr="0">
            <a:noAutofit/>
          </a:bodyPr>
          <a:lstStyle>
            <a:lvl1pPr algn="l">
              <a:lnSpc>
                <a:spcPct val="90000"/>
              </a:lnSpc>
              <a:defRPr sz="4400" b="0" cap="all">
                <a:solidFill>
                  <a:schemeClr val="bg1"/>
                </a:solidFill>
              </a:defRPr>
            </a:lvl1pPr>
          </a:lstStyle>
          <a:p>
            <a:r>
              <a:rPr lang="en-US" dirty="0"/>
              <a:t>Click to edit Master title style</a:t>
            </a:r>
          </a:p>
        </p:txBody>
      </p:sp>
      <p:grpSp>
        <p:nvGrpSpPr>
          <p:cNvPr id="18" name="Group 17"/>
          <p:cNvGrpSpPr/>
          <p:nvPr userDrawn="1"/>
        </p:nvGrpSpPr>
        <p:grpSpPr>
          <a:xfrm flipV="1">
            <a:off x="0" y="-9520"/>
            <a:ext cx="9144000" cy="5153020"/>
            <a:chOff x="0" y="-9520"/>
            <a:chExt cx="9144000" cy="5153020"/>
          </a:xfrm>
        </p:grpSpPr>
        <p:sp>
          <p:nvSpPr>
            <p:cNvPr id="6" name="Rectangle 5"/>
            <p:cNvSpPr/>
            <p:nvPr userDrawn="1"/>
          </p:nvSpPr>
          <p:spPr>
            <a:xfrm>
              <a:off x="983675" y="2978944"/>
              <a:ext cx="742950" cy="7429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Rectangle 7"/>
            <p:cNvSpPr/>
            <p:nvPr userDrawn="1"/>
          </p:nvSpPr>
          <p:spPr>
            <a:xfrm>
              <a:off x="1824036" y="1266605"/>
              <a:ext cx="1526383" cy="15263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Rectangle 9"/>
            <p:cNvSpPr/>
            <p:nvPr userDrawn="1"/>
          </p:nvSpPr>
          <p:spPr>
            <a:xfrm>
              <a:off x="421482" y="3888363"/>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Rectangle 10"/>
            <p:cNvSpPr/>
            <p:nvPr userDrawn="1"/>
          </p:nvSpPr>
          <p:spPr>
            <a:xfrm>
              <a:off x="2643075" y="3888362"/>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12" name="Straight Connector 11"/>
            <p:cNvCxnSpPr/>
            <p:nvPr userDrawn="1"/>
          </p:nvCxnSpPr>
          <p:spPr>
            <a:xfrm>
              <a:off x="2909887" y="-9520"/>
              <a:ext cx="0" cy="515302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5012531" y="-4759"/>
              <a:ext cx="0" cy="514350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7115175" y="-9520"/>
              <a:ext cx="0" cy="1938333"/>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5012531" y="1974053"/>
              <a:ext cx="4131469"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0" y="3174209"/>
              <a:ext cx="5012531"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411265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p:cNvSpPr>
            <a:spLocks noGrp="1"/>
          </p:cNvSpPr>
          <p:nvPr>
            <p:ph type="title"/>
          </p:nvPr>
        </p:nvSpPr>
        <p:spPr>
          <a:xfrm>
            <a:off x="411284" y="997750"/>
            <a:ext cx="3308900" cy="1021556"/>
          </a:xfrm>
        </p:spPr>
        <p:txBody>
          <a:bodyPr anchor="ctr" anchorCtr="0">
            <a:noAutofit/>
          </a:bodyPr>
          <a:lstStyle>
            <a:lvl1pPr algn="l">
              <a:lnSpc>
                <a:spcPct val="90000"/>
              </a:lnSpc>
              <a:defRPr sz="4400" b="0" cap="all">
                <a:solidFill>
                  <a:schemeClr val="bg1"/>
                </a:solidFill>
              </a:defRPr>
            </a:lvl1pPr>
          </a:lstStyle>
          <a:p>
            <a:r>
              <a:rPr lang="en-US" dirty="0"/>
              <a:t>Click to edit Master title style</a:t>
            </a:r>
          </a:p>
        </p:txBody>
      </p:sp>
      <p:grpSp>
        <p:nvGrpSpPr>
          <p:cNvPr id="6" name="Group 5"/>
          <p:cNvGrpSpPr/>
          <p:nvPr userDrawn="1"/>
        </p:nvGrpSpPr>
        <p:grpSpPr>
          <a:xfrm flipH="1" flipV="1">
            <a:off x="0" y="-9520"/>
            <a:ext cx="9144000" cy="5153020"/>
            <a:chOff x="0" y="-9520"/>
            <a:chExt cx="9144000" cy="5153020"/>
          </a:xfrm>
        </p:grpSpPr>
        <p:sp>
          <p:nvSpPr>
            <p:cNvPr id="8" name="Rectangle 7"/>
            <p:cNvSpPr/>
            <p:nvPr userDrawn="1"/>
          </p:nvSpPr>
          <p:spPr>
            <a:xfrm>
              <a:off x="983675" y="2978944"/>
              <a:ext cx="742950" cy="7429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 name="Rectangle 8"/>
            <p:cNvSpPr/>
            <p:nvPr userDrawn="1"/>
          </p:nvSpPr>
          <p:spPr>
            <a:xfrm>
              <a:off x="1824036" y="1266605"/>
              <a:ext cx="1526383" cy="15263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Rectangle 9"/>
            <p:cNvSpPr/>
            <p:nvPr userDrawn="1"/>
          </p:nvSpPr>
          <p:spPr>
            <a:xfrm>
              <a:off x="421482" y="3888363"/>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Rectangle 10"/>
            <p:cNvSpPr/>
            <p:nvPr userDrawn="1"/>
          </p:nvSpPr>
          <p:spPr>
            <a:xfrm>
              <a:off x="2643075" y="3888362"/>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12" name="Straight Connector 11"/>
            <p:cNvCxnSpPr/>
            <p:nvPr userDrawn="1"/>
          </p:nvCxnSpPr>
          <p:spPr>
            <a:xfrm>
              <a:off x="2909887" y="-9520"/>
              <a:ext cx="0" cy="515302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5012531" y="-4759"/>
              <a:ext cx="0" cy="514350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7115175" y="-9520"/>
              <a:ext cx="0" cy="1938333"/>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5012531" y="1974053"/>
              <a:ext cx="4131469"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0" y="3174209"/>
              <a:ext cx="5012531"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539665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p:cNvSpPr>
            <a:spLocks noGrp="1"/>
          </p:cNvSpPr>
          <p:nvPr>
            <p:ph type="title"/>
          </p:nvPr>
        </p:nvSpPr>
        <p:spPr>
          <a:xfrm>
            <a:off x="411284" y="3105160"/>
            <a:ext cx="3308900" cy="1021556"/>
          </a:xfrm>
        </p:spPr>
        <p:txBody>
          <a:bodyPr anchor="ctr" anchorCtr="0">
            <a:noAutofit/>
          </a:bodyPr>
          <a:lstStyle>
            <a:lvl1pPr algn="l">
              <a:lnSpc>
                <a:spcPct val="90000"/>
              </a:lnSpc>
              <a:defRPr sz="4400" b="0" cap="all">
                <a:solidFill>
                  <a:schemeClr val="bg1"/>
                </a:solidFill>
              </a:defRPr>
            </a:lvl1pPr>
          </a:lstStyle>
          <a:p>
            <a:r>
              <a:rPr lang="en-US" dirty="0"/>
              <a:t>Click to edit Master title style</a:t>
            </a:r>
          </a:p>
        </p:txBody>
      </p:sp>
      <p:grpSp>
        <p:nvGrpSpPr>
          <p:cNvPr id="6" name="Group 5"/>
          <p:cNvGrpSpPr/>
          <p:nvPr userDrawn="1"/>
        </p:nvGrpSpPr>
        <p:grpSpPr>
          <a:xfrm flipH="1">
            <a:off x="0" y="-9520"/>
            <a:ext cx="9144000" cy="5153020"/>
            <a:chOff x="0" y="-9520"/>
            <a:chExt cx="9144000" cy="5153020"/>
          </a:xfrm>
        </p:grpSpPr>
        <p:sp>
          <p:nvSpPr>
            <p:cNvPr id="8" name="Rectangle 7"/>
            <p:cNvSpPr/>
            <p:nvPr userDrawn="1"/>
          </p:nvSpPr>
          <p:spPr>
            <a:xfrm>
              <a:off x="983675" y="2978944"/>
              <a:ext cx="742950" cy="7429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 name="Rectangle 8"/>
            <p:cNvSpPr/>
            <p:nvPr userDrawn="1"/>
          </p:nvSpPr>
          <p:spPr>
            <a:xfrm>
              <a:off x="1824036" y="1266605"/>
              <a:ext cx="1526383" cy="15263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Rectangle 9"/>
            <p:cNvSpPr/>
            <p:nvPr userDrawn="1"/>
          </p:nvSpPr>
          <p:spPr>
            <a:xfrm>
              <a:off x="421482" y="3888363"/>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Rectangle 10"/>
            <p:cNvSpPr/>
            <p:nvPr userDrawn="1"/>
          </p:nvSpPr>
          <p:spPr>
            <a:xfrm>
              <a:off x="2643075" y="3888362"/>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12" name="Straight Connector 11"/>
            <p:cNvCxnSpPr/>
            <p:nvPr userDrawn="1"/>
          </p:nvCxnSpPr>
          <p:spPr>
            <a:xfrm>
              <a:off x="2909887" y="-9520"/>
              <a:ext cx="0" cy="515302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5012531" y="-4759"/>
              <a:ext cx="0" cy="514350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7115175" y="-9520"/>
              <a:ext cx="0" cy="1938333"/>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5012531" y="1974053"/>
              <a:ext cx="4131469"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0" y="3174209"/>
              <a:ext cx="5012531"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673144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75331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5"/>
          <p:cNvSpPr>
            <a:spLocks noGrp="1"/>
          </p:cNvSpPr>
          <p:nvPr>
            <p:ph type="sldNum" sz="quarter" idx="4"/>
          </p:nvPr>
        </p:nvSpPr>
        <p:spPr>
          <a:xfrm>
            <a:off x="8546409" y="4717168"/>
            <a:ext cx="450271"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0FF5AF83-51D7-42C6-91B5-890B3BC0DD73}" type="slidenum">
              <a:rPr lang="en-US" smtClean="0"/>
              <a:pPr/>
              <a:t>‹#›</a:t>
            </a:fld>
            <a:endParaRPr lang="en-US" dirty="0"/>
          </a:p>
        </p:txBody>
      </p:sp>
    </p:spTree>
    <p:extLst>
      <p:ext uri="{BB962C8B-B14F-4D97-AF65-F5344CB8AC3E}">
        <p14:creationId xmlns:p14="http://schemas.microsoft.com/office/powerpoint/2010/main" val="8075873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10917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1_Custom Layout">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spTree>
    <p:extLst>
      <p:ext uri="{BB962C8B-B14F-4D97-AF65-F5344CB8AC3E}">
        <p14:creationId xmlns:p14="http://schemas.microsoft.com/office/powerpoint/2010/main" val="14070529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4CFD79AE-9B4B-415F-853F-F26E6F97A5B8}" type="datetimeFigureOut">
              <a:rPr lang="en-US" smtClean="0"/>
              <a:t>11/3/25</a:t>
            </a:fld>
            <a:endParaRPr lang="en-US" dirty="0"/>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99849A2A-C1C0-4722-9796-2CFAADEB68D2}" type="slidenum">
              <a:rPr lang="en-US" smtClean="0"/>
              <a:t>‹#›</a:t>
            </a:fld>
            <a:endParaRPr lang="en-US" dirty="0"/>
          </a:p>
        </p:txBody>
      </p:sp>
    </p:spTree>
    <p:extLst>
      <p:ext uri="{BB962C8B-B14F-4D97-AF65-F5344CB8AC3E}">
        <p14:creationId xmlns:p14="http://schemas.microsoft.com/office/powerpoint/2010/main" val="2077486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4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07920-1893-A045-91FC-52178A4E4D3C}"/>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88B1C495-8651-8545-99BA-D023C11169C2}"/>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9832093-955A-9D4A-BC98-1842CBDD7583}"/>
              </a:ext>
            </a:extLst>
          </p:cNvPr>
          <p:cNvSpPr>
            <a:spLocks noGrp="1"/>
          </p:cNvSpPr>
          <p:nvPr>
            <p:ph type="dt" sz="half" idx="10"/>
          </p:nvPr>
        </p:nvSpPr>
        <p:spPr/>
        <p:txBody>
          <a:bodyPr/>
          <a:lstStyle/>
          <a:p>
            <a:fld id="{76FCAC25-4081-534C-849D-3B4CD5DA0482}" type="datetimeFigureOut">
              <a:rPr lang="en-US" smtClean="0"/>
              <a:t>11/3/25</a:t>
            </a:fld>
            <a:endParaRPr lang="en-US" dirty="0"/>
          </a:p>
        </p:txBody>
      </p:sp>
      <p:sp>
        <p:nvSpPr>
          <p:cNvPr id="5" name="Footer Placeholder 4">
            <a:extLst>
              <a:ext uri="{FF2B5EF4-FFF2-40B4-BE49-F238E27FC236}">
                <a16:creationId xmlns:a16="http://schemas.microsoft.com/office/drawing/2014/main" id="{100E9925-CF8C-1B44-BF8C-E9191C2C60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FC0B907-E58B-0D45-A629-0D2B13F54792}"/>
              </a:ext>
            </a:extLst>
          </p:cNvPr>
          <p:cNvSpPr>
            <a:spLocks noGrp="1"/>
          </p:cNvSpPr>
          <p:nvPr>
            <p:ph type="sldNum" sz="quarter" idx="12"/>
          </p:nvPr>
        </p:nvSpPr>
        <p:spPr/>
        <p:txBody>
          <a:bodyPr/>
          <a:lstStyle/>
          <a:p>
            <a:fld id="{81105C5C-2988-CE4A-8C4B-527F108A4CF1}" type="slidenum">
              <a:rPr lang="en-US" smtClean="0"/>
              <a:t>‹#›</a:t>
            </a:fld>
            <a:endParaRPr lang="en-US" dirty="0"/>
          </a:p>
        </p:txBody>
      </p:sp>
    </p:spTree>
    <p:extLst>
      <p:ext uri="{BB962C8B-B14F-4D97-AF65-F5344CB8AC3E}">
        <p14:creationId xmlns:p14="http://schemas.microsoft.com/office/powerpoint/2010/main" val="17860099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Rectangle 3"/>
          <p:cNvSpPr/>
          <p:nvPr userDrawn="1"/>
        </p:nvSpPr>
        <p:spPr>
          <a:xfrm>
            <a:off x="0" y="-9525"/>
            <a:ext cx="9156700" cy="5153025"/>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prstClr val="white"/>
              </a:solidFill>
            </a:endParaRPr>
          </a:p>
        </p:txBody>
      </p:sp>
      <p:pic>
        <p:nvPicPr>
          <p:cNvPr id="31" name="Picture 30" descr="scholastic_communispace.png"/>
          <p:cNvPicPr>
            <a:picLocks noChangeAspect="1"/>
          </p:cNvPicPr>
          <p:nvPr userDrawn="1"/>
        </p:nvPicPr>
        <p:blipFill rotWithShape="1">
          <a:blip r:embed="rId2" cstate="email">
            <a:extLst>
              <a:ext uri="{28A0092B-C50C-407E-A947-70E740481C1C}">
                <a14:useLocalDpi xmlns:a14="http://schemas.microsoft.com/office/drawing/2010/main"/>
              </a:ext>
            </a:extLst>
          </a:blip>
          <a:srcRect r="-11590"/>
          <a:stretch/>
        </p:blipFill>
        <p:spPr>
          <a:xfrm>
            <a:off x="228600" y="4686301"/>
            <a:ext cx="4724401" cy="385796"/>
          </a:xfrm>
          <a:prstGeom prst="rect">
            <a:avLst/>
          </a:prstGeom>
        </p:spPr>
      </p:pic>
    </p:spTree>
    <p:extLst>
      <p:ext uri="{BB962C8B-B14F-4D97-AF65-F5344CB8AC3E}">
        <p14:creationId xmlns:p14="http://schemas.microsoft.com/office/powerpoint/2010/main" val="23884698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4" name="Rectangle 3"/>
          <p:cNvSpPr/>
          <p:nvPr userDrawn="1"/>
        </p:nvSpPr>
        <p:spPr>
          <a:xfrm>
            <a:off x="0" y="-9525"/>
            <a:ext cx="9156700" cy="5153025"/>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prstClr val="white"/>
              </a:solidFill>
            </a:endParaRPr>
          </a:p>
        </p:txBody>
      </p:sp>
      <p:pic>
        <p:nvPicPr>
          <p:cNvPr id="1029" name="Picture 5"/>
          <p:cNvPicPr>
            <a:picLocks noChangeAspect="1" noChangeArrowheads="1"/>
          </p:cNvPicPr>
          <p:nvPr userDrawn="1"/>
        </p:nvPicPr>
        <p:blipFill rotWithShape="1">
          <a:blip r:embed="rId2"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3562484" y="-9525"/>
            <a:ext cx="5581516" cy="5143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31" name="Picture 7"/>
          <p:cNvPicPr>
            <a:picLocks noChangeAspect="1" noChangeArrowheads="1"/>
          </p:cNvPicPr>
          <p:nvPr userDrawn="1"/>
        </p:nvPicPr>
        <p:blipFill rotWithShape="1">
          <a:blip r:embed="rId3" cstate="email">
            <a:extLst>
              <a:ext uri="{28A0092B-C50C-407E-A947-70E740481C1C}">
                <a14:useLocalDpi xmlns:a14="http://schemas.microsoft.com/office/drawing/2010/main"/>
              </a:ext>
            </a:extLst>
          </a:blip>
          <a:srcRect/>
          <a:stretch/>
        </p:blipFill>
        <p:spPr bwMode="auto">
          <a:xfrm>
            <a:off x="4648806" y="454819"/>
            <a:ext cx="4507894" cy="42338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1" name="Picture 30" descr="scholastic_communispace.png"/>
          <p:cNvPicPr>
            <a:picLocks noChangeAspect="1"/>
          </p:cNvPicPr>
          <p:nvPr userDrawn="1"/>
        </p:nvPicPr>
        <p:blipFill rotWithShape="1">
          <a:blip r:embed="rId4" cstate="email">
            <a:extLst>
              <a:ext uri="{28A0092B-C50C-407E-A947-70E740481C1C}">
                <a14:useLocalDpi xmlns:a14="http://schemas.microsoft.com/office/drawing/2010/main"/>
              </a:ext>
            </a:extLst>
          </a:blip>
          <a:srcRect r="-11590"/>
          <a:stretch/>
        </p:blipFill>
        <p:spPr>
          <a:xfrm>
            <a:off x="228600" y="4686301"/>
            <a:ext cx="4724401" cy="385796"/>
          </a:xfrm>
          <a:prstGeom prst="rect">
            <a:avLst/>
          </a:prstGeom>
        </p:spPr>
      </p:pic>
    </p:spTree>
    <p:extLst>
      <p:ext uri="{BB962C8B-B14F-4D97-AF65-F5344CB8AC3E}">
        <p14:creationId xmlns:p14="http://schemas.microsoft.com/office/powerpoint/2010/main" val="2019105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16" name="Title 1"/>
          <p:cNvSpPr>
            <a:spLocks noGrp="1"/>
          </p:cNvSpPr>
          <p:nvPr>
            <p:ph type="ctrTitle"/>
          </p:nvPr>
        </p:nvSpPr>
        <p:spPr>
          <a:xfrm>
            <a:off x="685800" y="1597819"/>
            <a:ext cx="7772400" cy="1102519"/>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217"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18" name="Rectangle 217"/>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19" name="Rounded Rectangle 218"/>
          <p:cNvSpPr/>
          <p:nvPr/>
        </p:nvSpPr>
        <p:spPr>
          <a:xfrm>
            <a:off x="244450" y="3867912"/>
            <a:ext cx="1472184" cy="1104138"/>
          </a:xfrm>
          <a:prstGeom prst="roundRect">
            <a:avLst>
              <a:gd name="adj" fmla="val 10529"/>
            </a:avLst>
          </a:prstGeom>
          <a:solidFill>
            <a:srgbClr val="6DB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0" name="Rounded Rectangle 219"/>
          <p:cNvSpPr/>
          <p:nvPr/>
        </p:nvSpPr>
        <p:spPr>
          <a:xfrm>
            <a:off x="244450" y="2635758"/>
            <a:ext cx="1472184" cy="1104138"/>
          </a:xfrm>
          <a:prstGeom prst="roundRect">
            <a:avLst>
              <a:gd name="adj" fmla="val 1052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1" name="Rounded Rectangle 220"/>
          <p:cNvSpPr/>
          <p:nvPr/>
        </p:nvSpPr>
        <p:spPr>
          <a:xfrm>
            <a:off x="244450" y="1403604"/>
            <a:ext cx="1472184" cy="1104138"/>
          </a:xfrm>
          <a:prstGeom prst="roundRect">
            <a:avLst>
              <a:gd name="adj" fmla="val 10529"/>
            </a:avLst>
          </a:prstGeom>
          <a:solidFill>
            <a:srgbClr val="6DB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2" name="Rounded Rectangle 221"/>
          <p:cNvSpPr/>
          <p:nvPr/>
        </p:nvSpPr>
        <p:spPr>
          <a:xfrm>
            <a:off x="244450" y="171450"/>
            <a:ext cx="1472184" cy="1104138"/>
          </a:xfrm>
          <a:prstGeom prst="roundRect">
            <a:avLst>
              <a:gd name="adj" fmla="val 105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3" name="Rounded Rectangle 222"/>
          <p:cNvSpPr/>
          <p:nvPr/>
        </p:nvSpPr>
        <p:spPr>
          <a:xfrm>
            <a:off x="1902866" y="3861054"/>
            <a:ext cx="1472184" cy="1104138"/>
          </a:xfrm>
          <a:prstGeom prst="roundRect">
            <a:avLst>
              <a:gd name="adj" fmla="val 105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4" name="Rounded Rectangle 223"/>
          <p:cNvSpPr/>
          <p:nvPr/>
        </p:nvSpPr>
        <p:spPr>
          <a:xfrm>
            <a:off x="1902866" y="164592"/>
            <a:ext cx="1472184" cy="1104138"/>
          </a:xfrm>
          <a:prstGeom prst="roundRect">
            <a:avLst>
              <a:gd name="adj" fmla="val 1052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5" name="Rounded Rectangle 224"/>
          <p:cNvSpPr/>
          <p:nvPr/>
        </p:nvSpPr>
        <p:spPr>
          <a:xfrm>
            <a:off x="3562484" y="3874770"/>
            <a:ext cx="1472184" cy="1104138"/>
          </a:xfrm>
          <a:prstGeom prst="roundRect">
            <a:avLst>
              <a:gd name="adj" fmla="val 1052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6" name="Rounded Rectangle 225"/>
          <p:cNvSpPr/>
          <p:nvPr/>
        </p:nvSpPr>
        <p:spPr>
          <a:xfrm>
            <a:off x="3562484" y="178308"/>
            <a:ext cx="1472184" cy="1104138"/>
          </a:xfrm>
          <a:prstGeom prst="roundRect">
            <a:avLst>
              <a:gd name="adj" fmla="val 1052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pic>
        <p:nvPicPr>
          <p:cNvPr id="227" name="Picture 226" descr="Communispace_4-color.pn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4953000" y="1715124"/>
            <a:ext cx="3657600" cy="393235"/>
          </a:xfrm>
          <a:prstGeom prst="rect">
            <a:avLst/>
          </a:prstGeom>
        </p:spPr>
      </p:pic>
      <p:pic>
        <p:nvPicPr>
          <p:cNvPr id="229" name="Picture 228" descr="Communispace_4-color_White.pn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421341" y="1522880"/>
            <a:ext cx="989094" cy="916005"/>
          </a:xfrm>
          <a:prstGeom prst="rect">
            <a:avLst/>
          </a:prstGeom>
        </p:spPr>
      </p:pic>
      <p:sp>
        <p:nvSpPr>
          <p:cNvPr id="230" name="Rounded Rectangle 229"/>
          <p:cNvSpPr/>
          <p:nvPr/>
        </p:nvSpPr>
        <p:spPr>
          <a:xfrm>
            <a:off x="1902866" y="2627421"/>
            <a:ext cx="1472184" cy="1104138"/>
          </a:xfrm>
          <a:prstGeom prst="roundRect">
            <a:avLst>
              <a:gd name="adj" fmla="val 1052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31" name="Rounded Rectangle 230"/>
          <p:cNvSpPr/>
          <p:nvPr/>
        </p:nvSpPr>
        <p:spPr>
          <a:xfrm>
            <a:off x="3562484" y="2630648"/>
            <a:ext cx="1472184" cy="1104138"/>
          </a:xfrm>
          <a:prstGeom prst="roundRect">
            <a:avLst>
              <a:gd name="adj" fmla="val 1052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32" name="TextBox 231"/>
          <p:cNvSpPr txBox="1"/>
          <p:nvPr/>
        </p:nvSpPr>
        <p:spPr>
          <a:xfrm>
            <a:off x="4365812" y="1778905"/>
            <a:ext cx="533400" cy="461665"/>
          </a:xfrm>
          <a:prstGeom prst="rect">
            <a:avLst/>
          </a:prstGeom>
          <a:noFill/>
        </p:spPr>
        <p:txBody>
          <a:bodyPr wrap="square" rtlCol="0">
            <a:spAutoFit/>
          </a:bodyPr>
          <a:lstStyle/>
          <a:p>
            <a:pPr defTabSz="914400" fontAlgn="base">
              <a:spcBef>
                <a:spcPct val="0"/>
              </a:spcBef>
              <a:spcAft>
                <a:spcPct val="0"/>
              </a:spcAft>
            </a:pPr>
            <a:r>
              <a:rPr lang="en-US" sz="2400" dirty="0">
                <a:solidFill>
                  <a:srgbClr val="ADAAA1"/>
                </a:solidFill>
                <a:ea typeface="ＭＳ Ｐゴシック" charset="-128"/>
              </a:rPr>
              <a:t>+</a:t>
            </a:r>
          </a:p>
        </p:txBody>
      </p:sp>
      <p:pic>
        <p:nvPicPr>
          <p:cNvPr id="18" name="Picture 33" descr="COVER3"/>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0" y="0"/>
            <a:ext cx="9144000" cy="5143500"/>
          </a:xfrm>
          <a:prstGeom prst="rect">
            <a:avLst/>
          </a:prstGeom>
          <a:noFill/>
          <a:ln w="9525">
            <a:noFill/>
            <a:miter lim="800000"/>
            <a:headEnd/>
            <a:tailEnd/>
          </a:ln>
        </p:spPr>
      </p:pic>
      <p:sp>
        <p:nvSpPr>
          <p:cNvPr id="19" name="Rectangle 34"/>
          <p:cNvSpPr>
            <a:spLocks noChangeArrowheads="1"/>
          </p:cNvSpPr>
          <p:nvPr userDrawn="1"/>
        </p:nvSpPr>
        <p:spPr bwMode="auto">
          <a:xfrm>
            <a:off x="304800" y="171450"/>
            <a:ext cx="457200" cy="228600"/>
          </a:xfrm>
          <a:prstGeom prst="rect">
            <a:avLst/>
          </a:prstGeom>
          <a:solidFill>
            <a:schemeClr val="tx1"/>
          </a:solidFill>
          <a:ln w="9525">
            <a:noFill/>
            <a:miter lim="800000"/>
            <a:headEnd/>
            <a:tailEnd/>
          </a:ln>
          <a:effectLst/>
        </p:spPr>
        <p:txBody>
          <a:bodyPr wrap="none" anchor="ctr"/>
          <a:lstStyle/>
          <a:p>
            <a:pPr defTabSz="914400" fontAlgn="base">
              <a:spcBef>
                <a:spcPct val="0"/>
              </a:spcBef>
              <a:spcAft>
                <a:spcPct val="0"/>
              </a:spcAft>
              <a:defRPr/>
            </a:pPr>
            <a:endParaRPr lang="en-US" sz="1600" dirty="0">
              <a:solidFill>
                <a:srgbClr val="777263"/>
              </a:solidFill>
              <a:ea typeface="ＭＳ Ｐゴシック" charset="-128"/>
            </a:endParaRPr>
          </a:p>
        </p:txBody>
      </p:sp>
    </p:spTree>
    <p:extLst>
      <p:ext uri="{BB962C8B-B14F-4D97-AF65-F5344CB8AC3E}">
        <p14:creationId xmlns:p14="http://schemas.microsoft.com/office/powerpoint/2010/main" val="11935297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grpSp>
        <p:nvGrpSpPr>
          <p:cNvPr id="2" name="Group 1"/>
          <p:cNvGrpSpPr/>
          <p:nvPr/>
        </p:nvGrpSpPr>
        <p:grpSpPr>
          <a:xfrm>
            <a:off x="-486228" y="4629150"/>
            <a:ext cx="10116298" cy="667256"/>
            <a:chOff x="-486228" y="6172200"/>
            <a:chExt cx="10116298" cy="889674"/>
          </a:xfrm>
        </p:grpSpPr>
        <p:sp>
          <p:nvSpPr>
            <p:cNvPr id="3" name="Rectangle 2"/>
            <p:cNvSpPr/>
            <p:nvPr userDrawn="1"/>
          </p:nvSpPr>
          <p:spPr>
            <a:xfrm>
              <a:off x="0" y="6172200"/>
              <a:ext cx="9144000" cy="6858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 name="Rounded Rectangle 3"/>
            <p:cNvSpPr/>
            <p:nvPr/>
          </p:nvSpPr>
          <p:spPr>
            <a:xfrm>
              <a:off x="-486228" y="6493953"/>
              <a:ext cx="564415" cy="564415"/>
            </a:xfrm>
            <a:prstGeom prst="roundRect">
              <a:avLst>
                <a:gd name="adj" fmla="val 105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 name="Rounded Rectangle 4"/>
            <p:cNvSpPr/>
            <p:nvPr/>
          </p:nvSpPr>
          <p:spPr>
            <a:xfrm>
              <a:off x="148768" y="6490447"/>
              <a:ext cx="564415" cy="564415"/>
            </a:xfrm>
            <a:prstGeom prst="roundRect">
              <a:avLst>
                <a:gd name="adj" fmla="val 1052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 name="Rounded Rectangle 5"/>
            <p:cNvSpPr/>
            <p:nvPr/>
          </p:nvSpPr>
          <p:spPr>
            <a:xfrm>
              <a:off x="783765" y="6497459"/>
              <a:ext cx="564415" cy="564415"/>
            </a:xfrm>
            <a:prstGeom prst="roundRect">
              <a:avLst>
                <a:gd name="adj" fmla="val 1052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 name="Rounded Rectangle 6"/>
            <p:cNvSpPr/>
            <p:nvPr/>
          </p:nvSpPr>
          <p:spPr>
            <a:xfrm>
              <a:off x="1418761" y="6493953"/>
              <a:ext cx="564415" cy="564415"/>
            </a:xfrm>
            <a:prstGeom prst="roundRect">
              <a:avLst>
                <a:gd name="adj" fmla="val 10529"/>
              </a:avLst>
            </a:prstGeom>
            <a:solidFill>
              <a:srgbClr val="6DB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 name="Rounded Rectangle 7"/>
            <p:cNvSpPr/>
            <p:nvPr/>
          </p:nvSpPr>
          <p:spPr>
            <a:xfrm>
              <a:off x="2068713" y="6493953"/>
              <a:ext cx="564415" cy="564415"/>
            </a:xfrm>
            <a:prstGeom prst="roundRect">
              <a:avLst>
                <a:gd name="adj" fmla="val 105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 name="Rounded Rectangle 8"/>
            <p:cNvSpPr/>
            <p:nvPr/>
          </p:nvSpPr>
          <p:spPr>
            <a:xfrm>
              <a:off x="2703709" y="6490447"/>
              <a:ext cx="564415" cy="564415"/>
            </a:xfrm>
            <a:prstGeom prst="roundRect">
              <a:avLst>
                <a:gd name="adj" fmla="val 1052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 name="Rounded Rectangle 9"/>
            <p:cNvSpPr/>
            <p:nvPr/>
          </p:nvSpPr>
          <p:spPr>
            <a:xfrm>
              <a:off x="3338706" y="6497459"/>
              <a:ext cx="564415" cy="564415"/>
            </a:xfrm>
            <a:prstGeom prst="roundRect">
              <a:avLst>
                <a:gd name="adj" fmla="val 1052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 name="Rounded Rectangle 10"/>
            <p:cNvSpPr/>
            <p:nvPr/>
          </p:nvSpPr>
          <p:spPr>
            <a:xfrm>
              <a:off x="3973702" y="6493953"/>
              <a:ext cx="564415" cy="564415"/>
            </a:xfrm>
            <a:prstGeom prst="roundRect">
              <a:avLst>
                <a:gd name="adj" fmla="val 1052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 name="Rounded Rectangle 11"/>
            <p:cNvSpPr/>
            <p:nvPr userDrawn="1"/>
          </p:nvSpPr>
          <p:spPr>
            <a:xfrm>
              <a:off x="4610207" y="6480506"/>
              <a:ext cx="564415" cy="564415"/>
            </a:xfrm>
            <a:prstGeom prst="roundRect">
              <a:avLst>
                <a:gd name="adj" fmla="val 1052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 name="Rounded Rectangle 12"/>
            <p:cNvSpPr/>
            <p:nvPr userDrawn="1"/>
          </p:nvSpPr>
          <p:spPr>
            <a:xfrm>
              <a:off x="5245203" y="6477000"/>
              <a:ext cx="564415" cy="564415"/>
            </a:xfrm>
            <a:prstGeom prst="roundRect">
              <a:avLst>
                <a:gd name="adj" fmla="val 10529"/>
              </a:avLst>
            </a:prstGeom>
            <a:solidFill>
              <a:srgbClr val="6DB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 name="Rounded Rectangle 13"/>
            <p:cNvSpPr/>
            <p:nvPr userDrawn="1"/>
          </p:nvSpPr>
          <p:spPr>
            <a:xfrm>
              <a:off x="5880200" y="6484012"/>
              <a:ext cx="564415" cy="564415"/>
            </a:xfrm>
            <a:prstGeom prst="roundRect">
              <a:avLst>
                <a:gd name="adj" fmla="val 105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 name="Rounded Rectangle 14"/>
            <p:cNvSpPr/>
            <p:nvPr userDrawn="1"/>
          </p:nvSpPr>
          <p:spPr>
            <a:xfrm>
              <a:off x="6515196" y="6480506"/>
              <a:ext cx="564415" cy="564415"/>
            </a:xfrm>
            <a:prstGeom prst="roundRect">
              <a:avLst>
                <a:gd name="adj" fmla="val 1052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 name="Rounded Rectangle 15"/>
            <p:cNvSpPr/>
            <p:nvPr userDrawn="1"/>
          </p:nvSpPr>
          <p:spPr>
            <a:xfrm>
              <a:off x="7160666" y="6480506"/>
              <a:ext cx="564415" cy="564415"/>
            </a:xfrm>
            <a:prstGeom prst="roundRect">
              <a:avLst>
                <a:gd name="adj" fmla="val 1052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 name="Rounded Rectangle 16"/>
            <p:cNvSpPr/>
            <p:nvPr userDrawn="1"/>
          </p:nvSpPr>
          <p:spPr>
            <a:xfrm>
              <a:off x="7795662" y="6477000"/>
              <a:ext cx="564415" cy="564415"/>
            </a:xfrm>
            <a:prstGeom prst="roundRect">
              <a:avLst>
                <a:gd name="adj" fmla="val 1052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 name="Rounded Rectangle 17"/>
            <p:cNvSpPr/>
            <p:nvPr userDrawn="1"/>
          </p:nvSpPr>
          <p:spPr>
            <a:xfrm>
              <a:off x="8430659" y="6248400"/>
              <a:ext cx="564415" cy="800027"/>
            </a:xfrm>
            <a:prstGeom prst="roundRect">
              <a:avLst>
                <a:gd name="adj" fmla="val 10529"/>
              </a:avLst>
            </a:prstGeom>
            <a:solidFill>
              <a:srgbClr val="6DB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 name="Rounded Rectangle 18"/>
            <p:cNvSpPr/>
            <p:nvPr userDrawn="1"/>
          </p:nvSpPr>
          <p:spPr>
            <a:xfrm>
              <a:off x="9065655" y="6480506"/>
              <a:ext cx="564415" cy="564415"/>
            </a:xfrm>
            <a:prstGeom prst="roundRect">
              <a:avLst>
                <a:gd name="adj" fmla="val 1052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pic>
          <p:nvPicPr>
            <p:cNvPr id="20" name="Picture 19" descr="Communispace_4-color_White.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8539138" y="6350626"/>
              <a:ext cx="347455" cy="429040"/>
            </a:xfrm>
            <a:prstGeom prst="rect">
              <a:avLst/>
            </a:prstGeom>
          </p:spPr>
        </p:pic>
      </p:grpSp>
    </p:spTree>
    <p:extLst>
      <p:ext uri="{BB962C8B-B14F-4D97-AF65-F5344CB8AC3E}">
        <p14:creationId xmlns:p14="http://schemas.microsoft.com/office/powerpoint/2010/main" val="11205740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Rectangle 3"/>
          <p:cNvSpPr/>
          <p:nvPr/>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nvGrpSpPr>
          <p:cNvPr id="5" name="Group 5"/>
          <p:cNvGrpSpPr/>
          <p:nvPr/>
        </p:nvGrpSpPr>
        <p:grpSpPr>
          <a:xfrm>
            <a:off x="-212970" y="-245543"/>
            <a:ext cx="2472076" cy="1845743"/>
            <a:chOff x="1075873" y="358409"/>
            <a:chExt cx="6209186" cy="6181344"/>
          </a:xfrm>
          <a:solidFill>
            <a:srgbClr val="FFFFFF">
              <a:alpha val="10196"/>
            </a:srgbClr>
          </a:solidFill>
        </p:grpSpPr>
        <p:sp>
          <p:nvSpPr>
            <p:cNvPr id="6" name="Rounded Rectangle 5"/>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 name="Rounded Rectangle 6"/>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 name="Rounded Rectangle 7"/>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 name="Rounded Rectangle 8"/>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 name="Rounded Rectangle 9"/>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 name="Rounded Rectangle 10"/>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 name="Rounded Rectangle 11"/>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 name="Rounded Rectangle 12"/>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 name="Rounded Rectangle 13"/>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 name="Rounded Rectangle 14"/>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 name="Rounded Rectangle 15"/>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 name="Rounded Rectangle 16"/>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 name="Rounded Rectangle 17"/>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 name="Rounded Rectangle 18"/>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0" name="Rounded Rectangle 19"/>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1" name="Rounded Rectangle 20"/>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22" name="Group 23"/>
          <p:cNvGrpSpPr/>
          <p:nvPr/>
        </p:nvGrpSpPr>
        <p:grpSpPr>
          <a:xfrm>
            <a:off x="-212970" y="1640407"/>
            <a:ext cx="2472076" cy="1845743"/>
            <a:chOff x="1075873" y="358409"/>
            <a:chExt cx="6209186" cy="6181344"/>
          </a:xfrm>
          <a:solidFill>
            <a:srgbClr val="FFFFFF">
              <a:alpha val="10196"/>
            </a:srgbClr>
          </a:solidFill>
        </p:grpSpPr>
        <p:sp>
          <p:nvSpPr>
            <p:cNvPr id="23" name="Rounded Rectangle 22"/>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4" name="Rounded Rectangle 23"/>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5" name="Rounded Rectangle 24"/>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6" name="Rounded Rectangle 25"/>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7" name="Rounded Rectangle 26"/>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8" name="Rounded Rectangle 27"/>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9" name="Rounded Rectangle 28"/>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0" name="Rounded Rectangle 29"/>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1" name="Rounded Rectangle 30"/>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2" name="Rounded Rectangle 31"/>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3" name="Rounded Rectangle 32"/>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4" name="Rounded Rectangle 33"/>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5" name="Rounded Rectangle 34"/>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6" name="Rounded Rectangle 35"/>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7" name="Rounded Rectangle 36"/>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8" name="Rounded Rectangle 37"/>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39" name="Group 40"/>
          <p:cNvGrpSpPr/>
          <p:nvPr/>
        </p:nvGrpSpPr>
        <p:grpSpPr>
          <a:xfrm>
            <a:off x="-212970" y="3526357"/>
            <a:ext cx="2472076" cy="1845743"/>
            <a:chOff x="1075873" y="358409"/>
            <a:chExt cx="6209186" cy="6181344"/>
          </a:xfrm>
          <a:solidFill>
            <a:srgbClr val="FFFFFF">
              <a:alpha val="10196"/>
            </a:srgbClr>
          </a:solidFill>
        </p:grpSpPr>
        <p:sp>
          <p:nvSpPr>
            <p:cNvPr id="40" name="Rounded Rectangle 39"/>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1" name="Rounded Rectangle 40"/>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2" name="Rounded Rectangle 41"/>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3" name="Rounded Rectangle 42"/>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4" name="Rounded Rectangle 43"/>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5" name="Rounded Rectangle 44"/>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6" name="Rounded Rectangle 45"/>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7" name="Rounded Rectangle 46"/>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8" name="Rounded Rectangle 47"/>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9" name="Rounded Rectangle 48"/>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0" name="Rounded Rectangle 49"/>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1" name="Rounded Rectangle 50"/>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2" name="Rounded Rectangle 51"/>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3" name="Rounded Rectangle 52"/>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4" name="Rounded Rectangle 53"/>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5" name="Rounded Rectangle 54"/>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56" name="Group 57"/>
          <p:cNvGrpSpPr/>
          <p:nvPr/>
        </p:nvGrpSpPr>
        <p:grpSpPr>
          <a:xfrm>
            <a:off x="2341971" y="-245543"/>
            <a:ext cx="2472076" cy="1845743"/>
            <a:chOff x="1075873" y="358409"/>
            <a:chExt cx="6209186" cy="6181344"/>
          </a:xfrm>
          <a:solidFill>
            <a:srgbClr val="FFFFFF">
              <a:alpha val="10196"/>
            </a:srgbClr>
          </a:solidFill>
        </p:grpSpPr>
        <p:sp>
          <p:nvSpPr>
            <p:cNvPr id="57" name="Rounded Rectangle 56"/>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8" name="Rounded Rectangle 57"/>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9" name="Rounded Rectangle 58"/>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0" name="Rounded Rectangle 59"/>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1" name="Rounded Rectangle 60"/>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2" name="Rounded Rectangle 61"/>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3" name="Rounded Rectangle 62"/>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4" name="Rounded Rectangle 63"/>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5" name="Rounded Rectangle 64"/>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6" name="Rounded Rectangle 65"/>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7" name="Rounded Rectangle 66"/>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8" name="Rounded Rectangle 67"/>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9" name="Rounded Rectangle 68"/>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0" name="Rounded Rectangle 69"/>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1" name="Rounded Rectangle 70"/>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2" name="Rounded Rectangle 71"/>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73" name="Group 74"/>
          <p:cNvGrpSpPr/>
          <p:nvPr/>
        </p:nvGrpSpPr>
        <p:grpSpPr>
          <a:xfrm>
            <a:off x="2341971" y="1640407"/>
            <a:ext cx="2472076" cy="1845743"/>
            <a:chOff x="1075873" y="358409"/>
            <a:chExt cx="6209186" cy="6181344"/>
          </a:xfrm>
          <a:solidFill>
            <a:srgbClr val="FFFFFF">
              <a:alpha val="10196"/>
            </a:srgbClr>
          </a:solidFill>
        </p:grpSpPr>
        <p:sp>
          <p:nvSpPr>
            <p:cNvPr id="74" name="Rounded Rectangle 73"/>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5" name="Rounded Rectangle 74"/>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6" name="Rounded Rectangle 75"/>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7" name="Rounded Rectangle 76"/>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8" name="Rounded Rectangle 77"/>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9" name="Rounded Rectangle 78"/>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0" name="Rounded Rectangle 79"/>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1" name="Rounded Rectangle 80"/>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2" name="Rounded Rectangle 81"/>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3" name="Rounded Rectangle 82"/>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4" name="Rounded Rectangle 83"/>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5" name="Rounded Rectangle 84"/>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6" name="Rounded Rectangle 85"/>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7" name="Rounded Rectangle 86"/>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8" name="Rounded Rectangle 87"/>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9" name="Rounded Rectangle 88"/>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90" name="Group 91"/>
          <p:cNvGrpSpPr/>
          <p:nvPr/>
        </p:nvGrpSpPr>
        <p:grpSpPr>
          <a:xfrm>
            <a:off x="2341971" y="3526357"/>
            <a:ext cx="2472076" cy="1845743"/>
            <a:chOff x="1075873" y="358409"/>
            <a:chExt cx="6209186" cy="6181344"/>
          </a:xfrm>
          <a:solidFill>
            <a:srgbClr val="FFFFFF">
              <a:alpha val="10196"/>
            </a:srgbClr>
          </a:solidFill>
        </p:grpSpPr>
        <p:sp>
          <p:nvSpPr>
            <p:cNvPr id="91" name="Rounded Rectangle 90"/>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2" name="Rounded Rectangle 91"/>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3" name="Rounded Rectangle 92"/>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4" name="Rounded Rectangle 93"/>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5" name="Rounded Rectangle 94"/>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6" name="Rounded Rectangle 95"/>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7" name="Rounded Rectangle 96"/>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8" name="Rounded Rectangle 97"/>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9" name="Rounded Rectangle 98"/>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0" name="Rounded Rectangle 99"/>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1" name="Rounded Rectangle 100"/>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2" name="Rounded Rectangle 101"/>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3" name="Rounded Rectangle 102"/>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4" name="Rounded Rectangle 103"/>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5" name="Rounded Rectangle 104"/>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6" name="Rounded Rectangle 105"/>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107" name="Group 108"/>
          <p:cNvGrpSpPr/>
          <p:nvPr/>
        </p:nvGrpSpPr>
        <p:grpSpPr>
          <a:xfrm>
            <a:off x="4883465" y="-255628"/>
            <a:ext cx="2472076" cy="1845743"/>
            <a:chOff x="1075873" y="358409"/>
            <a:chExt cx="6209186" cy="6181344"/>
          </a:xfrm>
          <a:solidFill>
            <a:srgbClr val="FFFFFF">
              <a:alpha val="10196"/>
            </a:srgbClr>
          </a:solidFill>
        </p:grpSpPr>
        <p:sp>
          <p:nvSpPr>
            <p:cNvPr id="108" name="Rounded Rectangle 107"/>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9" name="Rounded Rectangle 108"/>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0" name="Rounded Rectangle 109"/>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1" name="Rounded Rectangle 110"/>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2" name="Rounded Rectangle 111"/>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3" name="Rounded Rectangle 112"/>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4" name="Rounded Rectangle 113"/>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5" name="Rounded Rectangle 114"/>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6" name="Rounded Rectangle 115"/>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7" name="Rounded Rectangle 116"/>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8" name="Rounded Rectangle 117"/>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9" name="Rounded Rectangle 118"/>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0" name="Rounded Rectangle 119"/>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1" name="Rounded Rectangle 120"/>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2" name="Rounded Rectangle 121"/>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3" name="Rounded Rectangle 122"/>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124" name="Group 125"/>
          <p:cNvGrpSpPr/>
          <p:nvPr/>
        </p:nvGrpSpPr>
        <p:grpSpPr>
          <a:xfrm>
            <a:off x="4883465" y="1630322"/>
            <a:ext cx="2472076" cy="1845743"/>
            <a:chOff x="1075873" y="358409"/>
            <a:chExt cx="6209186" cy="6181344"/>
          </a:xfrm>
          <a:solidFill>
            <a:srgbClr val="FFFFFF">
              <a:alpha val="10196"/>
            </a:srgbClr>
          </a:solidFill>
        </p:grpSpPr>
        <p:sp>
          <p:nvSpPr>
            <p:cNvPr id="125" name="Rounded Rectangle 124"/>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6" name="Rounded Rectangle 125"/>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7" name="Rounded Rectangle 126"/>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8" name="Rounded Rectangle 127"/>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9" name="Rounded Rectangle 128"/>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0" name="Rounded Rectangle 129"/>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1" name="Rounded Rectangle 130"/>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2" name="Rounded Rectangle 131"/>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3" name="Rounded Rectangle 132"/>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4" name="Rounded Rectangle 133"/>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5" name="Rounded Rectangle 134"/>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6" name="Rounded Rectangle 135"/>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7" name="Rounded Rectangle 136"/>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8" name="Rounded Rectangle 137"/>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9" name="Rounded Rectangle 138"/>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0" name="Rounded Rectangle 139"/>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141" name="Group 142"/>
          <p:cNvGrpSpPr/>
          <p:nvPr/>
        </p:nvGrpSpPr>
        <p:grpSpPr>
          <a:xfrm>
            <a:off x="4883465" y="3516272"/>
            <a:ext cx="2472076" cy="1845743"/>
            <a:chOff x="1075873" y="358409"/>
            <a:chExt cx="6209186" cy="6181344"/>
          </a:xfrm>
          <a:solidFill>
            <a:srgbClr val="FFFFFF">
              <a:alpha val="10196"/>
            </a:srgbClr>
          </a:solidFill>
        </p:grpSpPr>
        <p:sp>
          <p:nvSpPr>
            <p:cNvPr id="142" name="Rounded Rectangle 141"/>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3" name="Rounded Rectangle 142"/>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4" name="Rounded Rectangle 143"/>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5" name="Rounded Rectangle 144"/>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6" name="Rounded Rectangle 145"/>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7" name="Rounded Rectangle 146"/>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8" name="Rounded Rectangle 147"/>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9" name="Rounded Rectangle 148"/>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0" name="Rounded Rectangle 149"/>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1" name="Rounded Rectangle 150"/>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2" name="Rounded Rectangle 151"/>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3" name="Rounded Rectangle 152"/>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4" name="Rounded Rectangle 153"/>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5" name="Rounded Rectangle 154"/>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6" name="Rounded Rectangle 155"/>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7" name="Rounded Rectangle 156"/>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sp>
        <p:nvSpPr>
          <p:cNvPr id="158" name="Rounded Rectangle 157"/>
          <p:cNvSpPr/>
          <p:nvPr/>
        </p:nvSpPr>
        <p:spPr>
          <a:xfrm>
            <a:off x="7433925" y="1164174"/>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9" name="Rounded Rectangle 158"/>
          <p:cNvSpPr/>
          <p:nvPr/>
        </p:nvSpPr>
        <p:spPr>
          <a:xfrm>
            <a:off x="7433925" y="-252999"/>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0" name="Rounded Rectangle 159"/>
          <p:cNvSpPr/>
          <p:nvPr/>
        </p:nvSpPr>
        <p:spPr>
          <a:xfrm>
            <a:off x="8068921" y="1161545"/>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1" name="Rounded Rectangle 160"/>
          <p:cNvSpPr/>
          <p:nvPr/>
        </p:nvSpPr>
        <p:spPr>
          <a:xfrm>
            <a:off x="8068921" y="-255628"/>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2" name="Rounded Rectangle 161"/>
          <p:cNvSpPr/>
          <p:nvPr/>
        </p:nvSpPr>
        <p:spPr>
          <a:xfrm>
            <a:off x="8703918" y="1166804"/>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3" name="Rounded Rectangle 162"/>
          <p:cNvSpPr/>
          <p:nvPr/>
        </p:nvSpPr>
        <p:spPr>
          <a:xfrm>
            <a:off x="8703918" y="222022"/>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4" name="Rounded Rectangle 163"/>
          <p:cNvSpPr/>
          <p:nvPr/>
        </p:nvSpPr>
        <p:spPr>
          <a:xfrm>
            <a:off x="8703918" y="-250369"/>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5" name="Rounded Rectangle 164"/>
          <p:cNvSpPr/>
          <p:nvPr/>
        </p:nvSpPr>
        <p:spPr>
          <a:xfrm>
            <a:off x="9338914" y="1164174"/>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6" name="Rounded Rectangle 165"/>
          <p:cNvSpPr/>
          <p:nvPr/>
        </p:nvSpPr>
        <p:spPr>
          <a:xfrm>
            <a:off x="9338914" y="219392"/>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7" name="Rounded Rectangle 166"/>
          <p:cNvSpPr/>
          <p:nvPr/>
        </p:nvSpPr>
        <p:spPr>
          <a:xfrm>
            <a:off x="9338914" y="-252999"/>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8" name="Rounded Rectangle 167"/>
          <p:cNvSpPr/>
          <p:nvPr/>
        </p:nvSpPr>
        <p:spPr>
          <a:xfrm>
            <a:off x="8704495" y="684001"/>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9" name="Rounded Rectangle 168"/>
          <p:cNvSpPr/>
          <p:nvPr/>
        </p:nvSpPr>
        <p:spPr>
          <a:xfrm>
            <a:off x="9341586" y="684001"/>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nvGrpSpPr>
          <p:cNvPr id="170" name="Group 176"/>
          <p:cNvGrpSpPr/>
          <p:nvPr/>
        </p:nvGrpSpPr>
        <p:grpSpPr>
          <a:xfrm>
            <a:off x="7433924" y="1630322"/>
            <a:ext cx="2472076" cy="1845743"/>
            <a:chOff x="1075873" y="358409"/>
            <a:chExt cx="6209186" cy="6181344"/>
          </a:xfrm>
          <a:solidFill>
            <a:srgbClr val="FFFFFF">
              <a:alpha val="10196"/>
            </a:srgbClr>
          </a:solidFill>
        </p:grpSpPr>
        <p:sp>
          <p:nvSpPr>
            <p:cNvPr id="171" name="Rounded Rectangle 170"/>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2" name="Rounded Rectangle 171"/>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3" name="Rounded Rectangle 172"/>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4" name="Rounded Rectangle 173"/>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5" name="Rounded Rectangle 174"/>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6" name="Rounded Rectangle 175"/>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7" name="Rounded Rectangle 176"/>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8" name="Rounded Rectangle 177"/>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9" name="Rounded Rectangle 178"/>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0" name="Rounded Rectangle 179"/>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1" name="Rounded Rectangle 180"/>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2" name="Rounded Rectangle 181"/>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3" name="Rounded Rectangle 182"/>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4" name="Rounded Rectangle 183"/>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5" name="Rounded Rectangle 184"/>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6" name="Rounded Rectangle 185"/>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187" name="Group 193"/>
          <p:cNvGrpSpPr/>
          <p:nvPr/>
        </p:nvGrpSpPr>
        <p:grpSpPr>
          <a:xfrm>
            <a:off x="7433924" y="3516272"/>
            <a:ext cx="2472076" cy="1845743"/>
            <a:chOff x="1075873" y="358409"/>
            <a:chExt cx="6209186" cy="6181344"/>
          </a:xfrm>
          <a:solidFill>
            <a:srgbClr val="FFFFFF">
              <a:alpha val="10196"/>
            </a:srgbClr>
          </a:solidFill>
        </p:grpSpPr>
        <p:sp>
          <p:nvSpPr>
            <p:cNvPr id="188" name="Rounded Rectangle 187"/>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9" name="Rounded Rectangle 188"/>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0" name="Rounded Rectangle 189"/>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1" name="Rounded Rectangle 190"/>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2" name="Rounded Rectangle 191"/>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3" name="Rounded Rectangle 192"/>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4" name="Rounded Rectangle 193"/>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5" name="Rounded Rectangle 194"/>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6" name="Rounded Rectangle 195"/>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7" name="Rounded Rectangle 196"/>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8" name="Rounded Rectangle 197"/>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9" name="Rounded Rectangle 198"/>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00" name="Rounded Rectangle 199"/>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01" name="Rounded Rectangle 200"/>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02" name="Rounded Rectangle 201"/>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03" name="Rounded Rectangle 202"/>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sp>
        <p:nvSpPr>
          <p:cNvPr id="204" name="Oval Callout 203"/>
          <p:cNvSpPr/>
          <p:nvPr/>
        </p:nvSpPr>
        <p:spPr>
          <a:xfrm>
            <a:off x="1828800" y="514350"/>
            <a:ext cx="5562600" cy="4114800"/>
          </a:xfrm>
          <a:prstGeom prst="wedgeEllipseCallout">
            <a:avLst>
              <a:gd name="adj1" fmla="val 48625"/>
              <a:gd name="adj2" fmla="val 4559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pic>
        <p:nvPicPr>
          <p:cNvPr id="205" name="Picture 204" descr="whiteC_90percent.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1040" y="295707"/>
            <a:ext cx="706276" cy="718206"/>
          </a:xfrm>
          <a:prstGeom prst="rect">
            <a:avLst/>
          </a:prstGeom>
        </p:spPr>
      </p:pic>
    </p:spTree>
    <p:extLst>
      <p:ext uri="{BB962C8B-B14F-4D97-AF65-F5344CB8AC3E}">
        <p14:creationId xmlns:p14="http://schemas.microsoft.com/office/powerpoint/2010/main" val="36987099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
            <a:ext cx="8001000" cy="571500"/>
          </a:xfrm>
          <a:prstGeom prst="rect">
            <a:avLst/>
          </a:prstGeom>
        </p:spPr>
        <p:txBody>
          <a:bodyPr/>
          <a:lstStyle>
            <a:lvl1pPr>
              <a:defRPr sz="1800">
                <a:solidFill>
                  <a:schemeClr val="bg2">
                    <a:lumMod val="50000"/>
                  </a:schemeClr>
                </a:solidFill>
              </a:defRPr>
            </a:lvl1pPr>
          </a:lstStyle>
          <a:p>
            <a:r>
              <a:rPr lang="en-US" dirty="0"/>
              <a:t>Click to edit Master title style</a:t>
            </a:r>
          </a:p>
        </p:txBody>
      </p:sp>
      <p:sp>
        <p:nvSpPr>
          <p:cNvPr id="3" name="Content Placeholder 2"/>
          <p:cNvSpPr>
            <a:spLocks noGrp="1"/>
          </p:cNvSpPr>
          <p:nvPr>
            <p:ph idx="1"/>
          </p:nvPr>
        </p:nvSpPr>
        <p:spPr>
          <a:xfrm>
            <a:off x="533400" y="914400"/>
            <a:ext cx="8001000" cy="3829050"/>
          </a:xfrm>
          <a:prstGeom prst="rect">
            <a:avLst/>
          </a:prstGeom>
        </p:spPr>
        <p:txBody>
          <a:bodyPr/>
          <a:lstStyle>
            <a:lvl1pPr>
              <a:defRPr sz="1600">
                <a:solidFill>
                  <a:schemeClr val="bg2">
                    <a:lumMod val="50000"/>
                  </a:schemeClr>
                </a:solidFill>
              </a:defRPr>
            </a:lvl1pPr>
            <a:lvl2pPr>
              <a:defRPr sz="1400">
                <a:solidFill>
                  <a:schemeClr val="bg2">
                    <a:lumMod val="50000"/>
                  </a:schemeClr>
                </a:solidFill>
              </a:defRPr>
            </a:lvl2pPr>
            <a:lvl3pPr>
              <a:defRPr sz="1200">
                <a:solidFill>
                  <a:schemeClr val="bg2">
                    <a:lumMod val="50000"/>
                  </a:schemeClr>
                </a:solidFill>
              </a:defRPr>
            </a:lvl3pPr>
            <a:lvl4pPr>
              <a:defRPr sz="1100">
                <a:solidFill>
                  <a:schemeClr val="bg2">
                    <a:lumMod val="50000"/>
                  </a:schemeClr>
                </a:solidFill>
              </a:defRPr>
            </a:lvl4pPr>
            <a:lvl5pPr>
              <a:defRPr sz="1050">
                <a:solidFill>
                  <a:schemeClr val="bg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0" y="4936332"/>
            <a:ext cx="533400" cy="273844"/>
          </a:xfrm>
          <a:prstGeom prst="rect">
            <a:avLst/>
          </a:prstGeom>
        </p:spPr>
        <p:txBody>
          <a:bodyPr/>
          <a:lstStyle>
            <a:lvl1pPr>
              <a:defRPr sz="1000">
                <a:solidFill>
                  <a:schemeClr val="bg1"/>
                </a:solidFill>
              </a:defRPr>
            </a:lvl1pPr>
          </a:lstStyle>
          <a:p>
            <a:pPr defTabSz="914400" fontAlgn="base">
              <a:spcBef>
                <a:spcPct val="0"/>
              </a:spcBef>
              <a:spcAft>
                <a:spcPct val="0"/>
              </a:spcAft>
            </a:pPr>
            <a:fld id="{5D85553D-9DDC-46CF-938C-924F600642AC}" type="slidenum">
              <a:rPr lang="en-US" smtClean="0">
                <a:solidFill>
                  <a:prstClr val="white"/>
                </a:solidFill>
                <a:ea typeface="ＭＳ Ｐゴシック" charset="-128"/>
              </a:rPr>
              <a:pPr defTabSz="914400" fontAlgn="base">
                <a:spcBef>
                  <a:spcPct val="0"/>
                </a:spcBef>
                <a:spcAft>
                  <a:spcPct val="0"/>
                </a:spcAft>
              </a:pPr>
              <a:t>‹#›</a:t>
            </a:fld>
            <a:endParaRPr lang="en-US" dirty="0">
              <a:solidFill>
                <a:prstClr val="white"/>
              </a:solidFill>
              <a:ea typeface="ＭＳ Ｐゴシック" charset="-128"/>
            </a:endParaRPr>
          </a:p>
        </p:txBody>
      </p:sp>
    </p:spTree>
    <p:extLst>
      <p:ext uri="{BB962C8B-B14F-4D97-AF65-F5344CB8AC3E}">
        <p14:creationId xmlns:p14="http://schemas.microsoft.com/office/powerpoint/2010/main" val="8002986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pPr defTabSz="914400" fontAlgn="base">
              <a:spcBef>
                <a:spcPct val="0"/>
              </a:spcBef>
              <a:spcAft>
                <a:spcPct val="0"/>
              </a:spcAft>
            </a:pPr>
            <a:fld id="{500BA63B-8498-45D4-A7E8-A53D1B2090D3}" type="datetime1">
              <a:rPr lang="en-US" sz="1600">
                <a:solidFill>
                  <a:srgbClr val="000000"/>
                </a:solidFill>
                <a:ea typeface="ＭＳ Ｐゴシック" charset="-128"/>
              </a:rPr>
              <a:pPr defTabSz="914400" fontAlgn="base">
                <a:spcBef>
                  <a:spcPct val="0"/>
                </a:spcBef>
                <a:spcAft>
                  <a:spcPct val="0"/>
                </a:spcAft>
              </a:pPr>
              <a:t>11/3/25</a:t>
            </a:fld>
            <a:endParaRPr lang="en-US" sz="1600" dirty="0">
              <a:solidFill>
                <a:srgbClr val="000000"/>
              </a:solidFill>
              <a:ea typeface="ＭＳ Ｐゴシック" charset="-128"/>
            </a:endParaRP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pPr defTabSz="914400" fontAlgn="base">
              <a:spcBef>
                <a:spcPct val="0"/>
              </a:spcBef>
              <a:spcAft>
                <a:spcPct val="0"/>
              </a:spcAft>
            </a:pPr>
            <a:endParaRPr lang="en-US" sz="1600" dirty="0">
              <a:solidFill>
                <a:srgbClr val="000000"/>
              </a:solidFill>
              <a:ea typeface="ＭＳ Ｐゴシック" charset="-128"/>
            </a:endParaRPr>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pPr defTabSz="914400" fontAlgn="base">
              <a:spcBef>
                <a:spcPct val="0"/>
              </a:spcBef>
              <a:spcAft>
                <a:spcPct val="0"/>
              </a:spcAft>
            </a:pPr>
            <a:fld id="{A4AD5B7F-6BBB-45FB-9F39-F7EC483808CD}" type="slidenum">
              <a:rPr lang="en-US" sz="1600">
                <a:solidFill>
                  <a:srgbClr val="777263"/>
                </a:solidFill>
                <a:ea typeface="ＭＳ Ｐゴシック" charset="-128"/>
              </a:rPr>
              <a:pPr defTabSz="914400" fontAlgn="base">
                <a:spcBef>
                  <a:spcPct val="0"/>
                </a:spcBef>
                <a:spcAft>
                  <a:spcPct val="0"/>
                </a:spcAft>
              </a:pPr>
              <a:t>‹#›</a:t>
            </a:fld>
            <a:endParaRPr lang="en-US" sz="1600" dirty="0">
              <a:solidFill>
                <a:srgbClr val="777263"/>
              </a:solidFill>
              <a:ea typeface="ＭＳ Ｐゴシック" charset="-128"/>
            </a:endParaRPr>
          </a:p>
        </p:txBody>
      </p:sp>
    </p:spTree>
    <p:extLst>
      <p:ext uri="{BB962C8B-B14F-4D97-AF65-F5344CB8AC3E}">
        <p14:creationId xmlns:p14="http://schemas.microsoft.com/office/powerpoint/2010/main" val="6882976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
            <a:ext cx="8001000" cy="571500"/>
          </a:xfrm>
          <a:prstGeom prst="rect">
            <a:avLst/>
          </a:prstGeom>
        </p:spPr>
        <p:txBody>
          <a:bodyPr/>
          <a:lstStyle>
            <a:lvl1pPr>
              <a:defRPr>
                <a:solidFill>
                  <a:schemeClr val="bg2">
                    <a:lumMod val="50000"/>
                  </a:schemeClr>
                </a:solidFill>
              </a:defRPr>
            </a:lvl1pPr>
          </a:lstStyle>
          <a:p>
            <a:r>
              <a:rPr lang="en-US"/>
              <a:t>Click to edit Master title style</a:t>
            </a:r>
          </a:p>
        </p:txBody>
      </p:sp>
      <p:sp>
        <p:nvSpPr>
          <p:cNvPr id="3" name="Date Placeholder 2"/>
          <p:cNvSpPr>
            <a:spLocks noGrp="1"/>
          </p:cNvSpPr>
          <p:nvPr>
            <p:ph type="dt" sz="half" idx="10"/>
          </p:nvPr>
        </p:nvSpPr>
        <p:spPr>
          <a:xfrm>
            <a:off x="457200" y="4767263"/>
            <a:ext cx="2133600" cy="273844"/>
          </a:xfrm>
          <a:prstGeom prst="rect">
            <a:avLst/>
          </a:prstGeom>
        </p:spPr>
        <p:txBody>
          <a:bodyPr/>
          <a:lstStyle>
            <a:lvl1pPr>
              <a:defRPr>
                <a:solidFill>
                  <a:schemeClr val="bg2">
                    <a:lumMod val="50000"/>
                  </a:schemeClr>
                </a:solidFill>
              </a:defRPr>
            </a:lvl1pPr>
          </a:lstStyle>
          <a:p>
            <a:pPr defTabSz="914400" fontAlgn="base">
              <a:spcBef>
                <a:spcPct val="0"/>
              </a:spcBef>
              <a:spcAft>
                <a:spcPct val="0"/>
              </a:spcAft>
            </a:pPr>
            <a:fld id="{8D44A8EC-8BDB-4DBE-86D0-1D4B322A9180}" type="datetime1">
              <a:rPr lang="en-US" sz="1600" smtClean="0">
                <a:solidFill>
                  <a:srgbClr val="FFFFFF">
                    <a:lumMod val="50000"/>
                  </a:srgbClr>
                </a:solidFill>
                <a:ea typeface="ＭＳ Ｐゴシック" charset="-128"/>
              </a:rPr>
              <a:pPr defTabSz="914400" fontAlgn="base">
                <a:spcBef>
                  <a:spcPct val="0"/>
                </a:spcBef>
                <a:spcAft>
                  <a:spcPct val="0"/>
                </a:spcAft>
              </a:pPr>
              <a:t>11/3/25</a:t>
            </a:fld>
            <a:endParaRPr lang="en-US" sz="1600" dirty="0">
              <a:solidFill>
                <a:srgbClr val="FFFFFF">
                  <a:lumMod val="50000"/>
                </a:srgbClr>
              </a:solidFill>
              <a:ea typeface="ＭＳ Ｐゴシック" charset="-128"/>
            </a:endParaRPr>
          </a:p>
        </p:txBody>
      </p:sp>
      <p:sp>
        <p:nvSpPr>
          <p:cNvPr id="4" name="Footer Placeholder 3"/>
          <p:cNvSpPr>
            <a:spLocks noGrp="1"/>
          </p:cNvSpPr>
          <p:nvPr>
            <p:ph type="ftr" sz="quarter" idx="11"/>
          </p:nvPr>
        </p:nvSpPr>
        <p:spPr>
          <a:xfrm>
            <a:off x="3124200" y="4767263"/>
            <a:ext cx="2895600" cy="273844"/>
          </a:xfrm>
          <a:prstGeom prst="rect">
            <a:avLst/>
          </a:prstGeom>
        </p:spPr>
        <p:txBody>
          <a:bodyPr/>
          <a:lstStyle>
            <a:lvl1pPr>
              <a:defRPr>
                <a:solidFill>
                  <a:schemeClr val="bg2">
                    <a:lumMod val="50000"/>
                  </a:schemeClr>
                </a:solidFill>
              </a:defRPr>
            </a:lvl1pPr>
          </a:lstStyle>
          <a:p>
            <a:pPr defTabSz="914400" fontAlgn="base">
              <a:spcBef>
                <a:spcPct val="0"/>
              </a:spcBef>
              <a:spcAft>
                <a:spcPct val="0"/>
              </a:spcAft>
            </a:pPr>
            <a:endParaRPr lang="en-US" sz="1600" dirty="0">
              <a:solidFill>
                <a:srgbClr val="FFFFFF">
                  <a:lumMod val="50000"/>
                </a:srgbClr>
              </a:solidFill>
              <a:ea typeface="ＭＳ Ｐゴシック" charset="-128"/>
            </a:endParaRPr>
          </a:p>
        </p:txBody>
      </p:sp>
      <p:sp>
        <p:nvSpPr>
          <p:cNvPr id="5" name="Slide Number Placeholder 4"/>
          <p:cNvSpPr>
            <a:spLocks noGrp="1"/>
          </p:cNvSpPr>
          <p:nvPr>
            <p:ph type="sldNum" sz="quarter" idx="12"/>
          </p:nvPr>
        </p:nvSpPr>
        <p:spPr>
          <a:xfrm>
            <a:off x="6553200" y="4767263"/>
            <a:ext cx="2133600" cy="273844"/>
          </a:xfrm>
          <a:prstGeom prst="rect">
            <a:avLst/>
          </a:prstGeom>
        </p:spPr>
        <p:txBody>
          <a:bodyPr/>
          <a:lstStyle>
            <a:lvl1pPr>
              <a:defRPr>
                <a:solidFill>
                  <a:schemeClr val="bg2">
                    <a:lumMod val="50000"/>
                  </a:schemeClr>
                </a:solidFill>
              </a:defRPr>
            </a:lvl1pPr>
          </a:lstStyle>
          <a:p>
            <a:pPr defTabSz="914400" fontAlgn="base">
              <a:spcBef>
                <a:spcPct val="0"/>
              </a:spcBef>
              <a:spcAft>
                <a:spcPct val="0"/>
              </a:spcAft>
            </a:pPr>
            <a:fld id="{ADDE6B4E-B101-4BD3-A6B0-F99EEF6AEB24}" type="slidenum">
              <a:rPr lang="en-US" sz="1600" smtClean="0">
                <a:solidFill>
                  <a:srgbClr val="FFFFFF">
                    <a:lumMod val="50000"/>
                  </a:srgbClr>
                </a:solidFill>
                <a:ea typeface="ＭＳ Ｐゴシック" charset="-128"/>
              </a:rPr>
              <a:pPr defTabSz="914400" fontAlgn="base">
                <a:spcBef>
                  <a:spcPct val="0"/>
                </a:spcBef>
                <a:spcAft>
                  <a:spcPct val="0"/>
                </a:spcAft>
              </a:pPr>
              <a:t>‹#›</a:t>
            </a:fld>
            <a:endParaRPr lang="en-US" sz="1600" dirty="0">
              <a:solidFill>
                <a:srgbClr val="FFFFFF">
                  <a:lumMod val="50000"/>
                </a:srgbClr>
              </a:solidFill>
              <a:ea typeface="ＭＳ Ｐゴシック" charset="-128"/>
            </a:endParaRPr>
          </a:p>
        </p:txBody>
      </p:sp>
    </p:spTree>
    <p:extLst>
      <p:ext uri="{BB962C8B-B14F-4D97-AF65-F5344CB8AC3E}">
        <p14:creationId xmlns:p14="http://schemas.microsoft.com/office/powerpoint/2010/main" val="2901823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p:cNvGrpSpPr/>
          <p:nvPr userDrawn="1"/>
        </p:nvGrpSpPr>
        <p:grpSpPr>
          <a:xfrm>
            <a:off x="1" y="-1"/>
            <a:ext cx="9144001" cy="5143501"/>
            <a:chOff x="0" y="-1"/>
            <a:chExt cx="9144001" cy="6858001"/>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9144000" cy="6858001"/>
            </a:xfrm>
            <a:prstGeom prst="rect">
              <a:avLst/>
            </a:prstGeom>
          </p:spPr>
        </p:pic>
        <p:sp>
          <p:nvSpPr>
            <p:cNvPr id="7" name="Rectangle 6"/>
            <p:cNvSpPr/>
            <p:nvPr userDrawn="1"/>
          </p:nvSpPr>
          <p:spPr>
            <a:xfrm>
              <a:off x="1" y="-1"/>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prstClr val="white"/>
                </a:solidFill>
              </a:endParaRPr>
            </a:p>
          </p:txBody>
        </p:sp>
      </p:grpSp>
      <p:sp>
        <p:nvSpPr>
          <p:cNvPr id="2" name="Date Placeholder 1"/>
          <p:cNvSpPr>
            <a:spLocks noGrp="1"/>
          </p:cNvSpPr>
          <p:nvPr>
            <p:ph type="dt" sz="half" idx="10"/>
          </p:nvPr>
        </p:nvSpPr>
        <p:spPr>
          <a:xfrm>
            <a:off x="457200" y="4767263"/>
            <a:ext cx="2133600" cy="273844"/>
          </a:xfrm>
          <a:prstGeom prst="rect">
            <a:avLst/>
          </a:prstGeom>
        </p:spPr>
        <p:txBody>
          <a:bodyPr/>
          <a:lstStyle/>
          <a:p>
            <a:pPr defTabSz="914400" fontAlgn="base">
              <a:spcBef>
                <a:spcPct val="0"/>
              </a:spcBef>
              <a:spcAft>
                <a:spcPct val="0"/>
              </a:spcAft>
            </a:pPr>
            <a:fld id="{830A0C32-9AFA-4B4B-B845-644142D0C6FE}" type="datetime1">
              <a:rPr lang="en-US" sz="1600">
                <a:solidFill>
                  <a:srgbClr val="000000"/>
                </a:solidFill>
                <a:ea typeface="ＭＳ Ｐゴシック" charset="-128"/>
              </a:rPr>
              <a:pPr defTabSz="914400" fontAlgn="base">
                <a:spcBef>
                  <a:spcPct val="0"/>
                </a:spcBef>
                <a:spcAft>
                  <a:spcPct val="0"/>
                </a:spcAft>
              </a:pPr>
              <a:t>11/3/25</a:t>
            </a:fld>
            <a:endParaRPr lang="en-US" sz="1600" dirty="0">
              <a:solidFill>
                <a:srgbClr val="000000"/>
              </a:solidFill>
              <a:ea typeface="ＭＳ Ｐゴシック" charset="-128"/>
            </a:endParaRPr>
          </a:p>
        </p:txBody>
      </p:sp>
      <p:sp>
        <p:nvSpPr>
          <p:cNvPr id="3" name="Footer Placeholder 2"/>
          <p:cNvSpPr>
            <a:spLocks noGrp="1"/>
          </p:cNvSpPr>
          <p:nvPr>
            <p:ph type="ftr" sz="quarter" idx="11"/>
          </p:nvPr>
        </p:nvSpPr>
        <p:spPr>
          <a:xfrm>
            <a:off x="3124200" y="4767263"/>
            <a:ext cx="2895600" cy="273844"/>
          </a:xfrm>
          <a:prstGeom prst="rect">
            <a:avLst/>
          </a:prstGeom>
        </p:spPr>
        <p:txBody>
          <a:bodyPr/>
          <a:lstStyle/>
          <a:p>
            <a:pPr defTabSz="914400" fontAlgn="base">
              <a:spcBef>
                <a:spcPct val="0"/>
              </a:spcBef>
              <a:spcAft>
                <a:spcPct val="0"/>
              </a:spcAft>
            </a:pPr>
            <a:endParaRPr lang="en-US" sz="1600" dirty="0">
              <a:solidFill>
                <a:srgbClr val="000000"/>
              </a:solidFill>
              <a:ea typeface="ＭＳ Ｐゴシック" charset="-128"/>
            </a:endParaRPr>
          </a:p>
        </p:txBody>
      </p:sp>
      <p:sp>
        <p:nvSpPr>
          <p:cNvPr id="4" name="Slide Number Placeholder 3"/>
          <p:cNvSpPr>
            <a:spLocks noGrp="1"/>
          </p:cNvSpPr>
          <p:nvPr>
            <p:ph type="sldNum" sz="quarter" idx="12"/>
          </p:nvPr>
        </p:nvSpPr>
        <p:spPr>
          <a:xfrm>
            <a:off x="6553200" y="4767263"/>
            <a:ext cx="2133600" cy="273844"/>
          </a:xfrm>
          <a:prstGeom prst="rect">
            <a:avLst/>
          </a:prstGeom>
        </p:spPr>
        <p:txBody>
          <a:bodyPr/>
          <a:lstStyle/>
          <a:p>
            <a:pPr defTabSz="914400" fontAlgn="base">
              <a:spcBef>
                <a:spcPct val="0"/>
              </a:spcBef>
              <a:spcAft>
                <a:spcPct val="0"/>
              </a:spcAft>
            </a:pPr>
            <a:fld id="{1C620129-164C-4CB8-8C3C-339FB0E8EC04}" type="slidenum">
              <a:rPr lang="en-US" sz="1600">
                <a:solidFill>
                  <a:srgbClr val="777263"/>
                </a:solidFill>
                <a:ea typeface="ＭＳ Ｐゴシック" charset="-128"/>
              </a:rPr>
              <a:pPr defTabSz="914400" fontAlgn="base">
                <a:spcBef>
                  <a:spcPct val="0"/>
                </a:spcBef>
                <a:spcAft>
                  <a:spcPct val="0"/>
                </a:spcAft>
              </a:pPr>
              <a:t>‹#›</a:t>
            </a:fld>
            <a:endParaRPr lang="en-US" sz="1600" dirty="0">
              <a:solidFill>
                <a:srgbClr val="777263"/>
              </a:solidFill>
              <a:ea typeface="ＭＳ Ｐゴシック" charset="-128"/>
            </a:endParaRPr>
          </a:p>
        </p:txBody>
      </p:sp>
    </p:spTree>
    <p:extLst>
      <p:ext uri="{BB962C8B-B14F-4D97-AF65-F5344CB8AC3E}">
        <p14:creationId xmlns:p14="http://schemas.microsoft.com/office/powerpoint/2010/main" val="15098171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Rectangle 2"/>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Tree>
    <p:extLst>
      <p:ext uri="{BB962C8B-B14F-4D97-AF65-F5344CB8AC3E}">
        <p14:creationId xmlns:p14="http://schemas.microsoft.com/office/powerpoint/2010/main" val="116892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1.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2.xml"/><Relationship Id="rId5" Type="http://schemas.openxmlformats.org/officeDocument/2006/relationships/slideLayout" Target="../slideLayouts/slideLayout18.xml"/><Relationship Id="rId15" Type="http://schemas.openxmlformats.org/officeDocument/2006/relationships/image" Target="../media/image4.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44436"/>
            <a:ext cx="8229600" cy="469350"/>
          </a:xfrm>
          <a:prstGeom prst="rect">
            <a:avLst/>
          </a:prstGeom>
        </p:spPr>
        <p:txBody>
          <a:bodyPr vert="horz" lIns="91440" tIns="45720" rIns="91440" bIns="45720" rtlCol="0" anchor="t" anchorCtr="0">
            <a:noAutofit/>
          </a:bodyPr>
          <a:lstStyle/>
          <a:p>
            <a:r>
              <a:rPr lang="en-US" dirty="0"/>
              <a:t>CLICK TO EDIT MASTER TITLE STYLE</a:t>
            </a:r>
          </a:p>
        </p:txBody>
      </p:sp>
      <p:sp>
        <p:nvSpPr>
          <p:cNvPr id="3" name="Text Placeholder 2"/>
          <p:cNvSpPr>
            <a:spLocks noGrp="1"/>
          </p:cNvSpPr>
          <p:nvPr>
            <p:ph type="body" idx="1"/>
          </p:nvPr>
        </p:nvSpPr>
        <p:spPr>
          <a:xfrm>
            <a:off x="457200" y="853753"/>
            <a:ext cx="8229600" cy="402427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4"/>
          </p:nvPr>
        </p:nvSpPr>
        <p:spPr>
          <a:xfrm>
            <a:off x="8546409" y="4717168"/>
            <a:ext cx="450271"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0FF5AF83-51D7-42C6-91B5-890B3BC0DD73}" type="slidenum">
              <a:rPr lang="en-US" smtClean="0"/>
              <a:pPr/>
              <a:t>‹#›</a:t>
            </a:fld>
            <a:endParaRPr lang="en-US" dirty="0"/>
          </a:p>
        </p:txBody>
      </p:sp>
    </p:spTree>
    <p:extLst>
      <p:ext uri="{BB962C8B-B14F-4D97-AF65-F5344CB8AC3E}">
        <p14:creationId xmlns:p14="http://schemas.microsoft.com/office/powerpoint/2010/main" val="618017579"/>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0" r:id="rId3"/>
    <p:sldLayoutId id="2147483651" r:id="rId4"/>
    <p:sldLayoutId id="2147483663" r:id="rId5"/>
    <p:sldLayoutId id="2147483660" r:id="rId6"/>
    <p:sldLayoutId id="2147483662" r:id="rId7"/>
    <p:sldLayoutId id="2147483652" r:id="rId8"/>
    <p:sldLayoutId id="2147483654" r:id="rId9"/>
    <p:sldLayoutId id="2147483655" r:id="rId10"/>
    <p:sldLayoutId id="2147483664" r:id="rId11"/>
    <p:sldLayoutId id="2147483702" r:id="rId12"/>
    <p:sldLayoutId id="2147483703" r:id="rId13"/>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457200" rtl="0" eaLnBrk="1" latinLnBrk="0" hangingPunct="1">
        <a:spcBef>
          <a:spcPct val="0"/>
        </a:spcBef>
        <a:buNone/>
        <a:defRPr sz="3000" b="0" kern="1200" cap="all" spc="-150" baseline="0">
          <a:solidFill>
            <a:srgbClr val="404040"/>
          </a:solidFill>
          <a:latin typeface="+mj-lt"/>
          <a:ea typeface="+mj-ea"/>
          <a:cs typeface="News Gothic MT"/>
        </a:defRPr>
      </a:lvl1pPr>
    </p:titleStyle>
    <p:bodyStyle>
      <a:lvl1pPr marL="228600" indent="-228600" algn="l" defTabSz="457200" rtl="0" eaLnBrk="1" latinLnBrk="0" hangingPunct="1">
        <a:spcBef>
          <a:spcPct val="20000"/>
        </a:spcBef>
        <a:buClr>
          <a:srgbClr val="F4B01F"/>
        </a:buClr>
        <a:buFont typeface="Arial"/>
        <a:buChar char="•"/>
        <a:defRPr sz="2200" kern="1200">
          <a:solidFill>
            <a:srgbClr val="404040"/>
          </a:solidFill>
          <a:latin typeface="+mn-lt"/>
          <a:ea typeface="+mn-ea"/>
          <a:cs typeface="Rockwell"/>
        </a:defRPr>
      </a:lvl1pPr>
      <a:lvl2pPr marL="687388" indent="-230188" algn="l" defTabSz="457200" rtl="0" eaLnBrk="1" latinLnBrk="0" hangingPunct="1">
        <a:spcBef>
          <a:spcPct val="20000"/>
        </a:spcBef>
        <a:buClr>
          <a:srgbClr val="F4B01F"/>
        </a:buClr>
        <a:buFont typeface="Arial"/>
        <a:buChar char="–"/>
        <a:defRPr sz="2000" kern="1200">
          <a:solidFill>
            <a:srgbClr val="404040"/>
          </a:solidFill>
          <a:latin typeface="+mn-lt"/>
          <a:ea typeface="+mn-ea"/>
          <a:cs typeface="Rockwell"/>
        </a:defRPr>
      </a:lvl2pPr>
      <a:lvl3pPr marL="1084263" indent="-169863" algn="l" defTabSz="457200" rtl="0" eaLnBrk="1" latinLnBrk="0" hangingPunct="1">
        <a:spcBef>
          <a:spcPct val="20000"/>
        </a:spcBef>
        <a:buClr>
          <a:srgbClr val="F4B01F"/>
        </a:buClr>
        <a:buFont typeface="Arial"/>
        <a:buChar char="•"/>
        <a:defRPr sz="1800" kern="1200">
          <a:solidFill>
            <a:srgbClr val="404040"/>
          </a:solidFill>
          <a:latin typeface="+mn-lt"/>
          <a:ea typeface="+mn-ea"/>
          <a:cs typeface="Rockwell"/>
        </a:defRPr>
      </a:lvl3pPr>
      <a:lvl4pPr marL="1543050" indent="-171450" algn="l" defTabSz="457200" rtl="0" eaLnBrk="1" latinLnBrk="0" hangingPunct="1">
        <a:spcBef>
          <a:spcPct val="20000"/>
        </a:spcBef>
        <a:buClr>
          <a:srgbClr val="F4B01F"/>
        </a:buClr>
        <a:buFont typeface="Arial"/>
        <a:buChar char="–"/>
        <a:defRPr sz="1600" kern="1200">
          <a:solidFill>
            <a:srgbClr val="404040"/>
          </a:solidFill>
          <a:latin typeface="+mn-lt"/>
          <a:ea typeface="+mn-ea"/>
          <a:cs typeface="Rockwell"/>
        </a:defRPr>
      </a:lvl4pPr>
      <a:lvl5pPr marL="2057400" indent="-228600" algn="l" defTabSz="457200" rtl="0" eaLnBrk="1" latinLnBrk="0" hangingPunct="1">
        <a:spcBef>
          <a:spcPct val="20000"/>
        </a:spcBef>
        <a:buFont typeface="Arial"/>
        <a:buChar char="»"/>
        <a:defRPr sz="2000" kern="1200">
          <a:solidFill>
            <a:schemeClr val="tx1"/>
          </a:solidFill>
          <a:latin typeface="Mission Script"/>
          <a:ea typeface="+mn-ea"/>
          <a:cs typeface="Mission Scrip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5" name="Group 8"/>
          <p:cNvGrpSpPr/>
          <p:nvPr userDrawn="1"/>
        </p:nvGrpSpPr>
        <p:grpSpPr>
          <a:xfrm>
            <a:off x="0" y="0"/>
            <a:ext cx="9144000" cy="5143500"/>
            <a:chOff x="0" y="0"/>
            <a:chExt cx="9144000" cy="6858000"/>
          </a:xfrm>
        </p:grpSpPr>
        <p:sp>
          <p:nvSpPr>
            <p:cNvPr id="2" name="Rectangle 1"/>
            <p:cNvSpPr/>
            <p:nvPr userDrawn="1"/>
          </p:nvSpPr>
          <p:spPr bwMode="auto">
            <a:xfrm>
              <a:off x="0" y="0"/>
              <a:ext cx="9144000" cy="6858000"/>
            </a:xfrm>
            <a:prstGeom prst="rect">
              <a:avLst/>
            </a:prstGeom>
            <a:solidFill>
              <a:schemeClr val="bg2">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pPr>
              <a:endParaRPr lang="en-US" sz="1600" dirty="0">
                <a:solidFill>
                  <a:srgbClr val="777263"/>
                </a:solidFill>
                <a:ea typeface="ＭＳ Ｐゴシック" charset="-128"/>
              </a:endParaRPr>
            </a:p>
          </p:txBody>
        </p:sp>
        <p:sp>
          <p:nvSpPr>
            <p:cNvPr id="3" name="Rounded Rectangle 2"/>
            <p:cNvSpPr/>
            <p:nvPr userDrawn="1"/>
          </p:nvSpPr>
          <p:spPr bwMode="auto">
            <a:xfrm>
              <a:off x="228600" y="685800"/>
              <a:ext cx="8686800" cy="5968652"/>
            </a:xfrm>
            <a:prstGeom prst="roundRect">
              <a:avLst>
                <a:gd name="adj" fmla="val 2835"/>
              </a:avLst>
            </a:prstGeom>
            <a:solidFill>
              <a:schemeClr val="bg1"/>
            </a:solidFill>
            <a:ln w="9525" cap="flat" cmpd="sng" algn="ctr">
              <a:noFill/>
              <a:prstDash val="solid"/>
              <a:round/>
              <a:headEnd type="none" w="med" len="med"/>
              <a:tailEnd type="none" w="med" len="med"/>
            </a:ln>
            <a:effectLst>
              <a:innerShdw blurRad="63500" dist="50800" dir="13500000">
                <a:prstClr val="black">
                  <a:alpha val="13000"/>
                </a:prstClr>
              </a:innerShdw>
            </a:effectLst>
          </p:spPr>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pPr>
              <a:endParaRPr lang="en-US" sz="1600" dirty="0">
                <a:solidFill>
                  <a:srgbClr val="777263"/>
                </a:solidFill>
                <a:ea typeface="ＭＳ Ｐゴシック" charset="-128"/>
              </a:endParaRPr>
            </a:p>
          </p:txBody>
        </p:sp>
        <p:sp>
          <p:nvSpPr>
            <p:cNvPr id="8" name="Rounded Rectangle 7"/>
            <p:cNvSpPr/>
            <p:nvPr userDrawn="1"/>
          </p:nvSpPr>
          <p:spPr>
            <a:xfrm>
              <a:off x="6436425" y="177453"/>
              <a:ext cx="2478975" cy="525172"/>
            </a:xfrm>
            <a:prstGeom prst="round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pic>
          <p:nvPicPr>
            <p:cNvPr id="4" name="Picture 3" descr="Communispace_4-color_White.png"/>
            <p:cNvPicPr>
              <a:picLocks noChangeAspect="1"/>
            </p:cNvPicPr>
            <p:nvPr userDrawn="1"/>
          </p:nvPicPr>
          <p:blipFill>
            <a:blip r:embed="rId12" cstate="email">
              <a:extLst>
                <a:ext uri="{28A0092B-C50C-407E-A947-70E740481C1C}">
                  <a14:useLocalDpi xmlns:a14="http://schemas.microsoft.com/office/drawing/2010/main"/>
                </a:ext>
              </a:extLst>
            </a:blip>
            <a:srcRect/>
            <a:stretch>
              <a:fillRect/>
            </a:stretch>
          </p:blipFill>
          <p:spPr>
            <a:xfrm>
              <a:off x="6160619" y="990600"/>
              <a:ext cx="1958038" cy="284440"/>
            </a:xfrm>
            <a:prstGeom prst="rect">
              <a:avLst/>
            </a:prstGeom>
          </p:spPr>
        </p:pic>
        <p:sp>
          <p:nvSpPr>
            <p:cNvPr id="6" name="Round Same Side Corner Rectangle 5"/>
            <p:cNvSpPr/>
            <p:nvPr userDrawn="1"/>
          </p:nvSpPr>
          <p:spPr bwMode="auto">
            <a:xfrm>
              <a:off x="228600" y="225491"/>
              <a:ext cx="6207825" cy="612709"/>
            </a:xfrm>
            <a:prstGeom prst="round2SameRect">
              <a:avLst/>
            </a:prstGeom>
            <a:solidFill>
              <a:schemeClr val="bg1"/>
            </a:solidFill>
            <a:ln w="9525" cap="flat" cmpd="sng" algn="ctr">
              <a:noFill/>
              <a:prstDash val="solid"/>
              <a:round/>
              <a:headEnd type="none" w="med" len="med"/>
              <a:tailEnd type="none" w="med" len="med"/>
            </a:ln>
            <a:effectLst>
              <a:innerShdw blurRad="63500" dist="50800" dir="13500000">
                <a:prstClr val="black">
                  <a:alpha val="13000"/>
                </a:prstClr>
              </a:innerShdw>
            </a:effectLst>
          </p:spPr>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pPr>
              <a:endParaRPr lang="en-US" sz="1600" dirty="0">
                <a:solidFill>
                  <a:srgbClr val="777263"/>
                </a:solidFill>
                <a:ea typeface="ＭＳ Ｐゴシック" charset="-128"/>
              </a:endParaRPr>
            </a:p>
          </p:txBody>
        </p:sp>
      </p:grpSp>
      <p:pic>
        <p:nvPicPr>
          <p:cNvPr id="10" name="Picture 9" descr="Scholastic logo_whitetext.png"/>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5181600" y="1143001"/>
            <a:ext cx="1958038" cy="96962"/>
          </a:xfrm>
          <a:prstGeom prst="rect">
            <a:avLst/>
          </a:prstGeom>
        </p:spPr>
      </p:pic>
      <p:pic>
        <p:nvPicPr>
          <p:cNvPr id="11" name="Picture 10" descr="scholastic_communispace.png"/>
          <p:cNvPicPr>
            <a:picLocks noChangeAspect="1"/>
          </p:cNvPicPr>
          <p:nvPr userDrawn="1"/>
        </p:nvPicPr>
        <p:blipFill rotWithShape="1">
          <a:blip r:embed="rId14" cstate="email">
            <a:extLst>
              <a:ext uri="{28A0092B-C50C-407E-A947-70E740481C1C}">
                <a14:useLocalDpi xmlns:a14="http://schemas.microsoft.com/office/drawing/2010/main"/>
              </a:ext>
            </a:extLst>
          </a:blip>
          <a:srcRect/>
          <a:stretch/>
        </p:blipFill>
        <p:spPr>
          <a:xfrm>
            <a:off x="7495895" y="249192"/>
            <a:ext cx="1358143" cy="265158"/>
          </a:xfrm>
          <a:prstGeom prst="rect">
            <a:avLst/>
          </a:prstGeom>
        </p:spPr>
      </p:pic>
      <p:pic>
        <p:nvPicPr>
          <p:cNvPr id="12" name="Picture 11" descr="scholastic_communispace.png"/>
          <p:cNvPicPr>
            <a:picLocks noChangeAspect="1"/>
          </p:cNvPicPr>
          <p:nvPr userDrawn="1"/>
        </p:nvPicPr>
        <p:blipFill rotWithShape="1">
          <a:blip r:embed="rId15" cstate="email">
            <a:extLst>
              <a:ext uri="{28A0092B-C50C-407E-A947-70E740481C1C}">
                <a14:useLocalDpi xmlns:a14="http://schemas.microsoft.com/office/drawing/2010/main"/>
              </a:ext>
            </a:extLst>
          </a:blip>
          <a:srcRect/>
          <a:stretch/>
        </p:blipFill>
        <p:spPr>
          <a:xfrm>
            <a:off x="6629400" y="95572"/>
            <a:ext cx="1545566" cy="246827"/>
          </a:xfrm>
          <a:prstGeom prst="rect">
            <a:avLst/>
          </a:prstGeom>
        </p:spPr>
      </p:pic>
    </p:spTree>
    <p:extLst>
      <p:ext uri="{BB962C8B-B14F-4D97-AF65-F5344CB8AC3E}">
        <p14:creationId xmlns:p14="http://schemas.microsoft.com/office/powerpoint/2010/main" val="1866619641"/>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Lst>
  <p:hf hdr="0" ftr="0" dt="0"/>
  <p:txStyles>
    <p:titleStyle>
      <a:lvl1pPr algn="l" defTabSz="914400" rtl="0" eaLnBrk="1" latinLnBrk="0" hangingPunct="1">
        <a:spcBef>
          <a:spcPct val="0"/>
        </a:spcBef>
        <a:buNone/>
        <a:defRPr sz="2400" b="1" kern="1200">
          <a:solidFill>
            <a:schemeClr val="tx2"/>
          </a:solidFill>
          <a:latin typeface="+mj-lt"/>
          <a:ea typeface="+mj-ea"/>
          <a:cs typeface="Gotham Medium" pitchFamily="50" charset="0"/>
        </a:defRPr>
      </a:lvl1pPr>
    </p:titleStyle>
    <p:bodyStyle>
      <a:lvl1pPr marL="225425" indent="-225425" algn="l" defTabSz="914400" rtl="0" eaLnBrk="1" latinLnBrk="0" hangingPunct="1">
        <a:spcBef>
          <a:spcPct val="20000"/>
        </a:spcBef>
        <a:buClr>
          <a:schemeClr val="accent2"/>
        </a:buClr>
        <a:buFont typeface="Arial" pitchFamily="34" charset="0"/>
        <a:buChar char="•"/>
        <a:defRPr sz="2000" kern="1200">
          <a:solidFill>
            <a:schemeClr val="tx2"/>
          </a:solidFill>
          <a:latin typeface="+mj-lt"/>
          <a:ea typeface="+mn-ea"/>
          <a:cs typeface="+mn-cs"/>
        </a:defRPr>
      </a:lvl1pPr>
      <a:lvl2pPr marL="742950" indent="-285750" algn="l" defTabSz="914400" rtl="0" eaLnBrk="1" latinLnBrk="0" hangingPunct="1">
        <a:spcBef>
          <a:spcPct val="20000"/>
        </a:spcBef>
        <a:buClr>
          <a:schemeClr val="accent2"/>
        </a:buClr>
        <a:buFont typeface="Arial" pitchFamily="34" charset="0"/>
        <a:buChar char="–"/>
        <a:defRPr sz="1800" kern="1200">
          <a:solidFill>
            <a:schemeClr val="tx2"/>
          </a:solidFill>
          <a:latin typeface="+mj-lt"/>
          <a:ea typeface="+mn-ea"/>
          <a:cs typeface="+mn-cs"/>
        </a:defRPr>
      </a:lvl2pPr>
      <a:lvl3pPr marL="1143000" indent="-228600" algn="l" defTabSz="914400" rtl="0" eaLnBrk="1" latinLnBrk="0" hangingPunct="1">
        <a:spcBef>
          <a:spcPct val="20000"/>
        </a:spcBef>
        <a:buClr>
          <a:schemeClr val="accent2"/>
        </a:buClr>
        <a:buFont typeface="Arial" pitchFamily="34" charset="0"/>
        <a:buChar char="•"/>
        <a:defRPr sz="1600" kern="1200">
          <a:solidFill>
            <a:schemeClr val="tx2"/>
          </a:solidFill>
          <a:latin typeface="+mj-lt"/>
          <a:ea typeface="+mn-ea"/>
          <a:cs typeface="+mn-cs"/>
        </a:defRPr>
      </a:lvl3pPr>
      <a:lvl4pPr marL="1600200" indent="-228600" algn="l" defTabSz="914400" rtl="0" eaLnBrk="1" latinLnBrk="0" hangingPunct="1">
        <a:spcBef>
          <a:spcPct val="20000"/>
        </a:spcBef>
        <a:buClr>
          <a:schemeClr val="accent2"/>
        </a:buClr>
        <a:buFont typeface="Arial" pitchFamily="34" charset="0"/>
        <a:buChar char="–"/>
        <a:defRPr sz="1400" kern="1200">
          <a:solidFill>
            <a:schemeClr val="tx2"/>
          </a:solidFill>
          <a:latin typeface="+mj-lt"/>
          <a:ea typeface="+mn-ea"/>
          <a:cs typeface="+mn-cs"/>
        </a:defRPr>
      </a:lvl4pPr>
      <a:lvl5pPr marL="2003425" indent="-174625" algn="l" defTabSz="914400" rtl="0" eaLnBrk="1" latinLnBrk="0" hangingPunct="1">
        <a:spcBef>
          <a:spcPct val="20000"/>
        </a:spcBef>
        <a:buClr>
          <a:schemeClr val="accent2"/>
        </a:buClr>
        <a:buFont typeface="Arial" pitchFamily="34" charset="0"/>
        <a:buChar char="•"/>
        <a:defRPr sz="1200" kern="1200">
          <a:solidFill>
            <a:schemeClr val="tx2"/>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ivellissemmorales/" TargetMode="External"/><Relationship Id="rId7" Type="http://schemas.openxmlformats.org/officeDocument/2006/relationships/hyperlink" Target="https://www.linkedin.com/in/teddillon/"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hyperlink" Target="https://www.linkedin.com/in/gastonbecherano/overlay/about-this-profile/"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8" Type="http://schemas.openxmlformats.org/officeDocument/2006/relationships/hyperlink" Target="https://www.ted.com/talks/susan_cain_the_power_of_introverts?language=en" TargetMode="External"/><Relationship Id="rId3" Type="http://schemas.openxmlformats.org/officeDocument/2006/relationships/hyperlink" Target="https://www.fastcompany.com/3057750/how-to-be-a-success-at-everything/setting-goals-might-be-preventing-you-from-actually-changi" TargetMode="External"/><Relationship Id="rId7" Type="http://schemas.openxmlformats.org/officeDocument/2006/relationships/hyperlink" Target="https://hbsp.harvard.edu/inspiring-minds/3-ways-women-of-color-can-stand-up-against-bias-in-academia?cid=email%7Cmarketo%7C2022-11-08-the-faculty-lounge%7C1225853%7Cfaculty-lounge-newsletter%7Csl-8-strategies%7Cbottom-button%7Cnov2022&amp;acctID=8377688&amp;mkt_tok=ODU1LUFUWi0yOTQAAAGH9hi-BNS97J2iuJPfv0OBz0HYrMuE_E955r4DNQ_SpJjE1cU-fiL1BBkDeDQLgKbYO0xUNwYcitsCXfwSDZiIGM_qhGHOJBgUxPYvTcDo1w" TargetMode="External"/><Relationship Id="rId2" Type="http://schemas.openxmlformats.org/officeDocument/2006/relationships/notesSlide" Target="../notesSlides/notesSlide27.xml"/><Relationship Id="rId1" Type="http://schemas.openxmlformats.org/officeDocument/2006/relationships/slideLayout" Target="../slideLayouts/slideLayout11.xml"/><Relationship Id="rId6" Type="http://schemas.openxmlformats.org/officeDocument/2006/relationships/hyperlink" Target="https://www.ted.com/talks/john_doerr_why_the_secret_to_success_is_setting_the_right_goals" TargetMode="External"/><Relationship Id="rId5" Type="http://schemas.openxmlformats.org/officeDocument/2006/relationships/hyperlink" Target="https://hbr.org/2016/12/stop-setting-goals-you-dont-actually-care-about" TargetMode="External"/><Relationship Id="rId4" Type="http://schemas.openxmlformats.org/officeDocument/2006/relationships/hyperlink" Target="https://www.fastcompany.com/3057750/setting-goals-might-be-preventing-you-from-actually-changi"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5284800" y="2943299"/>
            <a:ext cx="3866400" cy="466579"/>
          </a:xfrm>
        </p:spPr>
        <p:txBody>
          <a:bodyPr>
            <a:noAutofit/>
          </a:bodyPr>
          <a:lstStyle/>
          <a:p>
            <a:pPr>
              <a:lnSpc>
                <a:spcPct val="90000"/>
              </a:lnSpc>
            </a:pPr>
            <a:r>
              <a:rPr lang="en-US" sz="2800" b="1" cap="none" dirty="0">
                <a:latin typeface="Calibri" charset="0"/>
                <a:ea typeface="Calibri" charset="0"/>
                <a:cs typeface="Calibri" charset="0"/>
              </a:rPr>
              <a:t>Entrepreneurial Leadership</a:t>
            </a:r>
            <a:br>
              <a:rPr lang="en-US" sz="2800" b="1" cap="none" dirty="0">
                <a:latin typeface="Calibri" charset="0"/>
                <a:ea typeface="Calibri" charset="0"/>
                <a:cs typeface="Calibri" charset="0"/>
              </a:rPr>
            </a:br>
            <a:r>
              <a:rPr lang="en-US" sz="1800" b="1" cap="none" dirty="0">
                <a:latin typeface="Calibri" charset="0"/>
                <a:ea typeface="Calibri" charset="0"/>
                <a:cs typeface="Calibri" charset="0"/>
              </a:rPr>
              <a:t>ENT 107</a:t>
            </a:r>
            <a:r>
              <a:rPr lang="en-US" sz="2400" cap="none" dirty="0">
                <a:latin typeface="Calibri" charset="0"/>
                <a:ea typeface="Calibri" charset="0"/>
                <a:cs typeface="Calibri" charset="0"/>
              </a:rPr>
              <a:t> </a:t>
            </a:r>
            <a:r>
              <a:rPr lang="en-US" sz="1800" cap="none" dirty="0">
                <a:latin typeface="Calibri" charset="0"/>
                <a:ea typeface="Calibri" charset="0"/>
                <a:cs typeface="Calibri" charset="0"/>
              </a:rPr>
              <a:t>Fall 2025  -TUESDAY</a:t>
            </a:r>
            <a:br>
              <a:rPr lang="en-US" sz="1800" cap="none" dirty="0">
                <a:latin typeface="Calibri" charset="0"/>
                <a:ea typeface="Calibri" charset="0"/>
                <a:cs typeface="Calibri" charset="0"/>
              </a:rPr>
            </a:br>
            <a:r>
              <a:rPr lang="en-US" sz="1800" cap="none" dirty="0">
                <a:latin typeface="Calibri" charset="0"/>
                <a:ea typeface="Calibri" charset="0"/>
                <a:cs typeface="Calibri" charset="0"/>
              </a:rPr>
              <a:t>Class 10</a:t>
            </a:r>
            <a:br>
              <a:rPr lang="en-US" sz="2400" dirty="0">
                <a:latin typeface="Calibri" charset="0"/>
                <a:ea typeface="Calibri" charset="0"/>
                <a:cs typeface="Calibri" charset="0"/>
              </a:rPr>
            </a:br>
            <a:endParaRPr lang="en-US" sz="2400" cap="none" dirty="0">
              <a:latin typeface="Calibri" charset="0"/>
              <a:ea typeface="Calibri" charset="0"/>
              <a:cs typeface="Calibri" charset="0"/>
            </a:endParaRPr>
          </a:p>
        </p:txBody>
      </p:sp>
    </p:spTree>
    <p:extLst>
      <p:ext uri="{BB962C8B-B14F-4D97-AF65-F5344CB8AC3E}">
        <p14:creationId xmlns:p14="http://schemas.microsoft.com/office/powerpoint/2010/main" val="3561020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FD7D1C7-E2F3-E150-C91D-7A3434771A45}"/>
              </a:ext>
            </a:extLst>
          </p:cNvPr>
          <p:cNvSpPr txBox="1"/>
          <p:nvPr/>
        </p:nvSpPr>
        <p:spPr>
          <a:xfrm>
            <a:off x="350588" y="274320"/>
            <a:ext cx="8580948" cy="523220"/>
          </a:xfrm>
          <a:prstGeom prst="rect">
            <a:avLst/>
          </a:prstGeom>
          <a:noFill/>
        </p:spPr>
        <p:txBody>
          <a:bodyPr wrap="square" rtlCol="0">
            <a:spAutoFit/>
          </a:bodyPr>
          <a:lstStyle/>
          <a:p>
            <a:pPr algn="ctr"/>
            <a:r>
              <a:rPr lang="en-US" sz="2800" b="1" dirty="0">
                <a:latin typeface="Calibri" panose="020F0502020204030204" pitchFamily="34" charset="0"/>
                <a:cs typeface="Calibri" panose="020F0502020204030204" pitchFamily="34" charset="0"/>
              </a:rPr>
              <a:t>ENT 107 Fall 2025 – Guest Speaker Line-up</a:t>
            </a:r>
            <a:endParaRPr lang="en-US" sz="2800" b="1" i="1"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C554433-E2BB-35B7-E3B4-A2EABB8A7EC7}"/>
              </a:ext>
            </a:extLst>
          </p:cNvPr>
          <p:cNvSpPr txBox="1"/>
          <p:nvPr/>
        </p:nvSpPr>
        <p:spPr>
          <a:xfrm>
            <a:off x="2751484" y="1468256"/>
            <a:ext cx="2495556" cy="730969"/>
          </a:xfrm>
          <a:prstGeom prst="rect">
            <a:avLst/>
          </a:prstGeom>
          <a:noFill/>
        </p:spPr>
        <p:txBody>
          <a:bodyPr wrap="square" rtlCol="0">
            <a:spAutoFit/>
          </a:bodyPr>
          <a:lstStyle/>
          <a:p>
            <a:r>
              <a:rPr lang="en-US" sz="1400" b="1" i="0" u="sng" dirty="0">
                <a:effectLst/>
                <a:latin typeface="var(--artdeco-reset-typography-font-family-sans)"/>
                <a:hlinkClick r:id="rId3"/>
              </a:rPr>
              <a:t>Ivi Morales</a:t>
            </a:r>
            <a:endParaRPr lang="en-US" sz="1400" b="1" i="0" u="sng" dirty="0">
              <a:effectLst/>
              <a:latin typeface="var(--artdeco-reset-typography-font-family-sans)"/>
              <a:hlinkClick r:id="rId4"/>
            </a:endParaRPr>
          </a:p>
          <a:p>
            <a:r>
              <a:rPr lang="en-US" sz="1350" dirty="0">
                <a:latin typeface="Calibri" panose="020F0502020204030204" pitchFamily="34" charset="0"/>
                <a:cs typeface="Calibri" panose="020F0502020204030204" pitchFamily="34" charset="0"/>
              </a:rPr>
              <a:t>bombilla</a:t>
            </a:r>
          </a:p>
          <a:p>
            <a:r>
              <a:rPr lang="en-US" sz="1350" dirty="0">
                <a:latin typeface="Calibri" panose="020F0502020204030204" pitchFamily="34" charset="0"/>
                <a:cs typeface="Calibri" panose="020F0502020204030204" pitchFamily="34" charset="0"/>
              </a:rPr>
              <a:t>Tuesday, October 28</a:t>
            </a:r>
          </a:p>
        </p:txBody>
      </p:sp>
      <p:pic>
        <p:nvPicPr>
          <p:cNvPr id="1028" name="Picture 4" descr="Profile photo of Ivellisse Morales">
            <a:extLst>
              <a:ext uri="{FF2B5EF4-FFF2-40B4-BE49-F238E27FC236}">
                <a16:creationId xmlns:a16="http://schemas.microsoft.com/office/drawing/2014/main" id="{5D626120-8865-1114-7D5A-7506FC51DF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083" y="1046630"/>
            <a:ext cx="1574223" cy="157422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rofile photo of Ted Dillon">
            <a:extLst>
              <a:ext uri="{FF2B5EF4-FFF2-40B4-BE49-F238E27FC236}">
                <a16:creationId xmlns:a16="http://schemas.microsoft.com/office/drawing/2014/main" id="{723850D4-9F7E-A37E-9304-A1BBAA20F9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7407" y="1046630"/>
            <a:ext cx="1482783" cy="148278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63E24AA-1D5B-2CF2-87F7-DF7EF17C2A7C}"/>
              </a:ext>
            </a:extLst>
          </p:cNvPr>
          <p:cNvSpPr txBox="1"/>
          <p:nvPr/>
        </p:nvSpPr>
        <p:spPr>
          <a:xfrm>
            <a:off x="6735482" y="1422536"/>
            <a:ext cx="3112820" cy="730969"/>
          </a:xfrm>
          <a:prstGeom prst="rect">
            <a:avLst/>
          </a:prstGeom>
          <a:noFill/>
        </p:spPr>
        <p:txBody>
          <a:bodyPr wrap="square" rtlCol="0">
            <a:spAutoFit/>
          </a:bodyPr>
          <a:lstStyle/>
          <a:p>
            <a:r>
              <a:rPr lang="en-US" sz="1400" b="1" u="sng" dirty="0">
                <a:latin typeface="var(--artdeco-reset-typography-font-family-sans)"/>
                <a:hlinkClick r:id="rId7"/>
              </a:rPr>
              <a:t>Ted Dillon</a:t>
            </a:r>
            <a:endParaRPr lang="en-US" sz="1400" b="1" i="0" u="sng" dirty="0">
              <a:effectLst/>
              <a:latin typeface="var(--artdeco-reset-typography-font-family-sans)"/>
              <a:hlinkClick r:id="rId4"/>
            </a:endParaRPr>
          </a:p>
          <a:p>
            <a:r>
              <a:rPr lang="en-US" sz="1350" dirty="0">
                <a:latin typeface="Calibri" panose="020F0502020204030204" pitchFamily="34" charset="0"/>
                <a:cs typeface="Calibri" panose="020F0502020204030204" pitchFamily="34" charset="0"/>
              </a:rPr>
              <a:t>Clean Energy Ventures</a:t>
            </a:r>
          </a:p>
          <a:p>
            <a:r>
              <a:rPr lang="en-US" sz="1350" dirty="0">
                <a:latin typeface="Calibri" panose="020F0502020204030204" pitchFamily="34" charset="0"/>
                <a:cs typeface="Calibri" panose="020F0502020204030204" pitchFamily="34" charset="0"/>
              </a:rPr>
              <a:t>Tuesday, November 28</a:t>
            </a:r>
          </a:p>
        </p:txBody>
      </p:sp>
    </p:spTree>
    <p:extLst>
      <p:ext uri="{BB962C8B-B14F-4D97-AF65-F5344CB8AC3E}">
        <p14:creationId xmlns:p14="http://schemas.microsoft.com/office/powerpoint/2010/main" val="1229308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p:cNvSpPr txBox="1">
            <a:spLocks/>
          </p:cNvSpPr>
          <p:nvPr/>
        </p:nvSpPr>
        <p:spPr>
          <a:xfrm>
            <a:off x="965340" y="377913"/>
            <a:ext cx="7062264" cy="46935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r>
              <a:rPr lang="en-US" sz="3200" cap="none" dirty="0">
                <a:latin typeface="Calibri" charset="0"/>
                <a:ea typeface="Calibri" charset="0"/>
                <a:cs typeface="Calibri" charset="0"/>
              </a:rPr>
              <a:t>Our plan for today</a:t>
            </a:r>
          </a:p>
        </p:txBody>
      </p:sp>
      <p:sp>
        <p:nvSpPr>
          <p:cNvPr id="13" name="Round Same Side Corner Rectangle 12"/>
          <p:cNvSpPr/>
          <p:nvPr/>
        </p:nvSpPr>
        <p:spPr>
          <a:xfrm>
            <a:off x="6080885" y="2468069"/>
            <a:ext cx="1905020" cy="2675426"/>
          </a:xfrm>
          <a:prstGeom prst="round2SameRect">
            <a:avLst>
              <a:gd name="adj1" fmla="val 0"/>
              <a:gd name="adj2" fmla="val 0"/>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Title 2"/>
          <p:cNvSpPr txBox="1">
            <a:spLocks/>
          </p:cNvSpPr>
          <p:nvPr/>
        </p:nvSpPr>
        <p:spPr>
          <a:xfrm>
            <a:off x="6104717" y="2468069"/>
            <a:ext cx="1974504" cy="2071841"/>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endParaRPr lang="en-US" sz="1800" b="1" cap="none" dirty="0">
              <a:solidFill>
                <a:schemeClr val="bg1"/>
              </a:solidFill>
              <a:latin typeface="Calibri" charset="0"/>
              <a:ea typeface="Calibri" charset="0"/>
              <a:cs typeface="Calibri" charset="0"/>
            </a:endParaRPr>
          </a:p>
          <a:p>
            <a:pPr algn="ctr"/>
            <a:r>
              <a:rPr lang="en-US" sz="1800" b="1" cap="none" dirty="0">
                <a:solidFill>
                  <a:schemeClr val="bg1"/>
                </a:solidFill>
                <a:latin typeface="Calibri" charset="0"/>
                <a:ea typeface="Calibri" charset="0"/>
                <a:cs typeface="Calibri" charset="0"/>
              </a:rPr>
              <a:t>ON DECK – </a:t>
            </a:r>
          </a:p>
          <a:p>
            <a:pPr algn="ctr"/>
            <a:r>
              <a:rPr lang="en-US" sz="1800" b="1" cap="none" dirty="0">
                <a:solidFill>
                  <a:schemeClr val="bg1"/>
                </a:solidFill>
                <a:latin typeface="Calibri" charset="0"/>
                <a:ea typeface="Calibri" charset="0"/>
                <a:cs typeface="Calibri" charset="0"/>
              </a:rPr>
              <a:t>Assignments and </a:t>
            </a:r>
          </a:p>
          <a:p>
            <a:pPr algn="ctr"/>
            <a:r>
              <a:rPr lang="en-US" sz="1800" b="1" cap="none" dirty="0">
                <a:solidFill>
                  <a:schemeClr val="bg1"/>
                </a:solidFill>
                <a:latin typeface="Calibri" charset="0"/>
                <a:ea typeface="Calibri" charset="0"/>
                <a:cs typeface="Calibri" charset="0"/>
              </a:rPr>
              <a:t>next class </a:t>
            </a:r>
          </a:p>
          <a:p>
            <a:pPr algn="ctr"/>
            <a:endParaRPr lang="en-US" sz="1800" b="1" cap="none" dirty="0">
              <a:solidFill>
                <a:schemeClr val="bg1"/>
              </a:solidFill>
              <a:latin typeface="Calibri" charset="0"/>
              <a:ea typeface="Calibri" charset="0"/>
              <a:cs typeface="Calibri" charset="0"/>
            </a:endParaRPr>
          </a:p>
          <a:p>
            <a:pPr algn="ctr"/>
            <a:endParaRPr lang="en-US" sz="1800" b="1" cap="none" dirty="0">
              <a:solidFill>
                <a:schemeClr val="bg1"/>
              </a:solidFill>
              <a:latin typeface="Calibri" charset="0"/>
              <a:ea typeface="Calibri" charset="0"/>
              <a:cs typeface="Calibri" charset="0"/>
            </a:endParaRPr>
          </a:p>
        </p:txBody>
      </p:sp>
      <p:sp>
        <p:nvSpPr>
          <p:cNvPr id="10" name="Rectangle 9">
            <a:extLst>
              <a:ext uri="{FF2B5EF4-FFF2-40B4-BE49-F238E27FC236}">
                <a16:creationId xmlns:a16="http://schemas.microsoft.com/office/drawing/2014/main" id="{83735E86-EF82-324A-B694-CF8F7E8613EE}"/>
              </a:ext>
            </a:extLst>
          </p:cNvPr>
          <p:cNvSpPr/>
          <p:nvPr/>
        </p:nvSpPr>
        <p:spPr>
          <a:xfrm rot="10800000" flipH="1">
            <a:off x="3601098" y="2468075"/>
            <a:ext cx="1905020" cy="267542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Title 2">
            <a:extLst>
              <a:ext uri="{FF2B5EF4-FFF2-40B4-BE49-F238E27FC236}">
                <a16:creationId xmlns:a16="http://schemas.microsoft.com/office/drawing/2014/main" id="{8E32E0E0-4935-734A-ACDB-CA5EF965E87E}"/>
              </a:ext>
            </a:extLst>
          </p:cNvPr>
          <p:cNvSpPr txBox="1">
            <a:spLocks/>
          </p:cNvSpPr>
          <p:nvPr/>
        </p:nvSpPr>
        <p:spPr>
          <a:xfrm>
            <a:off x="3601097" y="2468070"/>
            <a:ext cx="1905021" cy="207184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r>
              <a:rPr lang="en-US" sz="1800" b="1" cap="none" dirty="0">
                <a:solidFill>
                  <a:schemeClr val="bg1"/>
                </a:solidFill>
                <a:latin typeface="Calibri" charset="0"/>
                <a:ea typeface="Calibri" charset="0"/>
                <a:cs typeface="Calibri" charset="0"/>
              </a:rPr>
              <a:t>MANAGING CONFLICT</a:t>
            </a:r>
          </a:p>
        </p:txBody>
      </p:sp>
      <p:sp>
        <p:nvSpPr>
          <p:cNvPr id="2" name="Rectangle 1">
            <a:extLst>
              <a:ext uri="{FF2B5EF4-FFF2-40B4-BE49-F238E27FC236}">
                <a16:creationId xmlns:a16="http://schemas.microsoft.com/office/drawing/2014/main" id="{E7978657-B48C-D1EA-213D-14E05825A608}"/>
              </a:ext>
            </a:extLst>
          </p:cNvPr>
          <p:cNvSpPr/>
          <p:nvPr/>
        </p:nvSpPr>
        <p:spPr>
          <a:xfrm rot="10800000" flipH="1">
            <a:off x="1171426" y="2468075"/>
            <a:ext cx="1905020" cy="2675425"/>
          </a:xfrm>
          <a:prstGeom prst="rect">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F99D243B-BA1D-5667-7A70-6B396C8E0FA9}"/>
              </a:ext>
            </a:extLst>
          </p:cNvPr>
          <p:cNvSpPr txBox="1">
            <a:spLocks/>
          </p:cNvSpPr>
          <p:nvPr/>
        </p:nvSpPr>
        <p:spPr>
          <a:xfrm>
            <a:off x="1171424" y="2468081"/>
            <a:ext cx="1905021" cy="207184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r>
              <a:rPr lang="en-US" sz="1800" b="1" cap="none" dirty="0">
                <a:solidFill>
                  <a:schemeClr val="bg1"/>
                </a:solidFill>
                <a:latin typeface="Calibri" charset="0"/>
                <a:ea typeface="Calibri" charset="0"/>
                <a:cs typeface="Calibri" charset="0"/>
              </a:rPr>
              <a:t>GIVING </a:t>
            </a:r>
          </a:p>
          <a:p>
            <a:pPr algn="ctr"/>
            <a:r>
              <a:rPr lang="en-US" sz="1800" b="1" cap="none" dirty="0">
                <a:solidFill>
                  <a:schemeClr val="bg1"/>
                </a:solidFill>
                <a:latin typeface="Calibri" charset="0"/>
                <a:ea typeface="Calibri" charset="0"/>
                <a:cs typeface="Calibri" charset="0"/>
              </a:rPr>
              <a:t>FEEDBACK </a:t>
            </a:r>
          </a:p>
        </p:txBody>
      </p:sp>
    </p:spTree>
    <p:extLst>
      <p:ext uri="{BB962C8B-B14F-4D97-AF65-F5344CB8AC3E}">
        <p14:creationId xmlns:p14="http://schemas.microsoft.com/office/powerpoint/2010/main" val="4856611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2"/>
          <p:cNvSpPr txBox="1">
            <a:spLocks/>
          </p:cNvSpPr>
          <p:nvPr/>
        </p:nvSpPr>
        <p:spPr>
          <a:xfrm>
            <a:off x="1" y="3318948"/>
            <a:ext cx="9144000" cy="46935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r>
              <a:rPr lang="en-US" sz="5400" b="1" cap="none" dirty="0">
                <a:solidFill>
                  <a:schemeClr val="bg1"/>
                </a:solidFill>
                <a:latin typeface="Calibri" charset="0"/>
                <a:ea typeface="Calibri" charset="0"/>
                <a:cs typeface="Calibri" charset="0"/>
              </a:rPr>
              <a:t>GIVING FEEDBACK </a:t>
            </a:r>
            <a:endParaRPr lang="en-US" sz="2800" b="1" cap="none" dirty="0">
              <a:solidFill>
                <a:schemeClr val="bg1"/>
              </a:solidFill>
              <a:latin typeface="Calibri" charset="0"/>
              <a:ea typeface="Calibri" charset="0"/>
              <a:cs typeface="Calibri" charset="0"/>
            </a:endParaRPr>
          </a:p>
          <a:p>
            <a:pPr algn="ctr"/>
            <a:endParaRPr lang="en-US" sz="2800" b="1" cap="none" dirty="0">
              <a:solidFill>
                <a:schemeClr val="bg1"/>
              </a:solidFill>
              <a:latin typeface="Calibri" charset="0"/>
              <a:ea typeface="Calibri" charset="0"/>
              <a:cs typeface="Calibri" charset="0"/>
            </a:endParaRPr>
          </a:p>
          <a:p>
            <a:pPr algn="ctr"/>
            <a:endParaRPr lang="en-US" sz="5400" b="1" cap="none" dirty="0">
              <a:solidFill>
                <a:schemeClr val="bg1"/>
              </a:solidFill>
              <a:latin typeface="Calibri" charset="0"/>
              <a:ea typeface="Calibri" charset="0"/>
              <a:cs typeface="Calibri" charset="0"/>
            </a:endParaRPr>
          </a:p>
          <a:p>
            <a:pPr algn="ctr"/>
            <a:r>
              <a:rPr lang="en-US" sz="5400" b="1" cap="none" dirty="0">
                <a:solidFill>
                  <a:schemeClr val="bg1"/>
                </a:solidFill>
                <a:latin typeface="Calibri" charset="0"/>
                <a:ea typeface="Calibri" charset="0"/>
                <a:cs typeface="Calibri" charset="0"/>
              </a:rPr>
              <a:t>	</a:t>
            </a:r>
          </a:p>
          <a:p>
            <a:pPr algn="ctr"/>
            <a:endParaRPr lang="en-US" sz="4400" b="1" cap="none" dirty="0">
              <a:solidFill>
                <a:schemeClr val="bg1"/>
              </a:solidFill>
              <a:latin typeface="Calibri" charset="0"/>
              <a:ea typeface="Calibri" charset="0"/>
              <a:cs typeface="Calibri" charset="0"/>
            </a:endParaRPr>
          </a:p>
        </p:txBody>
      </p:sp>
    </p:spTree>
    <p:extLst>
      <p:ext uri="{BB962C8B-B14F-4D97-AF65-F5344CB8AC3E}">
        <p14:creationId xmlns:p14="http://schemas.microsoft.com/office/powerpoint/2010/main" val="26560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FBF7-25EE-1443-BA4A-DE385687C345}"/>
              </a:ext>
            </a:extLst>
          </p:cNvPr>
          <p:cNvSpPr>
            <a:spLocks noGrp="1"/>
          </p:cNvSpPr>
          <p:nvPr>
            <p:ph type="title"/>
          </p:nvPr>
        </p:nvSpPr>
        <p:spPr/>
        <p:txBody>
          <a:bodyPr/>
          <a:lstStyle/>
          <a:p>
            <a:r>
              <a:rPr lang="en-US" sz="2800" cap="none" dirty="0">
                <a:latin typeface="Calibri" panose="020F0502020204030204" pitchFamily="34" charset="0"/>
                <a:cs typeface="Calibri" panose="020F0502020204030204" pitchFamily="34" charset="0"/>
              </a:rPr>
              <a:t>The feedback paradigm is shifting to more of an iterative vs. event based model </a:t>
            </a:r>
          </a:p>
        </p:txBody>
      </p:sp>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628650" y="1369219"/>
            <a:ext cx="4619625" cy="3263504"/>
          </a:xfrm>
        </p:spPr>
        <p:txBody>
          <a:bodyPr>
            <a:noAutofit/>
          </a:bodyPr>
          <a:lstStyle/>
          <a:p>
            <a:pPr>
              <a:buClr>
                <a:schemeClr val="tx1"/>
              </a:buClr>
            </a:pPr>
            <a:r>
              <a:rPr lang="en-US" sz="1800" b="1" dirty="0">
                <a:solidFill>
                  <a:srgbClr val="22A9C4"/>
                </a:solidFill>
                <a:latin typeface="Calibri" panose="020F0502020204030204" pitchFamily="34" charset="0"/>
                <a:cs typeface="Calibri" panose="020F0502020204030204" pitchFamily="34" charset="0"/>
              </a:rPr>
              <a:t>Companies like GE, Netflix and Adobe abandoned traditional performance reviews and instead engage in ongoing feedback conversations </a:t>
            </a:r>
            <a:r>
              <a:rPr lang="en-US" sz="1800" dirty="0">
                <a:latin typeface="Calibri" panose="020F0502020204030204" pitchFamily="34" charset="0"/>
                <a:cs typeface="Calibri" panose="020F0502020204030204" pitchFamily="34" charset="0"/>
              </a:rPr>
              <a:t>empowering employees to truly own their development and contribute on a bigger scale to the growth of their organization. </a:t>
            </a:r>
          </a:p>
          <a:p>
            <a:pPr>
              <a:buClr>
                <a:schemeClr val="tx1"/>
              </a:buClr>
            </a:pPr>
            <a:r>
              <a:rPr lang="en-US" sz="1800" b="1" dirty="0">
                <a:solidFill>
                  <a:srgbClr val="22A9C4"/>
                </a:solidFill>
                <a:latin typeface="Calibri" panose="020F0502020204030204" pitchFamily="34" charset="0"/>
                <a:cs typeface="Calibri" panose="020F0502020204030204" pitchFamily="34" charset="0"/>
              </a:rPr>
              <a:t>Feedback is more collaborative </a:t>
            </a:r>
            <a:r>
              <a:rPr lang="en-US" sz="1800" dirty="0">
                <a:latin typeface="Calibri" panose="020F0502020204030204" pitchFamily="34" charset="0"/>
                <a:cs typeface="Calibri" panose="020F0502020204030204" pitchFamily="34" charset="0"/>
              </a:rPr>
              <a:t>with employees at all levels seeking input and guidance and using that intel to affect real change. </a:t>
            </a:r>
          </a:p>
          <a:p>
            <a:pPr marL="0" indent="0">
              <a:lnSpc>
                <a:spcPct val="110000"/>
              </a:lnSpc>
              <a:buNone/>
            </a:pPr>
            <a:endParaRPr lang="en-US" sz="1800" i="1" dirty="0">
              <a:latin typeface="Calibri" panose="020F0502020204030204" pitchFamily="34" charset="0"/>
              <a:cs typeface="Calibri" panose="020F0502020204030204" pitchFamily="34" charset="0"/>
            </a:endParaRPr>
          </a:p>
        </p:txBody>
      </p:sp>
      <p:sp>
        <p:nvSpPr>
          <p:cNvPr id="6" name="Oval Callout 5">
            <a:extLst>
              <a:ext uri="{FF2B5EF4-FFF2-40B4-BE49-F238E27FC236}">
                <a16:creationId xmlns:a16="http://schemas.microsoft.com/office/drawing/2014/main" id="{7A9B5BB1-B030-6A4D-91E3-6704626B7B3F}"/>
              </a:ext>
            </a:extLst>
          </p:cNvPr>
          <p:cNvSpPr/>
          <p:nvPr/>
        </p:nvSpPr>
        <p:spPr>
          <a:xfrm>
            <a:off x="5361238" y="1268016"/>
            <a:ext cx="3554162" cy="3227784"/>
          </a:xfrm>
          <a:prstGeom prst="wedgeEllipseCallout">
            <a:avLst>
              <a:gd name="adj1" fmla="val -44040"/>
              <a:gd name="adj2" fmla="val -45304"/>
            </a:avLst>
          </a:prstGeom>
          <a:solidFill>
            <a:schemeClr val="bg1"/>
          </a:solidFill>
          <a:ln w="76200">
            <a:solidFill>
              <a:srgbClr val="22A9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TextBox 4">
            <a:extLst>
              <a:ext uri="{FF2B5EF4-FFF2-40B4-BE49-F238E27FC236}">
                <a16:creationId xmlns:a16="http://schemas.microsoft.com/office/drawing/2014/main" id="{8B03A487-F51A-4B4B-A19D-A8CE5D1B4D44}"/>
              </a:ext>
            </a:extLst>
          </p:cNvPr>
          <p:cNvSpPr txBox="1"/>
          <p:nvPr/>
        </p:nvSpPr>
        <p:spPr>
          <a:xfrm>
            <a:off x="5895975" y="1675187"/>
            <a:ext cx="2419350" cy="2377574"/>
          </a:xfrm>
          <a:prstGeom prst="rect">
            <a:avLst/>
          </a:prstGeom>
          <a:noFill/>
          <a:ln w="76200">
            <a:noFill/>
          </a:ln>
        </p:spPr>
        <p:txBody>
          <a:bodyPr wrap="square" rtlCol="0">
            <a:spAutoFit/>
          </a:bodyPr>
          <a:lstStyle/>
          <a:p>
            <a:pPr algn="ctr"/>
            <a:r>
              <a:rPr lang="en-US" sz="1350" i="1" dirty="0">
                <a:latin typeface="Calibri" panose="020F0502020204030204" pitchFamily="34" charset="0"/>
                <a:cs typeface="Calibri" panose="020F0502020204030204" pitchFamily="34" charset="0"/>
              </a:rPr>
              <a:t>In my own work as a manager at GE, </a:t>
            </a:r>
            <a:r>
              <a:rPr lang="en-US" sz="1350" b="1" i="1" dirty="0">
                <a:solidFill>
                  <a:srgbClr val="22A9C4"/>
                </a:solidFill>
                <a:latin typeface="Calibri" panose="020F0502020204030204" pitchFamily="34" charset="0"/>
                <a:cs typeface="Calibri" panose="020F0502020204030204" pitchFamily="34" charset="0"/>
              </a:rPr>
              <a:t>I make it a regular practice to ask my colleagues to tell me something they think I don’t want to hear, and then I take action to address it and communicate back what has changed. </a:t>
            </a:r>
            <a:r>
              <a:rPr lang="en-US" sz="1350" i="1" dirty="0">
                <a:latin typeface="Calibri" panose="020F0502020204030204" pitchFamily="34" charset="0"/>
                <a:cs typeface="Calibri" panose="020F0502020204030204" pitchFamily="34" charset="0"/>
              </a:rPr>
              <a:t>It’s valuable not just because of the new information I learn, but because it reinforces a culture of openness.</a:t>
            </a:r>
            <a:endParaRPr lang="en-US" sz="135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83CC0C0-F7B4-F140-8200-164882643E8D}"/>
              </a:ext>
            </a:extLst>
          </p:cNvPr>
          <p:cNvSpPr txBox="1"/>
          <p:nvPr/>
        </p:nvSpPr>
        <p:spPr>
          <a:xfrm>
            <a:off x="6448425" y="4048125"/>
            <a:ext cx="1390650" cy="369332"/>
          </a:xfrm>
          <a:prstGeom prst="rect">
            <a:avLst/>
          </a:prstGeom>
          <a:noFill/>
        </p:spPr>
        <p:txBody>
          <a:bodyPr wrap="square" rtlCol="0">
            <a:spAutoFit/>
          </a:bodyPr>
          <a:lstStyle/>
          <a:p>
            <a:pPr algn="ctr"/>
            <a:r>
              <a:rPr lang="en-US" sz="900" b="1" dirty="0">
                <a:latin typeface="Calibri" panose="020F0502020204030204" pitchFamily="34" charset="0"/>
                <a:cs typeface="Calibri" panose="020F0502020204030204" pitchFamily="34" charset="0"/>
              </a:rPr>
              <a:t>Beth Comstock, </a:t>
            </a:r>
          </a:p>
          <a:p>
            <a:pPr algn="ctr"/>
            <a:r>
              <a:rPr lang="en-US" sz="900" b="1" dirty="0">
                <a:latin typeface="Calibri" panose="020F0502020204030204" pitchFamily="34" charset="0"/>
                <a:cs typeface="Calibri" panose="020F0502020204030204" pitchFamily="34" charset="0"/>
              </a:rPr>
              <a:t>former Vice Chair, GE</a:t>
            </a:r>
          </a:p>
        </p:txBody>
      </p:sp>
    </p:spTree>
    <p:extLst>
      <p:ext uri="{BB962C8B-B14F-4D97-AF65-F5344CB8AC3E}">
        <p14:creationId xmlns:p14="http://schemas.microsoft.com/office/powerpoint/2010/main" val="2207729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FBF7-25EE-1443-BA4A-DE385687C345}"/>
              </a:ext>
            </a:extLst>
          </p:cNvPr>
          <p:cNvSpPr>
            <a:spLocks noGrp="1"/>
          </p:cNvSpPr>
          <p:nvPr>
            <p:ph type="title"/>
          </p:nvPr>
        </p:nvSpPr>
        <p:spPr>
          <a:xfrm>
            <a:off x="355600" y="610196"/>
            <a:ext cx="8595360" cy="469350"/>
          </a:xfrm>
        </p:spPr>
        <p:txBody>
          <a:bodyPr>
            <a:noAutofit/>
          </a:bodyPr>
          <a:lstStyle/>
          <a:p>
            <a:r>
              <a:rPr lang="en-US" sz="2800" cap="none" dirty="0">
                <a:latin typeface="Calibri" panose="020F0502020204030204" pitchFamily="34" charset="0"/>
                <a:cs typeface="Calibri" panose="020F0502020204030204" pitchFamily="34" charset="0"/>
              </a:rPr>
              <a:t>Honing feedback skills is more critical now than ever</a:t>
            </a:r>
          </a:p>
        </p:txBody>
      </p:sp>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355600" y="1443033"/>
            <a:ext cx="8229600" cy="4024275"/>
          </a:xfrm>
        </p:spPr>
        <p:txBody>
          <a:bodyPr/>
          <a:lstStyle/>
          <a:p>
            <a:pPr>
              <a:buClr>
                <a:schemeClr val="tx1"/>
              </a:buClr>
              <a:buFont typeface="Arial" panose="020B0604020202020204" pitchFamily="34" charset="0"/>
              <a:buChar char="•"/>
            </a:pPr>
            <a:r>
              <a:rPr lang="en-US" sz="1800" b="1" dirty="0">
                <a:solidFill>
                  <a:srgbClr val="22A9C4"/>
                </a:solidFill>
                <a:latin typeface="Calibri" panose="020F0502020204030204" pitchFamily="34" charset="0"/>
                <a:cs typeface="Calibri" panose="020F0502020204030204" pitchFamily="34" charset="0"/>
              </a:rPr>
              <a:t>Intuitively organizations know these conversations matter.  </a:t>
            </a:r>
            <a:r>
              <a:rPr lang="en-US" sz="1800" dirty="0">
                <a:latin typeface="Calibri" panose="020F0502020204030204" pitchFamily="34" charset="0"/>
                <a:cs typeface="Calibri" panose="020F0502020204030204" pitchFamily="34" charset="0"/>
              </a:rPr>
              <a:t>Leaders want to grow and develop and they want those with whom they work to do the same.  </a:t>
            </a:r>
          </a:p>
          <a:p>
            <a:pPr>
              <a:buClr>
                <a:schemeClr val="tx1"/>
              </a:buClr>
              <a:buFont typeface="Arial" panose="020B0604020202020204" pitchFamily="34" charset="0"/>
              <a:buChar char="•"/>
            </a:pPr>
            <a:r>
              <a:rPr lang="en-US" sz="1800" b="1" dirty="0">
                <a:solidFill>
                  <a:srgbClr val="22A9C4"/>
                </a:solidFill>
                <a:latin typeface="Calibri" panose="020F0502020204030204" pitchFamily="34" charset="0"/>
                <a:cs typeface="Calibri" panose="020F0502020204030204" pitchFamily="34" charset="0"/>
              </a:rPr>
              <a:t>Yet big mistakes happen all the time</a:t>
            </a:r>
            <a:endParaRPr lang="en-US" sz="1800" dirty="0">
              <a:solidFill>
                <a:srgbClr val="22A9C4"/>
              </a:solidFill>
              <a:latin typeface="Calibri" panose="020F0502020204030204" pitchFamily="34" charset="0"/>
              <a:cs typeface="Calibri" panose="020F0502020204030204" pitchFamily="34" charset="0"/>
            </a:endParaRPr>
          </a:p>
          <a:p>
            <a:pPr lvl="1">
              <a:buClr>
                <a:schemeClr val="tx1"/>
              </a:buClr>
              <a:buFont typeface="Courier New" panose="02070309020205020404" pitchFamily="49" charset="0"/>
              <a:buChar char="o"/>
            </a:pPr>
            <a:r>
              <a:rPr lang="en-US" sz="1800" dirty="0">
                <a:latin typeface="Calibri" panose="020F0502020204030204" pitchFamily="34" charset="0"/>
                <a:cs typeface="Calibri" panose="020F0502020204030204" pitchFamily="34" charset="0"/>
              </a:rPr>
              <a:t>Feedback isn’t happening at all </a:t>
            </a:r>
          </a:p>
          <a:p>
            <a:pPr lvl="1">
              <a:buClr>
                <a:schemeClr val="tx1"/>
              </a:buClr>
              <a:buFont typeface="Courier New" panose="02070309020205020404" pitchFamily="49" charset="0"/>
              <a:buChar char="o"/>
            </a:pPr>
            <a:r>
              <a:rPr lang="en-US" sz="1800" dirty="0">
                <a:latin typeface="Calibri" panose="020F0502020204030204" pitchFamily="34" charset="0"/>
                <a:cs typeface="Calibri" panose="020F0502020204030204" pitchFamily="34" charset="0"/>
              </a:rPr>
              <a:t>It’s not direct enough</a:t>
            </a:r>
          </a:p>
          <a:p>
            <a:pPr lvl="1">
              <a:buClr>
                <a:schemeClr val="tx1"/>
              </a:buClr>
              <a:buFont typeface="Courier New" panose="02070309020205020404" pitchFamily="49" charset="0"/>
              <a:buChar char="o"/>
            </a:pPr>
            <a:r>
              <a:rPr lang="en-US" sz="1800" dirty="0">
                <a:latin typeface="Calibri" panose="020F0502020204030204" pitchFamily="34" charset="0"/>
                <a:cs typeface="Calibri" panose="020F0502020204030204" pitchFamily="34" charset="0"/>
              </a:rPr>
              <a:t>It’s not tied to something bigger</a:t>
            </a:r>
          </a:p>
          <a:p>
            <a:pPr>
              <a:buClr>
                <a:schemeClr val="tx1"/>
              </a:buClr>
              <a:buFont typeface="Arial" panose="020B0604020202020204" pitchFamily="34" charset="0"/>
              <a:buChar char="•"/>
            </a:pPr>
            <a:r>
              <a:rPr lang="en-US" sz="1800" b="1" dirty="0">
                <a:solidFill>
                  <a:srgbClr val="22A9C4"/>
                </a:solidFill>
                <a:latin typeface="Calibri" panose="020F0502020204030204" pitchFamily="34" charset="0"/>
                <a:cs typeface="Calibri" panose="020F0502020204030204" pitchFamily="34" charset="0"/>
              </a:rPr>
              <a:t>There are </a:t>
            </a:r>
            <a:r>
              <a:rPr lang="en-US" sz="1800" b="1" i="1" dirty="0">
                <a:solidFill>
                  <a:srgbClr val="22A9C4"/>
                </a:solidFill>
                <a:latin typeface="Calibri" panose="020F0502020204030204" pitchFamily="34" charset="0"/>
                <a:cs typeface="Calibri" panose="020F0502020204030204" pitchFamily="34" charset="0"/>
              </a:rPr>
              <a:t>many</a:t>
            </a:r>
            <a:r>
              <a:rPr lang="en-US" sz="1800" b="1" dirty="0">
                <a:solidFill>
                  <a:srgbClr val="22A9C4"/>
                </a:solidFill>
                <a:latin typeface="Calibri" panose="020F0502020204030204" pitchFamily="34" charset="0"/>
                <a:cs typeface="Calibri" panose="020F0502020204030204" pitchFamily="34" charset="0"/>
              </a:rPr>
              <a:t> variables at play </a:t>
            </a:r>
            <a:r>
              <a:rPr lang="en-US" sz="1800" dirty="0">
                <a:latin typeface="Calibri" panose="020F0502020204030204" pitchFamily="34" charset="0"/>
                <a:cs typeface="Calibri" panose="020F0502020204030204" pitchFamily="34" charset="0"/>
              </a:rPr>
              <a:t>– who’s delivering the feedback, who’s receiving, what messages are being conveyed, what’s at stake?</a:t>
            </a:r>
          </a:p>
          <a:p>
            <a:pPr>
              <a:buClr>
                <a:schemeClr val="tx1"/>
              </a:buClr>
              <a:buFont typeface="Arial" panose="020B0604020202020204" pitchFamily="34" charset="0"/>
              <a:buChar char="•"/>
            </a:pPr>
            <a:r>
              <a:rPr lang="en-US" sz="1800" b="1" dirty="0">
                <a:solidFill>
                  <a:srgbClr val="22A9C4"/>
                </a:solidFill>
                <a:latin typeface="Calibri" panose="020F0502020204030204" pitchFamily="34" charset="0"/>
                <a:cs typeface="Calibri" panose="020F0502020204030204" pitchFamily="34" charset="0"/>
              </a:rPr>
              <a:t>But - no matter the situation – there are foundational processes and approaches that can set us up for success </a:t>
            </a:r>
          </a:p>
        </p:txBody>
      </p:sp>
    </p:spTree>
    <p:extLst>
      <p:ext uri="{BB962C8B-B14F-4D97-AF65-F5344CB8AC3E}">
        <p14:creationId xmlns:p14="http://schemas.microsoft.com/office/powerpoint/2010/main" val="1756353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867728" y="1220272"/>
            <a:ext cx="7311708" cy="2253376"/>
          </a:xfrm>
        </p:spPr>
        <p:txBody>
          <a:bodyPr/>
          <a:lstStyle/>
          <a:p>
            <a:pPr algn="ctr"/>
            <a:r>
              <a:rPr lang="en-US" b="1" cap="none" dirty="0">
                <a:solidFill>
                  <a:schemeClr val="tx1"/>
                </a:solidFill>
                <a:latin typeface="Calibri" panose="020F0502020204030204" pitchFamily="34" charset="0"/>
                <a:cs typeface="Calibri" panose="020F0502020204030204" pitchFamily="34" charset="0"/>
              </a:rPr>
              <a:t>Everything is rooted </a:t>
            </a: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in </a:t>
            </a:r>
            <a:r>
              <a:rPr lang="en-US" b="1" i="1" cap="none" dirty="0">
                <a:solidFill>
                  <a:schemeClr val="tx1"/>
                </a:solidFill>
                <a:latin typeface="Calibri" panose="020F0502020204030204" pitchFamily="34" charset="0"/>
                <a:cs typeface="Calibri" panose="020F0502020204030204" pitchFamily="34" charset="0"/>
              </a:rPr>
              <a:t>active</a:t>
            </a:r>
            <a:r>
              <a:rPr lang="en-US" b="1" cap="none" dirty="0">
                <a:solidFill>
                  <a:schemeClr val="tx1"/>
                </a:solidFill>
                <a:latin typeface="Calibri" panose="020F0502020204030204" pitchFamily="34" charset="0"/>
                <a:cs typeface="Calibri" panose="020F0502020204030204" pitchFamily="34" charset="0"/>
              </a:rPr>
              <a:t> listening</a:t>
            </a: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86772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99568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3300407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AF23D279-EE7D-9341-BB43-87A655A9189B}"/>
              </a:ext>
            </a:extLst>
          </p:cNvPr>
          <p:cNvSpPr>
            <a:spLocks noGrp="1"/>
          </p:cNvSpPr>
          <p:nvPr>
            <p:ph type="title"/>
          </p:nvPr>
        </p:nvSpPr>
        <p:spPr>
          <a:xfrm>
            <a:off x="1050925" y="1137920"/>
            <a:ext cx="7042149" cy="3332480"/>
          </a:xfrm>
        </p:spPr>
        <p:txBody>
          <a:bodyPr>
            <a:normAutofit fontScale="90000"/>
          </a:bodyPr>
          <a:lstStyle/>
          <a:p>
            <a:pPr algn="ctr"/>
            <a:br>
              <a:rPr lang="en-US" b="1" cap="none" dirty="0">
                <a:solidFill>
                  <a:srgbClr val="FF0000"/>
                </a:solidFill>
                <a:latin typeface="Calibri" charset="0"/>
                <a:ea typeface="Calibri" charset="0"/>
                <a:cs typeface="Calibri" charset="0"/>
              </a:rPr>
            </a:br>
            <a:br>
              <a:rPr lang="en-US" b="1" cap="none" dirty="0">
                <a:solidFill>
                  <a:srgbClr val="FF0000"/>
                </a:solidFill>
                <a:latin typeface="Calibri" charset="0"/>
                <a:ea typeface="Calibri" charset="0"/>
                <a:cs typeface="Calibri" charset="0"/>
              </a:rPr>
            </a:br>
            <a:br>
              <a:rPr lang="en-US" b="1" cap="none" dirty="0">
                <a:solidFill>
                  <a:srgbClr val="FF0000"/>
                </a:solidFill>
                <a:latin typeface="Calibri" charset="0"/>
                <a:ea typeface="Calibri" charset="0"/>
                <a:cs typeface="Calibri" charset="0"/>
              </a:rPr>
            </a:br>
            <a:br>
              <a:rPr lang="en-US" b="1" cap="none" dirty="0">
                <a:solidFill>
                  <a:srgbClr val="FF0000"/>
                </a:solidFill>
                <a:latin typeface="Calibri" charset="0"/>
                <a:ea typeface="Calibri" charset="0"/>
                <a:cs typeface="Calibri" charset="0"/>
              </a:rPr>
            </a:br>
            <a:br>
              <a:rPr lang="en-US" b="1" cap="none" dirty="0">
                <a:solidFill>
                  <a:srgbClr val="FF0000"/>
                </a:solidFill>
                <a:latin typeface="Calibri" charset="0"/>
                <a:ea typeface="Calibri" charset="0"/>
                <a:cs typeface="Calibri" charset="0"/>
              </a:rPr>
            </a:br>
            <a:br>
              <a:rPr lang="en-US" b="1" cap="none" dirty="0">
                <a:solidFill>
                  <a:srgbClr val="FF0000"/>
                </a:solidFill>
                <a:latin typeface="Calibri" charset="0"/>
                <a:ea typeface="Calibri" charset="0"/>
                <a:cs typeface="Calibri" charset="0"/>
              </a:rPr>
            </a:br>
            <a:r>
              <a:rPr lang="en-US" b="1" cap="none" dirty="0">
                <a:solidFill>
                  <a:srgbClr val="22A9C4"/>
                </a:solidFill>
                <a:latin typeface="Calibri" charset="0"/>
                <a:ea typeface="Calibri" charset="0"/>
                <a:cs typeface="Calibri" charset="0"/>
              </a:rPr>
              <a:t>Active listening  </a:t>
            </a:r>
            <a:br>
              <a:rPr lang="en-US" b="1" cap="none" dirty="0">
                <a:solidFill>
                  <a:srgbClr val="FF0000"/>
                </a:solidFill>
                <a:latin typeface="Calibri" charset="0"/>
                <a:ea typeface="Calibri" charset="0"/>
                <a:cs typeface="Calibri" charset="0"/>
              </a:rPr>
            </a:br>
            <a:r>
              <a:rPr lang="en-US" cap="none" dirty="0">
                <a:latin typeface="Calibri" charset="0"/>
                <a:ea typeface="Calibri" charset="0"/>
                <a:cs typeface="Calibri" charset="0"/>
              </a:rPr>
              <a:t>Understanding not only the </a:t>
            </a:r>
            <a:r>
              <a:rPr lang="en-US" b="1" cap="none" dirty="0">
                <a:latin typeface="Calibri" charset="0"/>
                <a:ea typeface="Calibri" charset="0"/>
                <a:cs typeface="Calibri" charset="0"/>
              </a:rPr>
              <a:t>content of what others are saying</a:t>
            </a:r>
            <a:r>
              <a:rPr lang="en-US" cap="none" dirty="0">
                <a:latin typeface="Calibri" charset="0"/>
                <a:ea typeface="Calibri" charset="0"/>
                <a:cs typeface="Calibri" charset="0"/>
              </a:rPr>
              <a:t>, but also </a:t>
            </a:r>
            <a:r>
              <a:rPr lang="en-US" b="1" cap="none" dirty="0">
                <a:latin typeface="Calibri" charset="0"/>
                <a:ea typeface="Calibri" charset="0"/>
                <a:cs typeface="Calibri" charset="0"/>
              </a:rPr>
              <a:t>picking up the feelings behind the words</a:t>
            </a:r>
            <a:r>
              <a:rPr lang="en-US" cap="none" dirty="0">
                <a:latin typeface="Calibri" charset="0"/>
                <a:ea typeface="Calibri" charset="0"/>
                <a:cs typeface="Calibri" charset="0"/>
              </a:rPr>
              <a:t> that are being spoken.</a:t>
            </a:r>
          </a:p>
        </p:txBody>
      </p:sp>
    </p:spTree>
    <p:extLst>
      <p:ext uri="{BB962C8B-B14F-4D97-AF65-F5344CB8AC3E}">
        <p14:creationId xmlns:p14="http://schemas.microsoft.com/office/powerpoint/2010/main" val="1538811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694372" y="1277183"/>
            <a:ext cx="7886700" cy="2139553"/>
          </a:xfrm>
        </p:spPr>
        <p:txBody>
          <a:bodyPr/>
          <a:lstStyle/>
          <a:p>
            <a:pPr algn="ctr"/>
            <a:r>
              <a:rPr lang="en-US" b="1" cap="none" dirty="0">
                <a:solidFill>
                  <a:schemeClr val="tx1"/>
                </a:solidFill>
                <a:latin typeface="Calibri" panose="020F0502020204030204" pitchFamily="34" charset="0"/>
                <a:cs typeface="Calibri" panose="020F0502020204030204" pitchFamily="34" charset="0"/>
              </a:rPr>
              <a:t>Do as Pareto says …</a:t>
            </a: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live by the 80/20 rule</a:t>
            </a: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68484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81280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2</a:t>
            </a:r>
          </a:p>
        </p:txBody>
      </p:sp>
    </p:spTree>
    <p:extLst>
      <p:ext uri="{BB962C8B-B14F-4D97-AF65-F5344CB8AC3E}">
        <p14:creationId xmlns:p14="http://schemas.microsoft.com/office/powerpoint/2010/main" val="2102861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854075"/>
            <a:ext cx="8229600" cy="4024313"/>
          </a:xfrm>
        </p:spPr>
        <p:txBody>
          <a:bodyPr/>
          <a:lstStyle/>
          <a:p>
            <a:pPr marL="0" indent="0">
              <a:buNone/>
            </a:pPr>
            <a:endParaRPr lang="en-US" dirty="0"/>
          </a:p>
          <a:p>
            <a:pPr marL="0" indent="0">
              <a:buNone/>
            </a:pPr>
            <a:endParaRPr lang="en-US" dirty="0"/>
          </a:p>
        </p:txBody>
      </p:sp>
      <p:sp>
        <p:nvSpPr>
          <p:cNvPr id="28" name="TextBox 27"/>
          <p:cNvSpPr txBox="1"/>
          <p:nvPr/>
        </p:nvSpPr>
        <p:spPr>
          <a:xfrm>
            <a:off x="2240246" y="3244806"/>
            <a:ext cx="1870101" cy="288541"/>
          </a:xfrm>
          <a:prstGeom prst="rect">
            <a:avLst/>
          </a:prstGeom>
          <a:noFill/>
        </p:spPr>
        <p:txBody>
          <a:bodyPr wrap="square" rtlCol="0">
            <a:spAutoFit/>
          </a:bodyPr>
          <a:lstStyle/>
          <a:p>
            <a:pPr algn="ctr">
              <a:defRPr/>
            </a:pPr>
            <a:r>
              <a:rPr lang="en-US" sz="1275" b="1" kern="0" dirty="0">
                <a:solidFill>
                  <a:prstClr val="white"/>
                </a:solidFill>
              </a:rPr>
              <a:t>EXECUTION</a:t>
            </a:r>
          </a:p>
        </p:txBody>
      </p:sp>
      <p:graphicFrame>
        <p:nvGraphicFramePr>
          <p:cNvPr id="29" name="Diagram 28"/>
          <p:cNvGraphicFramePr/>
          <p:nvPr/>
        </p:nvGraphicFramePr>
        <p:xfrm>
          <a:off x="176617" y="328665"/>
          <a:ext cx="3988328" cy="36490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5" name="Group 34"/>
          <p:cNvGrpSpPr/>
          <p:nvPr/>
        </p:nvGrpSpPr>
        <p:grpSpPr>
          <a:xfrm flipV="1">
            <a:off x="4417162" y="328664"/>
            <a:ext cx="3988328" cy="3649016"/>
            <a:chOff x="6255309" y="1584606"/>
            <a:chExt cx="5317770" cy="4865354"/>
          </a:xfrm>
        </p:grpSpPr>
        <p:sp>
          <p:nvSpPr>
            <p:cNvPr id="36" name="Freeform 35"/>
            <p:cNvSpPr/>
            <p:nvPr/>
          </p:nvSpPr>
          <p:spPr>
            <a:xfrm>
              <a:off x="7921767" y="1584606"/>
              <a:ext cx="1984852" cy="1815988"/>
            </a:xfrm>
            <a:custGeom>
              <a:avLst/>
              <a:gdLst>
                <a:gd name="connsiteX0" fmla="*/ 0 w 1984852"/>
                <a:gd name="connsiteY0" fmla="*/ 1815988 h 1815988"/>
                <a:gd name="connsiteX1" fmla="*/ 992419 w 1984852"/>
                <a:gd name="connsiteY1" fmla="*/ 0 h 1815988"/>
                <a:gd name="connsiteX2" fmla="*/ 992433 w 1984852"/>
                <a:gd name="connsiteY2" fmla="*/ 0 h 1815988"/>
                <a:gd name="connsiteX3" fmla="*/ 1984852 w 1984852"/>
                <a:gd name="connsiteY3" fmla="*/ 1815988 h 1815988"/>
                <a:gd name="connsiteX4" fmla="*/ 0 w 1984852"/>
                <a:gd name="connsiteY4" fmla="*/ 1815988 h 1815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4852" h="1815988">
                  <a:moveTo>
                    <a:pt x="0" y="1815988"/>
                  </a:moveTo>
                  <a:lnTo>
                    <a:pt x="992419" y="0"/>
                  </a:lnTo>
                  <a:lnTo>
                    <a:pt x="992433" y="0"/>
                  </a:lnTo>
                  <a:lnTo>
                    <a:pt x="1984852" y="1815988"/>
                  </a:lnTo>
                  <a:lnTo>
                    <a:pt x="0" y="1815988"/>
                  </a:lnTo>
                  <a:close/>
                </a:path>
              </a:pathLst>
            </a:custGeom>
            <a:solidFill>
              <a:schemeClr val="tx1">
                <a:lumMod val="50000"/>
                <a:lumOff val="50000"/>
              </a:schemeClr>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algn="ctr" defTabSz="400050">
                <a:lnSpc>
                  <a:spcPct val="90000"/>
                </a:lnSpc>
                <a:spcBef>
                  <a:spcPct val="0"/>
                </a:spcBef>
                <a:spcAft>
                  <a:spcPct val="35000"/>
                </a:spcAft>
              </a:pPr>
              <a:endParaRPr lang="en-US" sz="900" dirty="0">
                <a:solidFill>
                  <a:schemeClr val="bg1"/>
                </a:solidFill>
              </a:endParaRPr>
            </a:p>
            <a:p>
              <a:pPr algn="ctr" defTabSz="400050">
                <a:lnSpc>
                  <a:spcPct val="90000"/>
                </a:lnSpc>
                <a:spcBef>
                  <a:spcPct val="0"/>
                </a:spcBef>
                <a:spcAft>
                  <a:spcPct val="35000"/>
                </a:spcAft>
              </a:pPr>
              <a:endParaRPr lang="en-US" sz="900" dirty="0">
                <a:solidFill>
                  <a:schemeClr val="bg1"/>
                </a:solidFill>
              </a:endParaRPr>
            </a:p>
          </p:txBody>
        </p:sp>
        <p:sp>
          <p:nvSpPr>
            <p:cNvPr id="37" name="Freeform 36"/>
            <p:cNvSpPr/>
            <p:nvPr/>
          </p:nvSpPr>
          <p:spPr>
            <a:xfrm>
              <a:off x="6255309" y="3400594"/>
              <a:ext cx="5317770" cy="3049366"/>
            </a:xfrm>
            <a:custGeom>
              <a:avLst/>
              <a:gdLst>
                <a:gd name="connsiteX0" fmla="*/ 0 w 5317770"/>
                <a:gd name="connsiteY0" fmla="*/ 3049366 h 3049366"/>
                <a:gd name="connsiteX1" fmla="*/ 1666448 w 5317770"/>
                <a:gd name="connsiteY1" fmla="*/ 0 h 3049366"/>
                <a:gd name="connsiteX2" fmla="*/ 3651322 w 5317770"/>
                <a:gd name="connsiteY2" fmla="*/ 0 h 3049366"/>
                <a:gd name="connsiteX3" fmla="*/ 5317770 w 5317770"/>
                <a:gd name="connsiteY3" fmla="*/ 3049366 h 3049366"/>
                <a:gd name="connsiteX4" fmla="*/ 0 w 5317770"/>
                <a:gd name="connsiteY4" fmla="*/ 3049366 h 304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7770" h="3049366">
                  <a:moveTo>
                    <a:pt x="0" y="3049366"/>
                  </a:moveTo>
                  <a:lnTo>
                    <a:pt x="1666448" y="0"/>
                  </a:lnTo>
                  <a:lnTo>
                    <a:pt x="3651322" y="0"/>
                  </a:lnTo>
                  <a:lnTo>
                    <a:pt x="5317770" y="3049366"/>
                  </a:lnTo>
                  <a:lnTo>
                    <a:pt x="0" y="3049366"/>
                  </a:lnTo>
                  <a:close/>
                </a:path>
              </a:pathLst>
            </a:custGeom>
            <a:solidFill>
              <a:srgbClr val="22A9C4"/>
            </a:solid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749392" tIns="51435" rIns="749393" bIns="51435" numCol="1" spcCol="1270" anchor="ctr" anchorCtr="0">
              <a:noAutofit/>
            </a:bodyPr>
            <a:lstStyle/>
            <a:p>
              <a:pPr algn="ctr" defTabSz="1800225">
                <a:lnSpc>
                  <a:spcPct val="90000"/>
                </a:lnSpc>
                <a:spcBef>
                  <a:spcPct val="0"/>
                </a:spcBef>
                <a:spcAft>
                  <a:spcPct val="35000"/>
                </a:spcAft>
              </a:pPr>
              <a:endParaRPr lang="en-US" sz="4050" dirty="0">
                <a:solidFill>
                  <a:schemeClr val="bg1"/>
                </a:solidFill>
              </a:endParaRPr>
            </a:p>
          </p:txBody>
        </p:sp>
      </p:grpSp>
      <p:sp>
        <p:nvSpPr>
          <p:cNvPr id="38" name="TextBox 37"/>
          <p:cNvSpPr txBox="1"/>
          <p:nvPr/>
        </p:nvSpPr>
        <p:spPr>
          <a:xfrm>
            <a:off x="5163136" y="659452"/>
            <a:ext cx="2669457" cy="715581"/>
          </a:xfrm>
          <a:prstGeom prst="rect">
            <a:avLst/>
          </a:prstGeom>
          <a:noFill/>
        </p:spPr>
        <p:txBody>
          <a:bodyPr wrap="square" rtlCol="0">
            <a:spAutoFit/>
          </a:bodyPr>
          <a:lstStyle/>
          <a:p>
            <a:pPr algn="ctr"/>
            <a:r>
              <a:rPr lang="en-US" sz="4050" dirty="0">
                <a:solidFill>
                  <a:schemeClr val="bg1"/>
                </a:solidFill>
                <a:latin typeface="Calibri" panose="020F0502020204030204" pitchFamily="34" charset="0"/>
                <a:cs typeface="Calibri" panose="020F0502020204030204" pitchFamily="34" charset="0"/>
              </a:rPr>
              <a:t>PLANNING </a:t>
            </a:r>
          </a:p>
        </p:txBody>
      </p:sp>
      <p:sp>
        <p:nvSpPr>
          <p:cNvPr id="39" name="TextBox 38"/>
          <p:cNvSpPr txBox="1"/>
          <p:nvPr/>
        </p:nvSpPr>
        <p:spPr>
          <a:xfrm>
            <a:off x="5791565" y="2792588"/>
            <a:ext cx="1239520" cy="307777"/>
          </a:xfrm>
          <a:prstGeom prst="rect">
            <a:avLst/>
          </a:prstGeom>
          <a:noFill/>
        </p:spPr>
        <p:txBody>
          <a:bodyPr wrap="square" rtlCol="0">
            <a:spAutoFit/>
          </a:bodyPr>
          <a:lstStyle/>
          <a:p>
            <a:pPr algn="ctr"/>
            <a:r>
              <a:rPr lang="en-US" sz="1400" b="1" dirty="0">
                <a:solidFill>
                  <a:schemeClr val="bg1"/>
                </a:solidFill>
                <a:latin typeface="Calibri" panose="020F0502020204030204" pitchFamily="34" charset="0"/>
                <a:cs typeface="Calibri" panose="020F0502020204030204" pitchFamily="34" charset="0"/>
              </a:rPr>
              <a:t>EXECUTION</a:t>
            </a:r>
          </a:p>
        </p:txBody>
      </p:sp>
      <p:sp>
        <p:nvSpPr>
          <p:cNvPr id="40" name="Right Arrow 39"/>
          <p:cNvSpPr/>
          <p:nvPr/>
        </p:nvSpPr>
        <p:spPr>
          <a:xfrm>
            <a:off x="3441136" y="1733066"/>
            <a:ext cx="1474838" cy="601349"/>
          </a:xfrm>
          <a:prstGeom prst="rightArrow">
            <a:avLst/>
          </a:prstGeom>
          <a:solidFill>
            <a:srgbClr val="22A9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1" name="Title 1"/>
          <p:cNvSpPr txBox="1">
            <a:spLocks/>
          </p:cNvSpPr>
          <p:nvPr/>
        </p:nvSpPr>
        <p:spPr>
          <a:xfrm>
            <a:off x="0" y="4224164"/>
            <a:ext cx="91440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r>
              <a:rPr lang="en-US" sz="1800" b="1" dirty="0">
                <a:latin typeface="Calibri" panose="020F0502020204030204" pitchFamily="34" charset="0"/>
                <a:cs typeface="Calibri" panose="020F0502020204030204" pitchFamily="34" charset="0"/>
              </a:rPr>
              <a:t>More planning </a:t>
            </a:r>
            <a:r>
              <a:rPr lang="en-US" sz="1800" b="1" dirty="0">
                <a:latin typeface="Calibri" panose="020F0502020204030204" pitchFamily="34" charset="0"/>
                <a:cs typeface="Calibri" panose="020F0502020204030204" pitchFamily="34" charset="0"/>
                <a:sym typeface="Wingdings" pitchFamily="2" charset="2"/>
              </a:rPr>
              <a:t></a:t>
            </a:r>
            <a:r>
              <a:rPr lang="en-US" sz="1800" b="1" dirty="0">
                <a:latin typeface="Calibri" panose="020F0502020204030204" pitchFamily="34" charset="0"/>
                <a:cs typeface="Calibri" panose="020F0502020204030204" pitchFamily="34" charset="0"/>
              </a:rPr>
              <a:t> less wheel spinning!</a:t>
            </a:r>
          </a:p>
        </p:txBody>
      </p:sp>
    </p:spTree>
    <p:extLst>
      <p:ext uri="{BB962C8B-B14F-4D97-AF65-F5344CB8AC3E}">
        <p14:creationId xmlns:p14="http://schemas.microsoft.com/office/powerpoint/2010/main" val="3793553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526" y="150078"/>
            <a:ext cx="7886700" cy="994172"/>
          </a:xfrm>
        </p:spPr>
        <p:txBody>
          <a:bodyPr>
            <a:noAutofit/>
          </a:bodyPr>
          <a:lstStyle/>
          <a:p>
            <a:r>
              <a:rPr lang="en-US" sz="2800" cap="none" dirty="0">
                <a:latin typeface="Calibri" panose="020F0502020204030204" pitchFamily="34" charset="0"/>
                <a:ea typeface="Calibri" charset="0"/>
                <a:cs typeface="Calibri" panose="020F0502020204030204" pitchFamily="34" charset="0"/>
              </a:rPr>
              <a:t>Key planning steps when giving feedback</a:t>
            </a:r>
          </a:p>
        </p:txBody>
      </p:sp>
      <p:sp>
        <p:nvSpPr>
          <p:cNvPr id="3" name="Content Placeholder 2"/>
          <p:cNvSpPr>
            <a:spLocks noGrp="1"/>
          </p:cNvSpPr>
          <p:nvPr>
            <p:ph idx="1"/>
          </p:nvPr>
        </p:nvSpPr>
        <p:spPr>
          <a:xfrm>
            <a:off x="390526" y="828760"/>
            <a:ext cx="7581015" cy="3915959"/>
          </a:xfrm>
        </p:spPr>
        <p:txBody>
          <a:bodyPr>
            <a:noAutofit/>
          </a:bodyPr>
          <a:lstStyle/>
          <a:p>
            <a:pPr marL="217880" indent="-217880" defTabSz="725073">
              <a:lnSpc>
                <a:spcPct val="200000"/>
              </a:lnSpc>
              <a:spcBef>
                <a:spcPct val="0"/>
              </a:spcBef>
              <a:buClr>
                <a:srgbClr val="22A9C4"/>
              </a:buClr>
              <a:buSzPct val="125000"/>
            </a:pPr>
            <a:r>
              <a:rPr lang="en-US" dirty="0">
                <a:latin typeface="Calibri" charset="0"/>
                <a:ea typeface="Calibri" charset="0"/>
                <a:cs typeface="Calibri" charset="0"/>
              </a:rPr>
              <a:t>Collect your facts </a:t>
            </a:r>
          </a:p>
          <a:p>
            <a:pPr marL="217880" indent="-217880" defTabSz="725073">
              <a:lnSpc>
                <a:spcPct val="200000"/>
              </a:lnSpc>
              <a:spcBef>
                <a:spcPct val="0"/>
              </a:spcBef>
              <a:buClr>
                <a:srgbClr val="22A9C4"/>
              </a:buClr>
              <a:buSzPct val="125000"/>
            </a:pPr>
            <a:r>
              <a:rPr lang="en-US" dirty="0">
                <a:latin typeface="Calibri" charset="0"/>
                <a:ea typeface="Calibri" charset="0"/>
                <a:cs typeface="Calibri" charset="0"/>
              </a:rPr>
              <a:t>Understand the root cause</a:t>
            </a:r>
          </a:p>
          <a:p>
            <a:pPr marL="217880" indent="-217880" defTabSz="725073">
              <a:lnSpc>
                <a:spcPct val="200000"/>
              </a:lnSpc>
              <a:spcBef>
                <a:spcPct val="0"/>
              </a:spcBef>
              <a:buClr>
                <a:srgbClr val="22A9C4"/>
              </a:buClr>
              <a:buSzPct val="125000"/>
            </a:pPr>
            <a:r>
              <a:rPr lang="en-US" dirty="0">
                <a:latin typeface="Calibri" charset="0"/>
                <a:ea typeface="Calibri" charset="0"/>
                <a:cs typeface="Calibri" charset="0"/>
              </a:rPr>
              <a:t>Determine your goals</a:t>
            </a:r>
          </a:p>
          <a:p>
            <a:pPr marL="217880" indent="-217880" defTabSz="725073">
              <a:lnSpc>
                <a:spcPct val="200000"/>
              </a:lnSpc>
              <a:spcBef>
                <a:spcPct val="0"/>
              </a:spcBef>
              <a:buClr>
                <a:srgbClr val="22A9C4"/>
              </a:buClr>
              <a:buSzPct val="125000"/>
            </a:pPr>
            <a:r>
              <a:rPr lang="en-US" dirty="0">
                <a:latin typeface="Calibri" charset="0"/>
                <a:ea typeface="Calibri" charset="0"/>
                <a:cs typeface="Calibri" charset="0"/>
              </a:rPr>
              <a:t>Draft your opening</a:t>
            </a:r>
          </a:p>
          <a:p>
            <a:pPr marL="217880" indent="-217880" defTabSz="725073">
              <a:lnSpc>
                <a:spcPct val="200000"/>
              </a:lnSpc>
              <a:spcBef>
                <a:spcPct val="0"/>
              </a:spcBef>
              <a:buClr>
                <a:srgbClr val="22A9C4"/>
              </a:buClr>
              <a:buSzPct val="125000"/>
            </a:pPr>
            <a:r>
              <a:rPr lang="en-US" dirty="0">
                <a:latin typeface="Calibri" charset="0"/>
                <a:ea typeface="Calibri" charset="0"/>
                <a:cs typeface="Calibri" charset="0"/>
              </a:rPr>
              <a:t>Pick the right time and location</a:t>
            </a:r>
          </a:p>
          <a:p>
            <a:pPr marL="217880" indent="-217880" defTabSz="725073">
              <a:lnSpc>
                <a:spcPct val="200000"/>
              </a:lnSpc>
              <a:spcBef>
                <a:spcPct val="0"/>
              </a:spcBef>
              <a:buClr>
                <a:srgbClr val="22A9C4"/>
              </a:buClr>
              <a:buSzPct val="125000"/>
            </a:pPr>
            <a:r>
              <a:rPr lang="en-US" dirty="0">
                <a:latin typeface="Calibri" charset="0"/>
                <a:ea typeface="Calibri" charset="0"/>
                <a:cs typeface="Calibri" charset="0"/>
              </a:rPr>
              <a:t>Anticipate reactions</a:t>
            </a:r>
          </a:p>
          <a:p>
            <a:pPr marL="217880" indent="-217880" defTabSz="725073">
              <a:lnSpc>
                <a:spcPct val="200000"/>
              </a:lnSpc>
              <a:spcBef>
                <a:spcPct val="0"/>
              </a:spcBef>
              <a:buSzPct val="125000"/>
            </a:pPr>
            <a:endParaRPr lang="en-US" dirty="0">
              <a:latin typeface="Calibri" charset="0"/>
              <a:ea typeface="Calibri" charset="0"/>
              <a:cs typeface="Calibri" charset="0"/>
            </a:endParaRPr>
          </a:p>
          <a:p>
            <a:pPr marL="217880" indent="-217880" defTabSz="725073">
              <a:lnSpc>
                <a:spcPct val="200000"/>
              </a:lnSpc>
              <a:spcBef>
                <a:spcPct val="0"/>
              </a:spcBef>
              <a:buSzPct val="125000"/>
            </a:pPr>
            <a:endParaRPr lang="en-US" dirty="0">
              <a:latin typeface="Calibri" charset="0"/>
              <a:ea typeface="Calibri" charset="0"/>
              <a:cs typeface="Calibri" charset="0"/>
            </a:endParaRPr>
          </a:p>
          <a:p>
            <a:pPr>
              <a:lnSpc>
                <a:spcPct val="200000"/>
              </a:lnSpc>
            </a:pPr>
            <a:endParaRPr lang="en-US" dirty="0">
              <a:latin typeface="Calibri" charset="0"/>
              <a:ea typeface="Calibri" charset="0"/>
              <a:cs typeface="Calibri"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6832" y="1548334"/>
            <a:ext cx="3685008" cy="2476809"/>
          </a:xfrm>
          <a:prstGeom prst="rect">
            <a:avLst/>
          </a:prstGeom>
        </p:spPr>
      </p:pic>
    </p:spTree>
    <p:extLst>
      <p:ext uri="{BB962C8B-B14F-4D97-AF65-F5344CB8AC3E}">
        <p14:creationId xmlns:p14="http://schemas.microsoft.com/office/powerpoint/2010/main" val="237462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704532" y="1211382"/>
            <a:ext cx="7886700" cy="2415936"/>
          </a:xfrm>
        </p:spPr>
        <p:txBody>
          <a:bodyPr/>
          <a:lstStyle/>
          <a:p>
            <a:pPr algn="ctr"/>
            <a:r>
              <a:rPr lang="en-US" b="1" cap="none" dirty="0">
                <a:solidFill>
                  <a:schemeClr val="tx1"/>
                </a:solidFill>
                <a:latin typeface="Calibri" panose="020F0502020204030204" pitchFamily="34" charset="0"/>
                <a:cs typeface="Calibri" panose="020F0502020204030204" pitchFamily="34" charset="0"/>
              </a:rPr>
              <a:t>			</a:t>
            </a:r>
            <a:br>
              <a:rPr lang="en-US" b="1" cap="none" dirty="0">
                <a:solidFill>
                  <a:schemeClr val="tx1"/>
                </a:solidFill>
                <a:latin typeface="Calibri" panose="020F0502020204030204" pitchFamily="34" charset="0"/>
                <a:cs typeface="Calibri" panose="020F0502020204030204" pitchFamily="34" charset="0"/>
              </a:rPr>
            </a:b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Lead with intent</a:t>
            </a:r>
            <a:br>
              <a:rPr lang="en-US" b="1" cap="none" dirty="0">
                <a:solidFill>
                  <a:schemeClr val="tx1"/>
                </a:solidFill>
                <a:latin typeface="Calibri" panose="020F0502020204030204" pitchFamily="34" charset="0"/>
                <a:cs typeface="Calibri" panose="020F0502020204030204" pitchFamily="34" charset="0"/>
              </a:rPr>
            </a:b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102012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114808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3</a:t>
            </a:r>
          </a:p>
        </p:txBody>
      </p:sp>
    </p:spTree>
    <p:extLst>
      <p:ext uri="{BB962C8B-B14F-4D97-AF65-F5344CB8AC3E}">
        <p14:creationId xmlns:p14="http://schemas.microsoft.com/office/powerpoint/2010/main" val="1465434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406400" y="1550194"/>
            <a:ext cx="8361680" cy="3263504"/>
          </a:xfrm>
        </p:spPr>
        <p:txBody>
          <a:bodyPr>
            <a:normAutofit/>
          </a:bodyPr>
          <a:lstStyle/>
          <a:p>
            <a:pPr marL="0" indent="0" algn="ctr">
              <a:buNone/>
            </a:pPr>
            <a:r>
              <a:rPr lang="en-US" sz="4400" dirty="0">
                <a:latin typeface="Calibri" panose="020F0502020204030204" pitchFamily="34" charset="0"/>
                <a:cs typeface="Calibri" panose="020F0502020204030204" pitchFamily="34" charset="0"/>
              </a:rPr>
              <a:t>“The reason I am telling you this is …. I am hoping the result of this conversation will be ….”</a:t>
            </a:r>
            <a:endParaRPr lang="en-US" sz="4400" b="1" i="1" dirty="0">
              <a:latin typeface="Calibri" panose="020F0502020204030204" pitchFamily="34" charset="0"/>
              <a:cs typeface="Calibri" panose="020F0502020204030204" pitchFamily="34" charset="0"/>
            </a:endParaRPr>
          </a:p>
          <a:p>
            <a:pPr algn="ctr"/>
            <a:endParaRPr lang="en-US" sz="4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172627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633412" y="1544320"/>
            <a:ext cx="7886700" cy="2600960"/>
          </a:xfrm>
        </p:spPr>
        <p:txBody>
          <a:bodyPr/>
          <a:lstStyle/>
          <a:p>
            <a:pPr algn="ctr"/>
            <a:r>
              <a:rPr lang="en-US" b="1" cap="none" dirty="0">
                <a:solidFill>
                  <a:schemeClr val="tx1"/>
                </a:solidFill>
                <a:latin typeface="Calibri" panose="020F0502020204030204" pitchFamily="34" charset="0"/>
                <a:cs typeface="Calibri" panose="020F0502020204030204" pitchFamily="34" charset="0"/>
              </a:rPr>
              <a:t>			</a:t>
            </a:r>
            <a:br>
              <a:rPr lang="en-US" b="1" cap="none" dirty="0">
                <a:solidFill>
                  <a:schemeClr val="tx1"/>
                </a:solidFill>
                <a:latin typeface="Calibri" panose="020F0502020204030204" pitchFamily="34" charset="0"/>
                <a:cs typeface="Calibri" panose="020F0502020204030204" pitchFamily="34" charset="0"/>
              </a:rPr>
            </a:b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Create context - </a:t>
            </a: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    think about </a:t>
            </a:r>
            <a:r>
              <a:rPr lang="en-US" b="1" i="1" cap="none" dirty="0">
                <a:solidFill>
                  <a:schemeClr val="tx1"/>
                </a:solidFill>
                <a:latin typeface="Calibri" panose="020F0502020204030204" pitchFamily="34" charset="0"/>
                <a:cs typeface="Calibri" panose="020F0502020204030204" pitchFamily="34" charset="0"/>
              </a:rPr>
              <a:t>why</a:t>
            </a:r>
            <a:r>
              <a:rPr lang="en-US" b="1" cap="none" dirty="0">
                <a:solidFill>
                  <a:schemeClr val="tx1"/>
                </a:solidFill>
                <a:latin typeface="Calibri" panose="020F0502020204030204" pitchFamily="34" charset="0"/>
                <a:cs typeface="Calibri" panose="020F0502020204030204" pitchFamily="34" charset="0"/>
              </a:rPr>
              <a:t> first</a:t>
            </a:r>
            <a:br>
              <a:rPr lang="en-US" b="1" cap="none" dirty="0">
                <a:solidFill>
                  <a:schemeClr val="tx1"/>
                </a:solidFill>
                <a:latin typeface="Calibri" panose="020F0502020204030204" pitchFamily="34" charset="0"/>
                <a:cs typeface="Calibri" panose="020F0502020204030204" pitchFamily="34" charset="0"/>
              </a:rPr>
            </a:b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62388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75184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4</a:t>
            </a:r>
          </a:p>
        </p:txBody>
      </p:sp>
    </p:spTree>
    <p:extLst>
      <p:ext uri="{BB962C8B-B14F-4D97-AF65-F5344CB8AC3E}">
        <p14:creationId xmlns:p14="http://schemas.microsoft.com/office/powerpoint/2010/main" val="1683808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FBF7-25EE-1443-BA4A-DE385687C345}"/>
              </a:ext>
            </a:extLst>
          </p:cNvPr>
          <p:cNvSpPr>
            <a:spLocks noGrp="1"/>
          </p:cNvSpPr>
          <p:nvPr>
            <p:ph type="title"/>
          </p:nvPr>
        </p:nvSpPr>
        <p:spPr/>
        <p:txBody>
          <a:bodyPr/>
          <a:lstStyle/>
          <a:p>
            <a:r>
              <a:rPr lang="en-US" sz="2800" cap="none" dirty="0">
                <a:latin typeface="Calibri" panose="020F0502020204030204" pitchFamily="34" charset="0"/>
                <a:cs typeface="Calibri" panose="020F0502020204030204" pitchFamily="34" charset="0"/>
              </a:rPr>
              <a:t>Help people understand </a:t>
            </a:r>
            <a:r>
              <a:rPr lang="en-US" sz="2800" i="1" cap="none" dirty="0">
                <a:latin typeface="Calibri" panose="020F0502020204030204" pitchFamily="34" charset="0"/>
                <a:cs typeface="Calibri" panose="020F0502020204030204" pitchFamily="34" charset="0"/>
              </a:rPr>
              <a:t>why</a:t>
            </a:r>
            <a:r>
              <a:rPr lang="en-US" sz="2800" cap="none" dirty="0">
                <a:latin typeface="Calibri" panose="020F0502020204030204" pitchFamily="34" charset="0"/>
                <a:cs typeface="Calibri" panose="020F0502020204030204" pitchFamily="34" charset="0"/>
              </a:rPr>
              <a:t> the feedback matters</a:t>
            </a:r>
          </a:p>
        </p:txBody>
      </p:sp>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4897120" y="1158553"/>
            <a:ext cx="4003040" cy="4024275"/>
          </a:xfrm>
        </p:spPr>
        <p:txBody>
          <a:bodyPr/>
          <a:lstStyle/>
          <a:p>
            <a:pPr>
              <a:buClr>
                <a:srgbClr val="22A9C4"/>
              </a:buClr>
            </a:pPr>
            <a:r>
              <a:rPr lang="en-US" dirty="0">
                <a:latin typeface="Calibri" panose="020F0502020204030204" pitchFamily="34" charset="0"/>
                <a:cs typeface="Calibri" panose="020F0502020204030204" pitchFamily="34" charset="0"/>
              </a:rPr>
              <a:t>Overarching needs, goals and challenges</a:t>
            </a:r>
          </a:p>
          <a:p>
            <a:pPr>
              <a:lnSpc>
                <a:spcPct val="150000"/>
              </a:lnSpc>
              <a:buClr>
                <a:srgbClr val="22A9C4"/>
              </a:buClr>
            </a:pPr>
            <a:r>
              <a:rPr lang="en-US" dirty="0">
                <a:latin typeface="Calibri" panose="020F0502020204030204" pitchFamily="34" charset="0"/>
                <a:cs typeface="Calibri" panose="020F0502020204030204" pitchFamily="34" charset="0"/>
              </a:rPr>
              <a:t>Impact on the team</a:t>
            </a:r>
          </a:p>
          <a:p>
            <a:pPr>
              <a:buClr>
                <a:srgbClr val="22A9C4"/>
              </a:buClr>
            </a:pPr>
            <a:r>
              <a:rPr lang="en-US" dirty="0">
                <a:latin typeface="Calibri" panose="020F0502020204030204" pitchFamily="34" charset="0"/>
                <a:cs typeface="Calibri" panose="020F0502020204030204" pitchFamily="34" charset="0"/>
              </a:rPr>
              <a:t>Expectations of role/critical skills to perform in the job</a:t>
            </a:r>
          </a:p>
          <a:p>
            <a:pPr>
              <a:lnSpc>
                <a:spcPct val="150000"/>
              </a:lnSpc>
            </a:pPr>
            <a:endParaRPr lang="en-US"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1693C458-3523-174C-A97C-EC7C4647E8F1}"/>
              </a:ext>
            </a:extLst>
          </p:cNvPr>
          <p:cNvPicPr>
            <a:picLocks noChangeAspect="1"/>
          </p:cNvPicPr>
          <p:nvPr/>
        </p:nvPicPr>
        <p:blipFill>
          <a:blip r:embed="rId3"/>
          <a:stretch>
            <a:fillRect/>
          </a:stretch>
        </p:blipFill>
        <p:spPr>
          <a:xfrm>
            <a:off x="457200" y="1158553"/>
            <a:ext cx="4003040" cy="3043732"/>
          </a:xfrm>
          <a:prstGeom prst="rect">
            <a:avLst/>
          </a:prstGeom>
        </p:spPr>
      </p:pic>
    </p:spTree>
    <p:extLst>
      <p:ext uri="{BB962C8B-B14F-4D97-AF65-F5344CB8AC3E}">
        <p14:creationId xmlns:p14="http://schemas.microsoft.com/office/powerpoint/2010/main" val="30662553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1483360" y="1250851"/>
            <a:ext cx="7122160" cy="3037840"/>
          </a:xfrm>
        </p:spPr>
        <p:txBody>
          <a:bodyPr/>
          <a:lstStyle/>
          <a:p>
            <a:pPr algn="ctr"/>
            <a:r>
              <a:rPr lang="en-US" b="1" cap="none" dirty="0">
                <a:solidFill>
                  <a:schemeClr val="tx1"/>
                </a:solidFill>
                <a:latin typeface="Calibri" panose="020F0502020204030204" pitchFamily="34" charset="0"/>
                <a:cs typeface="Calibri" panose="020F0502020204030204" pitchFamily="34" charset="0"/>
              </a:rPr>
              <a:t>			</a:t>
            </a:r>
            <a:br>
              <a:rPr lang="en-US" b="1" cap="none" dirty="0">
                <a:solidFill>
                  <a:schemeClr val="tx1"/>
                </a:solidFill>
                <a:latin typeface="Calibri" panose="020F0502020204030204" pitchFamily="34" charset="0"/>
                <a:cs typeface="Calibri" panose="020F0502020204030204" pitchFamily="34" charset="0"/>
              </a:rPr>
            </a:b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Ask questions to understand and to be understood</a:t>
            </a:r>
            <a:br>
              <a:rPr lang="en-US" b="1" cap="none" dirty="0">
                <a:solidFill>
                  <a:schemeClr val="tx1"/>
                </a:solidFill>
                <a:latin typeface="Calibri" panose="020F0502020204030204" pitchFamily="34" charset="0"/>
                <a:cs typeface="Calibri" panose="020F0502020204030204" pitchFamily="34" charset="0"/>
              </a:rPr>
            </a:b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62388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75184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5</a:t>
            </a:r>
          </a:p>
        </p:txBody>
      </p:sp>
    </p:spTree>
    <p:extLst>
      <p:ext uri="{BB962C8B-B14F-4D97-AF65-F5344CB8AC3E}">
        <p14:creationId xmlns:p14="http://schemas.microsoft.com/office/powerpoint/2010/main" val="1540945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FBF7-25EE-1443-BA4A-DE385687C345}"/>
              </a:ext>
            </a:extLst>
          </p:cNvPr>
          <p:cNvSpPr>
            <a:spLocks noGrp="1"/>
          </p:cNvSpPr>
          <p:nvPr>
            <p:ph type="title"/>
          </p:nvPr>
        </p:nvSpPr>
        <p:spPr>
          <a:xfrm>
            <a:off x="628650" y="273844"/>
            <a:ext cx="8174783" cy="994172"/>
          </a:xfrm>
        </p:spPr>
        <p:txBody>
          <a:bodyPr>
            <a:normAutofit/>
          </a:bodyPr>
          <a:lstStyle/>
          <a:p>
            <a:r>
              <a:rPr lang="en-US" sz="2800" cap="none" dirty="0">
                <a:latin typeface="Calibri" panose="020F0502020204030204" pitchFamily="34" charset="0"/>
                <a:cs typeface="Calibri" panose="020F0502020204030204" pitchFamily="34" charset="0"/>
              </a:rPr>
              <a:t>Shed the notion that giving feedback means doing most or all of the talking</a:t>
            </a:r>
          </a:p>
        </p:txBody>
      </p:sp>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628650" y="1483519"/>
            <a:ext cx="7886700" cy="3263504"/>
          </a:xfrm>
        </p:spPr>
        <p:txBody>
          <a:bodyPr/>
          <a:lstStyle/>
          <a:p>
            <a:pPr>
              <a:lnSpc>
                <a:spcPct val="150000"/>
              </a:lnSpc>
              <a:buClr>
                <a:srgbClr val="22A9C4"/>
              </a:buClr>
            </a:pPr>
            <a:r>
              <a:rPr lang="en-US" dirty="0">
                <a:latin typeface="Calibri" panose="020F0502020204030204" pitchFamily="34" charset="0"/>
                <a:cs typeface="Calibri" panose="020F0502020204030204" pitchFamily="34" charset="0"/>
              </a:rPr>
              <a:t>Listen!</a:t>
            </a:r>
          </a:p>
          <a:p>
            <a:pPr>
              <a:lnSpc>
                <a:spcPct val="150000"/>
              </a:lnSpc>
              <a:buClr>
                <a:srgbClr val="22A9C4"/>
              </a:buClr>
            </a:pPr>
            <a:r>
              <a:rPr lang="en-US" dirty="0">
                <a:latin typeface="Calibri" panose="020F0502020204030204" pitchFamily="34" charset="0"/>
                <a:cs typeface="Calibri" panose="020F0502020204030204" pitchFamily="34" charset="0"/>
              </a:rPr>
              <a:t>Ask questions to clarify </a:t>
            </a:r>
          </a:p>
          <a:p>
            <a:pPr>
              <a:lnSpc>
                <a:spcPct val="150000"/>
              </a:lnSpc>
              <a:buClr>
                <a:srgbClr val="22A9C4"/>
              </a:buClr>
            </a:pPr>
            <a:r>
              <a:rPr lang="en-US" dirty="0">
                <a:latin typeface="Calibri" panose="020F0502020204030204" pitchFamily="34" charset="0"/>
                <a:cs typeface="Calibri" panose="020F0502020204030204" pitchFamily="34" charset="0"/>
              </a:rPr>
              <a:t>Reflect</a:t>
            </a:r>
          </a:p>
          <a:p>
            <a:pPr>
              <a:lnSpc>
                <a:spcPct val="150000"/>
              </a:lnSpc>
              <a:buClr>
                <a:srgbClr val="22A9C4"/>
              </a:buClr>
            </a:pPr>
            <a:r>
              <a:rPr lang="en-US" dirty="0">
                <a:latin typeface="Calibri" panose="020F0502020204030204" pitchFamily="34" charset="0"/>
                <a:cs typeface="Calibri" panose="020F0502020204030204" pitchFamily="34" charset="0"/>
              </a:rPr>
              <a:t>Show empathy </a:t>
            </a:r>
          </a:p>
        </p:txBody>
      </p:sp>
    </p:spTree>
    <p:extLst>
      <p:ext uri="{BB962C8B-B14F-4D97-AF65-F5344CB8AC3E}">
        <p14:creationId xmlns:p14="http://schemas.microsoft.com/office/powerpoint/2010/main" val="1877201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Communispace_4-color_White.png"/>
          <p:cNvPicPr>
            <a:picLocks noChangeAspect="1"/>
          </p:cNvPicPr>
          <p:nvPr/>
        </p:nvPicPr>
        <p:blipFill>
          <a:blip r:embed="rId3" cstate="print"/>
          <a:srcRect l="58213" b="23734"/>
          <a:stretch>
            <a:fillRect/>
          </a:stretch>
        </p:blipFill>
        <p:spPr>
          <a:xfrm>
            <a:off x="6243637" y="4936233"/>
            <a:ext cx="141531" cy="171450"/>
          </a:xfrm>
          <a:prstGeom prst="rect">
            <a:avLst/>
          </a:prstGeom>
          <a:noFill/>
          <a:ln>
            <a:noFill/>
          </a:ln>
        </p:spPr>
      </p:pic>
      <p:sp>
        <p:nvSpPr>
          <p:cNvPr id="17" name="Subtitle 5"/>
          <p:cNvSpPr>
            <a:spLocks noGrp="1"/>
          </p:cNvSpPr>
          <p:nvPr>
            <p:ph type="subTitle" idx="4294967295"/>
          </p:nvPr>
        </p:nvSpPr>
        <p:spPr>
          <a:xfrm>
            <a:off x="2527543" y="0"/>
            <a:ext cx="3857625" cy="300038"/>
          </a:xfrm>
        </p:spPr>
        <p:txBody>
          <a:bodyPr>
            <a:noAutofit/>
          </a:bodyPr>
          <a:lstStyle/>
          <a:p>
            <a:pPr algn="ctr">
              <a:buNone/>
            </a:pPr>
            <a:r>
              <a:rPr lang="en-US" sz="1400" b="1" dirty="0">
                <a:latin typeface="Calibri" charset="0"/>
                <a:ea typeface="Calibri" charset="0"/>
                <a:cs typeface="Calibri" charset="0"/>
              </a:rPr>
              <a:t>Feedback Communication Skills</a:t>
            </a:r>
          </a:p>
          <a:p>
            <a:pPr algn="ctr">
              <a:buNone/>
            </a:pPr>
            <a:r>
              <a:rPr lang="en-US" sz="900" i="1" dirty="0">
                <a:latin typeface="Calibri" charset="0"/>
                <a:ea typeface="Calibri" charset="0"/>
                <a:cs typeface="Calibri" charset="0"/>
              </a:rPr>
              <a:t>From: Gathering Constructive Feedback</a:t>
            </a:r>
          </a:p>
        </p:txBody>
      </p:sp>
      <p:graphicFrame>
        <p:nvGraphicFramePr>
          <p:cNvPr id="20" name="Table 19"/>
          <p:cNvGraphicFramePr>
            <a:graphicFrameLocks noGrp="1"/>
          </p:cNvGraphicFramePr>
          <p:nvPr/>
        </p:nvGraphicFramePr>
        <p:xfrm>
          <a:off x="202019" y="542273"/>
          <a:ext cx="8739962" cy="4440014"/>
        </p:xfrm>
        <a:graphic>
          <a:graphicData uri="http://schemas.openxmlformats.org/drawingml/2006/table">
            <a:tbl>
              <a:tblPr firstRow="1" bandRow="1">
                <a:tableStyleId>{BC89EF96-8CEA-46FF-86C4-4CE0E7609802}</a:tableStyleId>
              </a:tblPr>
              <a:tblGrid>
                <a:gridCol w="946297">
                  <a:extLst>
                    <a:ext uri="{9D8B030D-6E8A-4147-A177-3AD203B41FA5}">
                      <a16:colId xmlns:a16="http://schemas.microsoft.com/office/drawing/2014/main" val="20000"/>
                    </a:ext>
                  </a:extLst>
                </a:gridCol>
                <a:gridCol w="3816871">
                  <a:extLst>
                    <a:ext uri="{9D8B030D-6E8A-4147-A177-3AD203B41FA5}">
                      <a16:colId xmlns:a16="http://schemas.microsoft.com/office/drawing/2014/main" val="20001"/>
                    </a:ext>
                  </a:extLst>
                </a:gridCol>
                <a:gridCol w="3976794">
                  <a:extLst>
                    <a:ext uri="{9D8B030D-6E8A-4147-A177-3AD203B41FA5}">
                      <a16:colId xmlns:a16="http://schemas.microsoft.com/office/drawing/2014/main" val="20002"/>
                    </a:ext>
                  </a:extLst>
                </a:gridCol>
              </a:tblGrid>
              <a:tr h="224985">
                <a:tc>
                  <a:txBody>
                    <a:bodyPr/>
                    <a:lstStyle/>
                    <a:p>
                      <a:pPr marL="0" indent="0">
                        <a:buFont typeface="Arial" panose="020B0604020202020204" pitchFamily="34" charset="0"/>
                        <a:buNone/>
                      </a:pPr>
                      <a:endParaRPr lang="en-US" sz="1000" dirty="0">
                        <a:solidFill>
                          <a:schemeClr val="tx1"/>
                        </a:solidFill>
                        <a:latin typeface="Calibri" charset="0"/>
                        <a:ea typeface="Calibri" charset="0"/>
                        <a:cs typeface="Calibri" charset="0"/>
                      </a:endParaRPr>
                    </a:p>
                  </a:txBody>
                  <a:tcPr marL="51435" marR="51435" marT="25718" marB="25718">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Font typeface="Arial" panose="020B0604020202020204" pitchFamily="34" charset="0"/>
                        <a:buNone/>
                      </a:pPr>
                      <a:r>
                        <a:rPr lang="en-US" sz="1000" dirty="0">
                          <a:solidFill>
                            <a:schemeClr val="tx1"/>
                          </a:solidFill>
                          <a:latin typeface="Calibri" charset="0"/>
                          <a:ea typeface="Calibri" charset="0"/>
                          <a:cs typeface="Calibri" charset="0"/>
                        </a:rPr>
                        <a:t>What To Do…</a:t>
                      </a:r>
                    </a:p>
                  </a:txBody>
                  <a:tcPr marL="51435" marR="51435" marT="25718" marB="2571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Font typeface="Arial" panose="020B0604020202020204" pitchFamily="34" charset="0"/>
                        <a:buNone/>
                      </a:pPr>
                      <a:r>
                        <a:rPr lang="en-US" sz="1000" dirty="0">
                          <a:solidFill>
                            <a:schemeClr val="tx1"/>
                          </a:solidFill>
                          <a:latin typeface="Calibri" charset="0"/>
                          <a:ea typeface="Calibri" charset="0"/>
                          <a:cs typeface="Calibri" charset="0"/>
                        </a:rPr>
                        <a:t>What</a:t>
                      </a:r>
                      <a:r>
                        <a:rPr lang="en-US" sz="1000" baseline="0" dirty="0">
                          <a:solidFill>
                            <a:schemeClr val="tx1"/>
                          </a:solidFill>
                          <a:latin typeface="Calibri" charset="0"/>
                          <a:ea typeface="Calibri" charset="0"/>
                          <a:cs typeface="Calibri" charset="0"/>
                        </a:rPr>
                        <a:t> To Say…</a:t>
                      </a:r>
                      <a:endParaRPr lang="en-US" sz="1000" dirty="0">
                        <a:solidFill>
                          <a:schemeClr val="tx1"/>
                        </a:solidFill>
                        <a:latin typeface="Calibri" charset="0"/>
                        <a:ea typeface="Calibri" charset="0"/>
                        <a:cs typeface="Calibri" charset="0"/>
                      </a:endParaRPr>
                    </a:p>
                  </a:txBody>
                  <a:tcPr marL="51435" marR="51435" marT="25718" marB="25718">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73799">
                <a:tc>
                  <a:txBody>
                    <a:bodyPr/>
                    <a:lstStyle/>
                    <a:p>
                      <a:pPr marL="0" indent="0" algn="ctr" defTabSz="914400" rtl="0" eaLnBrk="1" latinLnBrk="0" hangingPunct="1">
                        <a:buFont typeface="Arial" panose="020B0604020202020204" pitchFamily="34" charset="0"/>
                        <a:buNone/>
                      </a:pPr>
                      <a:r>
                        <a:rPr lang="en-US" sz="1000" b="1" kern="1200" dirty="0">
                          <a:solidFill>
                            <a:schemeClr val="tx1"/>
                          </a:solidFill>
                          <a:latin typeface="Calibri" charset="0"/>
                          <a:ea typeface="Calibri" charset="0"/>
                          <a:cs typeface="Calibri" charset="0"/>
                        </a:rPr>
                        <a:t>ENCOURAGING</a:t>
                      </a:r>
                    </a:p>
                  </a:txBody>
                  <a:tcPr marL="51435" marR="51435" marT="25718" marB="25718" anchor="ctr">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Use verbal and non-verbal prompts to keep the conversation flowing and to demonstrate interest in the other person’s response</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 Empathize</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 Please say more about…..</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 That’s a really good point</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 I’m glad you brought this to my attention</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 I can understand why you’d feel that way</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774952">
                <a:tc>
                  <a:txBody>
                    <a:bodyPr/>
                    <a:lstStyle/>
                    <a:p>
                      <a:pPr marL="0" indent="0" algn="ctr" defTabSz="914400" rtl="0" eaLnBrk="1" latinLnBrk="0" hangingPunct="1">
                        <a:buFont typeface="Arial" panose="020B0604020202020204" pitchFamily="34" charset="0"/>
                        <a:buNone/>
                      </a:pPr>
                      <a:r>
                        <a:rPr lang="en-US" sz="1000" b="1" kern="1200" dirty="0">
                          <a:solidFill>
                            <a:schemeClr val="tx1"/>
                          </a:solidFill>
                          <a:latin typeface="Calibri" charset="0"/>
                          <a:ea typeface="Calibri" charset="0"/>
                          <a:cs typeface="Calibri" charset="0"/>
                        </a:rPr>
                        <a:t>QUESTIONING</a:t>
                      </a:r>
                    </a:p>
                  </a:txBody>
                  <a:tcPr marL="51435" marR="51435" marT="25718" marB="25718" anchor="ctr">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Use closed and open-ended questions to explore the feedback or the situation from a number of perspectives.</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Inquire about the other person’s understanding of the feedback</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 Ask for clarity and/or more detail</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 What happened from your perspective?</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 I want to be sure I understand—can you give me more detail?</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What is it that you agree/disagree with about the feedback I’m sharing with you? What would be an example of….?</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937832">
                <a:tc>
                  <a:txBody>
                    <a:bodyPr/>
                    <a:lstStyle/>
                    <a:p>
                      <a:pPr marL="0" indent="0" algn="ctr" defTabSz="914400" rtl="0" eaLnBrk="1" latinLnBrk="0" hangingPunct="1">
                        <a:buFont typeface="Arial" panose="020B0604020202020204" pitchFamily="34" charset="0"/>
                        <a:buNone/>
                      </a:pPr>
                      <a:r>
                        <a:rPr lang="en-US" sz="1000" b="1" kern="1200" dirty="0">
                          <a:solidFill>
                            <a:schemeClr val="tx1"/>
                          </a:solidFill>
                          <a:latin typeface="Calibri" charset="0"/>
                          <a:ea typeface="Calibri" charset="0"/>
                          <a:cs typeface="Calibri" charset="0"/>
                        </a:rPr>
                        <a:t>CONFIRMING</a:t>
                      </a:r>
                    </a:p>
                  </a:txBody>
                  <a:tcPr marL="51435" marR="51435" marT="25718" marB="25718" anchor="ctr">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Use confirming to demonstrate to the other person that you have been listening and are aware of the facts and the emotions that are most important to them</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 You might need to go back to questioning if your restatement leads to new information</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Empathize</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What I hear you saying is…</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We’ve covered a lot of ground, the key points I remember are….</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Am I missing anything?</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908329">
                <a:tc>
                  <a:txBody>
                    <a:bodyPr/>
                    <a:lstStyle/>
                    <a:p>
                      <a:pPr marL="0" indent="0" algn="ctr" defTabSz="914400" rtl="0" eaLnBrk="1" latinLnBrk="0" hangingPunct="1">
                        <a:buFont typeface="Arial" panose="020B0604020202020204" pitchFamily="34" charset="0"/>
                        <a:buNone/>
                      </a:pPr>
                      <a:r>
                        <a:rPr lang="en-US" sz="1000" b="1" kern="1200" dirty="0">
                          <a:solidFill>
                            <a:schemeClr val="tx1"/>
                          </a:solidFill>
                          <a:latin typeface="Calibri" charset="0"/>
                          <a:ea typeface="Calibri" charset="0"/>
                          <a:cs typeface="Calibri" charset="0"/>
                        </a:rPr>
                        <a:t>PROVIDING</a:t>
                      </a:r>
                    </a:p>
                  </a:txBody>
                  <a:tcPr marL="51435" marR="51435" marT="25718" marB="25718" anchor="ctr">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Use providing to state your feedback and any next steps in a clear, direct, non-defensive way</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Describe the facts, feelings and reasoning that led to your feedback</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Be mindful of your, and the others person’s,  words, tone and body language when providing</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Let me share with you what I observed and why I think it’s important that we talk about it.</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Here’s an example of what I mean….</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In my experience, here’s what’s worked best….</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I observed the following….</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730377">
                <a:tc>
                  <a:txBody>
                    <a:bodyPr/>
                    <a:lstStyle/>
                    <a:p>
                      <a:pPr marL="0" indent="0" algn="ctr" defTabSz="914400" rtl="0" eaLnBrk="1" latinLnBrk="0" hangingPunct="1">
                        <a:buFont typeface="Arial" panose="020B0604020202020204" pitchFamily="34" charset="0"/>
                        <a:buNone/>
                      </a:pPr>
                      <a:r>
                        <a:rPr lang="en-US" sz="1000" b="1" kern="1200" dirty="0">
                          <a:solidFill>
                            <a:schemeClr val="tx1"/>
                          </a:solidFill>
                          <a:latin typeface="Calibri" charset="0"/>
                          <a:ea typeface="Calibri" charset="0"/>
                          <a:cs typeface="Calibri" charset="0"/>
                        </a:rPr>
                        <a:t>CHECKING </a:t>
                      </a:r>
                    </a:p>
                  </a:txBody>
                  <a:tcPr marL="51435" marR="51435" marT="25718" marB="25718" anchor="ctr">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Use checking to verify the other person has understood your feedback, and that he/she is in agreement with it</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Use checking throughout the conversation as needed to check for agreement and understanding</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Does that make sense?</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Would you agree that’s important?</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Are the next steps clear?</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Is this something you can do differently moving forward?</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2515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1030288" y="1295400"/>
            <a:ext cx="7122160" cy="3037840"/>
          </a:xfrm>
        </p:spPr>
        <p:txBody>
          <a:bodyPr/>
          <a:lstStyle/>
          <a:p>
            <a:pPr algn="ctr"/>
            <a:r>
              <a:rPr lang="en-US" b="1" cap="none" dirty="0">
                <a:solidFill>
                  <a:schemeClr val="tx1"/>
                </a:solidFill>
                <a:latin typeface="Calibri" panose="020F0502020204030204" pitchFamily="34" charset="0"/>
                <a:cs typeface="Calibri" panose="020F0502020204030204" pitchFamily="34" charset="0"/>
              </a:rPr>
              <a:t>			</a:t>
            </a:r>
            <a:br>
              <a:rPr lang="en-US" b="1" cap="none" dirty="0">
                <a:solidFill>
                  <a:schemeClr val="tx1"/>
                </a:solidFill>
                <a:latin typeface="Calibri" panose="020F0502020204030204" pitchFamily="34" charset="0"/>
                <a:cs typeface="Calibri" panose="020F0502020204030204" pitchFamily="34" charset="0"/>
              </a:rPr>
            </a:b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Think partnership vs. transaction</a:t>
            </a:r>
            <a:br>
              <a:rPr lang="en-US" b="1" cap="none" dirty="0">
                <a:solidFill>
                  <a:schemeClr val="tx1"/>
                </a:solidFill>
                <a:latin typeface="Calibri" panose="020F0502020204030204" pitchFamily="34" charset="0"/>
                <a:cs typeface="Calibri" panose="020F0502020204030204" pitchFamily="34" charset="0"/>
              </a:rPr>
            </a:b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103028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115824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6</a:t>
            </a:r>
          </a:p>
        </p:txBody>
      </p:sp>
    </p:spTree>
    <p:extLst>
      <p:ext uri="{BB962C8B-B14F-4D97-AF65-F5344CB8AC3E}">
        <p14:creationId xmlns:p14="http://schemas.microsoft.com/office/powerpoint/2010/main" val="1518105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FBF7-25EE-1443-BA4A-DE385687C345}"/>
              </a:ext>
            </a:extLst>
          </p:cNvPr>
          <p:cNvSpPr>
            <a:spLocks noGrp="1"/>
          </p:cNvSpPr>
          <p:nvPr>
            <p:ph type="title"/>
          </p:nvPr>
        </p:nvSpPr>
        <p:spPr/>
        <p:txBody>
          <a:bodyPr/>
          <a:lstStyle/>
          <a:p>
            <a:r>
              <a:rPr lang="en-US" sz="2800" cap="none" dirty="0">
                <a:latin typeface="Calibri" panose="020F0502020204030204" pitchFamily="34" charset="0"/>
                <a:cs typeface="Calibri" panose="020F0502020204030204" pitchFamily="34" charset="0"/>
              </a:rPr>
              <a:t>Practice </a:t>
            </a:r>
            <a:r>
              <a:rPr lang="en-US" sz="2800" b="1" i="1" cap="none" dirty="0">
                <a:latin typeface="Calibri" panose="020F0502020204030204" pitchFamily="34" charset="0"/>
                <a:cs typeface="Calibri" panose="020F0502020204030204" pitchFamily="34" charset="0"/>
              </a:rPr>
              <a:t>same side </a:t>
            </a:r>
            <a:r>
              <a:rPr lang="en-US" sz="2800" cap="none" dirty="0">
                <a:latin typeface="Calibri" panose="020F0502020204030204" pitchFamily="34" charset="0"/>
                <a:cs typeface="Calibri" panose="020F0502020204030204" pitchFamily="34" charset="0"/>
              </a:rPr>
              <a:t>feedback </a:t>
            </a:r>
          </a:p>
        </p:txBody>
      </p:sp>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457200" y="1026473"/>
            <a:ext cx="8392160" cy="4024275"/>
          </a:xfrm>
        </p:spPr>
        <p:txBody>
          <a:bodyPr/>
          <a:lstStyle/>
          <a:p>
            <a:pPr>
              <a:buClr>
                <a:srgbClr val="22A9C4"/>
              </a:buClr>
            </a:pPr>
            <a:r>
              <a:rPr lang="en-US" dirty="0">
                <a:latin typeface="Calibri" panose="020F0502020204030204" pitchFamily="34" charset="0"/>
                <a:cs typeface="Calibri" panose="020F0502020204030204" pitchFamily="34" charset="0"/>
              </a:rPr>
              <a:t>Typically feedback is thought of as an issue </a:t>
            </a:r>
            <a:r>
              <a:rPr lang="en-US" i="1" dirty="0">
                <a:latin typeface="Calibri" panose="020F0502020204030204" pitchFamily="34" charset="0"/>
                <a:cs typeface="Calibri" panose="020F0502020204030204" pitchFamily="34" charset="0"/>
              </a:rPr>
              <a:t>between</a:t>
            </a:r>
            <a:r>
              <a:rPr lang="en-US" dirty="0">
                <a:latin typeface="Calibri" panose="020F0502020204030204" pitchFamily="34" charset="0"/>
                <a:cs typeface="Calibri" panose="020F0502020204030204" pitchFamily="34" charset="0"/>
              </a:rPr>
              <a:t> people … </a:t>
            </a:r>
          </a:p>
          <a:p>
            <a:endParaRPr lang="en-US" dirty="0">
              <a:latin typeface="Calibri" panose="020F0502020204030204" pitchFamily="34" charset="0"/>
              <a:cs typeface="Calibri" panose="020F0502020204030204" pitchFamily="34" charset="0"/>
            </a:endParaRPr>
          </a:p>
          <a:p>
            <a:pPr marL="0" indent="0" algn="ctr">
              <a:buNone/>
            </a:pPr>
            <a:r>
              <a:rPr lang="en-US" i="1" dirty="0">
                <a:solidFill>
                  <a:srgbClr val="22A9C4"/>
                </a:solidFill>
                <a:latin typeface="Calibri" panose="020F0502020204030204" pitchFamily="34" charset="0"/>
                <a:cs typeface="Calibri" panose="020F0502020204030204" pitchFamily="34" charset="0"/>
              </a:rPr>
              <a:t>“You are doing something wrong and I will tell you about it.” </a:t>
            </a:r>
            <a:r>
              <a:rPr lang="en-US" i="1" dirty="0">
                <a:solidFill>
                  <a:srgbClr val="FF0000"/>
                </a:solidFill>
                <a:latin typeface="Calibri" panose="020F0502020204030204" pitchFamily="34" charset="0"/>
                <a:cs typeface="Calibri" panose="020F0502020204030204" pitchFamily="34" charset="0"/>
              </a:rPr>
              <a:t> </a:t>
            </a:r>
          </a:p>
          <a:p>
            <a:pPr marL="0" indent="0" algn="ctr">
              <a:buNone/>
            </a:pPr>
            <a:endParaRPr lang="en-US" dirty="0">
              <a:solidFill>
                <a:srgbClr val="FF0000"/>
              </a:solidFill>
              <a:latin typeface="Calibri" panose="020F0502020204030204" pitchFamily="34" charset="0"/>
              <a:cs typeface="Calibri" panose="020F0502020204030204" pitchFamily="34" charset="0"/>
            </a:endParaRPr>
          </a:p>
          <a:p>
            <a:pPr>
              <a:buClr>
                <a:srgbClr val="22A9C4"/>
              </a:buClr>
            </a:pPr>
            <a:r>
              <a:rPr lang="en-US" dirty="0">
                <a:latin typeface="Calibri" panose="020F0502020204030204" pitchFamily="34" charset="0"/>
                <a:cs typeface="Calibri" panose="020F0502020204030204" pitchFamily="34" charset="0"/>
              </a:rPr>
              <a:t>Instead – think of feedback as </a:t>
            </a:r>
            <a:r>
              <a:rPr lang="en-US" i="1" dirty="0">
                <a:latin typeface="Calibri" panose="020F0502020204030204" pitchFamily="34" charset="0"/>
                <a:cs typeface="Calibri" panose="020F0502020204030204" pitchFamily="34" charset="0"/>
              </a:rPr>
              <a:t>we’re on the same side</a:t>
            </a:r>
            <a:r>
              <a:rPr lang="en-US" dirty="0">
                <a:latin typeface="Calibri" panose="020F0502020204030204" pitchFamily="34" charset="0"/>
                <a:cs typeface="Calibri" panose="020F0502020204030204" pitchFamily="34" charset="0"/>
              </a:rPr>
              <a:t>, sharing goals … </a:t>
            </a:r>
          </a:p>
          <a:p>
            <a:pPr marL="0" indent="0">
              <a:buNone/>
            </a:pPr>
            <a:endParaRPr lang="en-US" dirty="0">
              <a:latin typeface="Calibri" panose="020F0502020204030204" pitchFamily="34" charset="0"/>
              <a:cs typeface="Calibri" panose="020F0502020204030204" pitchFamily="34" charset="0"/>
            </a:endParaRPr>
          </a:p>
          <a:p>
            <a:pPr marL="0" indent="0" algn="ctr">
              <a:buNone/>
            </a:pPr>
            <a:r>
              <a:rPr lang="en-US" i="1" dirty="0">
                <a:solidFill>
                  <a:srgbClr val="22A9C4"/>
                </a:solidFill>
                <a:latin typeface="Calibri" panose="020F0502020204030204" pitchFamily="34" charset="0"/>
                <a:cs typeface="Calibri" panose="020F0502020204030204" pitchFamily="34" charset="0"/>
              </a:rPr>
              <a:t>“Together we’ll figure out how you can succeed.”</a:t>
            </a:r>
            <a:r>
              <a:rPr lang="en-US" i="1" dirty="0">
                <a:solidFill>
                  <a:srgbClr val="FF0000"/>
                </a:solidFill>
                <a:latin typeface="Calibri" panose="020F0502020204030204" pitchFamily="34" charset="0"/>
                <a:cs typeface="Calibri" panose="020F0502020204030204" pitchFamily="34" charset="0"/>
              </a:rPr>
              <a:t> </a:t>
            </a: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86332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250" y="226219"/>
            <a:ext cx="7886700" cy="994172"/>
          </a:xfrm>
        </p:spPr>
        <p:txBody>
          <a:bodyPr/>
          <a:lstStyle/>
          <a:p>
            <a:r>
              <a:rPr lang="en-US" sz="2400" cap="none" spc="0" dirty="0">
                <a:latin typeface="Calibri" panose="020F0502020204030204" pitchFamily="34" charset="0"/>
                <a:ea typeface="Calibri" charset="0"/>
                <a:cs typeface="Calibri" panose="020F0502020204030204" pitchFamily="34" charset="0"/>
              </a:rPr>
              <a:t>Use a SMART framework when setting goals</a:t>
            </a:r>
          </a:p>
        </p:txBody>
      </p:sp>
      <p:sp>
        <p:nvSpPr>
          <p:cNvPr id="4" name="Rectangle 3"/>
          <p:cNvSpPr/>
          <p:nvPr/>
        </p:nvSpPr>
        <p:spPr>
          <a:xfrm>
            <a:off x="574158" y="850606"/>
            <a:ext cx="8250866" cy="3083921"/>
          </a:xfrm>
          <a:prstGeom prst="rect">
            <a:avLst/>
          </a:prstGeom>
        </p:spPr>
        <p:txBody>
          <a:bodyPr wrap="square">
            <a:spAutoFit/>
          </a:bodyPr>
          <a:lstStyle/>
          <a:p>
            <a:pPr marL="295268" indent="-295268">
              <a:lnSpc>
                <a:spcPct val="200000"/>
              </a:lnSpc>
              <a:buClr>
                <a:srgbClr val="22A9C4"/>
              </a:buClr>
              <a:buChar char="•"/>
            </a:pPr>
            <a:r>
              <a:rPr lang="en-US" sz="2000" b="1" dirty="0">
                <a:solidFill>
                  <a:srgbClr val="22A9C4"/>
                </a:solidFill>
                <a:latin typeface="Calibri" charset="0"/>
                <a:ea typeface="Calibri" charset="0"/>
                <a:cs typeface="Calibri" charset="0"/>
              </a:rPr>
              <a:t>S</a:t>
            </a:r>
            <a:r>
              <a:rPr lang="en-US" sz="2000" b="1" dirty="0">
                <a:solidFill>
                  <a:srgbClr val="262626"/>
                </a:solidFill>
                <a:latin typeface="Calibri" charset="0"/>
                <a:ea typeface="Calibri" charset="0"/>
                <a:cs typeface="Calibri" charset="0"/>
              </a:rPr>
              <a:t>pecific</a:t>
            </a:r>
            <a:r>
              <a:rPr lang="en-US" sz="2000" dirty="0">
                <a:solidFill>
                  <a:srgbClr val="262626"/>
                </a:solidFill>
                <a:latin typeface="Calibri" charset="0"/>
                <a:ea typeface="Calibri" charset="0"/>
                <a:cs typeface="Calibri" charset="0"/>
              </a:rPr>
              <a:t> (simple, sensible, significant)</a:t>
            </a:r>
          </a:p>
          <a:p>
            <a:pPr marL="295268" indent="-295268">
              <a:lnSpc>
                <a:spcPct val="200000"/>
              </a:lnSpc>
              <a:buClr>
                <a:srgbClr val="22A9C4"/>
              </a:buClr>
              <a:buChar char="•"/>
            </a:pPr>
            <a:r>
              <a:rPr lang="en-US" sz="2000" b="1" dirty="0">
                <a:solidFill>
                  <a:srgbClr val="22A9C4"/>
                </a:solidFill>
                <a:latin typeface="Calibri" charset="0"/>
                <a:ea typeface="Calibri" charset="0"/>
                <a:cs typeface="Calibri" charset="0"/>
              </a:rPr>
              <a:t>M</a:t>
            </a:r>
            <a:r>
              <a:rPr lang="en-US" sz="2000" b="1" dirty="0">
                <a:solidFill>
                  <a:srgbClr val="262626"/>
                </a:solidFill>
                <a:latin typeface="Calibri" charset="0"/>
                <a:ea typeface="Calibri" charset="0"/>
                <a:cs typeface="Calibri" charset="0"/>
              </a:rPr>
              <a:t>easurable</a:t>
            </a:r>
            <a:r>
              <a:rPr lang="en-US" sz="2000" dirty="0">
                <a:solidFill>
                  <a:srgbClr val="262626"/>
                </a:solidFill>
                <a:latin typeface="Calibri" charset="0"/>
                <a:ea typeface="Calibri" charset="0"/>
                <a:cs typeface="Calibri" charset="0"/>
              </a:rPr>
              <a:t> (meaningful, motivating)</a:t>
            </a:r>
          </a:p>
          <a:p>
            <a:pPr marL="295268" indent="-295268">
              <a:lnSpc>
                <a:spcPct val="200000"/>
              </a:lnSpc>
              <a:buClr>
                <a:srgbClr val="22A9C4"/>
              </a:buClr>
              <a:buChar char="•"/>
            </a:pPr>
            <a:r>
              <a:rPr lang="en-US" sz="2000" b="1" dirty="0">
                <a:solidFill>
                  <a:srgbClr val="22A9C4"/>
                </a:solidFill>
                <a:latin typeface="Calibri" charset="0"/>
                <a:ea typeface="Calibri" charset="0"/>
                <a:cs typeface="Calibri" charset="0"/>
              </a:rPr>
              <a:t>A</a:t>
            </a:r>
            <a:r>
              <a:rPr lang="en-US" sz="2000" b="1" dirty="0">
                <a:solidFill>
                  <a:srgbClr val="262626"/>
                </a:solidFill>
                <a:latin typeface="Calibri" charset="0"/>
                <a:ea typeface="Calibri" charset="0"/>
                <a:cs typeface="Calibri" charset="0"/>
              </a:rPr>
              <a:t>chievable</a:t>
            </a:r>
            <a:r>
              <a:rPr lang="en-US" sz="2000" dirty="0">
                <a:solidFill>
                  <a:srgbClr val="262626"/>
                </a:solidFill>
                <a:latin typeface="Calibri" charset="0"/>
                <a:ea typeface="Calibri" charset="0"/>
                <a:cs typeface="Calibri" charset="0"/>
              </a:rPr>
              <a:t> (agreed, attainable)</a:t>
            </a:r>
          </a:p>
          <a:p>
            <a:pPr marL="295268" indent="-295268">
              <a:lnSpc>
                <a:spcPct val="200000"/>
              </a:lnSpc>
              <a:buClr>
                <a:srgbClr val="22A9C4"/>
              </a:buClr>
              <a:buChar char="•"/>
            </a:pPr>
            <a:r>
              <a:rPr lang="en-US" sz="2000" b="1" dirty="0">
                <a:solidFill>
                  <a:srgbClr val="22A9C4"/>
                </a:solidFill>
                <a:latin typeface="Calibri" charset="0"/>
                <a:ea typeface="Calibri" charset="0"/>
                <a:cs typeface="Calibri" charset="0"/>
              </a:rPr>
              <a:t>R</a:t>
            </a:r>
            <a:r>
              <a:rPr lang="en-US" sz="2000" b="1" dirty="0">
                <a:solidFill>
                  <a:srgbClr val="262626"/>
                </a:solidFill>
                <a:latin typeface="Calibri" charset="0"/>
                <a:ea typeface="Calibri" charset="0"/>
                <a:cs typeface="Calibri" charset="0"/>
              </a:rPr>
              <a:t>elevant</a:t>
            </a:r>
            <a:r>
              <a:rPr lang="en-US" sz="2000" dirty="0">
                <a:solidFill>
                  <a:srgbClr val="262626"/>
                </a:solidFill>
                <a:latin typeface="Calibri" charset="0"/>
                <a:ea typeface="Calibri" charset="0"/>
                <a:cs typeface="Calibri" charset="0"/>
              </a:rPr>
              <a:t> (reasonable, realistic and resourced, results-based)</a:t>
            </a:r>
          </a:p>
          <a:p>
            <a:pPr marL="295268" indent="-295268">
              <a:lnSpc>
                <a:spcPct val="200000"/>
              </a:lnSpc>
              <a:buClr>
                <a:srgbClr val="22A9C4"/>
              </a:buClr>
              <a:buChar char="•"/>
            </a:pPr>
            <a:r>
              <a:rPr lang="en-US" sz="2000" b="1" dirty="0">
                <a:solidFill>
                  <a:srgbClr val="22A9C4"/>
                </a:solidFill>
                <a:latin typeface="Calibri" charset="0"/>
                <a:ea typeface="Calibri" charset="0"/>
                <a:cs typeface="Calibri" charset="0"/>
              </a:rPr>
              <a:t>T</a:t>
            </a:r>
            <a:r>
              <a:rPr lang="en-US" sz="2000" b="1" dirty="0">
                <a:solidFill>
                  <a:srgbClr val="262626"/>
                </a:solidFill>
                <a:latin typeface="Calibri" charset="0"/>
                <a:ea typeface="Calibri" charset="0"/>
                <a:cs typeface="Calibri" charset="0"/>
              </a:rPr>
              <a:t>ime bound </a:t>
            </a:r>
            <a:r>
              <a:rPr lang="en-US" sz="2000" dirty="0">
                <a:solidFill>
                  <a:srgbClr val="262626"/>
                </a:solidFill>
                <a:latin typeface="Calibri" charset="0"/>
                <a:ea typeface="Calibri" charset="0"/>
                <a:cs typeface="Calibri" charset="0"/>
              </a:rPr>
              <a:t>(time-based, time/cost limited, time-sensitive)</a:t>
            </a:r>
            <a:endParaRPr lang="en-US" sz="2000" dirty="0">
              <a:latin typeface="Calibri" charset="0"/>
              <a:ea typeface="Calibri" charset="0"/>
              <a:cs typeface="Calibri" charset="0"/>
            </a:endParaRPr>
          </a:p>
        </p:txBody>
      </p:sp>
    </p:spTree>
    <p:extLst>
      <p:ext uri="{BB962C8B-B14F-4D97-AF65-F5344CB8AC3E}">
        <p14:creationId xmlns:p14="http://schemas.microsoft.com/office/powerpoint/2010/main" val="914341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1270000" y="1097280"/>
            <a:ext cx="7122160" cy="3108960"/>
          </a:xfrm>
        </p:spPr>
        <p:txBody>
          <a:bodyPr>
            <a:noAutofit/>
          </a:bodyPr>
          <a:lstStyle/>
          <a:p>
            <a:pPr algn="ctr"/>
            <a:r>
              <a:rPr lang="en-US" b="1" cap="none" dirty="0">
                <a:solidFill>
                  <a:schemeClr val="tx1"/>
                </a:solidFill>
                <a:latin typeface="Calibri" panose="020F0502020204030204" pitchFamily="34" charset="0"/>
                <a:cs typeface="Calibri" panose="020F0502020204030204" pitchFamily="34" charset="0"/>
              </a:rPr>
              <a:t>			</a:t>
            </a:r>
            <a:br>
              <a:rPr lang="en-US" b="1" cap="none" dirty="0">
                <a:solidFill>
                  <a:schemeClr val="tx1"/>
                </a:solidFill>
                <a:latin typeface="Calibri" panose="020F0502020204030204" pitchFamily="34" charset="0"/>
                <a:cs typeface="Calibri" panose="020F0502020204030204" pitchFamily="34" charset="0"/>
              </a:rPr>
            </a:b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Don’t underestimate the power of positive feedback</a:t>
            </a:r>
            <a:br>
              <a:rPr lang="en-US" b="1" cap="none" dirty="0">
                <a:solidFill>
                  <a:schemeClr val="tx1"/>
                </a:solidFill>
                <a:latin typeface="Calibri" panose="020F0502020204030204" pitchFamily="34" charset="0"/>
                <a:cs typeface="Calibri" panose="020F0502020204030204" pitchFamily="34" charset="0"/>
              </a:rPr>
            </a:b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62388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75184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7</a:t>
            </a:r>
          </a:p>
        </p:txBody>
      </p:sp>
    </p:spTree>
    <p:extLst>
      <p:ext uri="{BB962C8B-B14F-4D97-AF65-F5344CB8AC3E}">
        <p14:creationId xmlns:p14="http://schemas.microsoft.com/office/powerpoint/2010/main" val="4026485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FBF7-25EE-1443-BA4A-DE385687C345}"/>
              </a:ext>
            </a:extLst>
          </p:cNvPr>
          <p:cNvSpPr>
            <a:spLocks noGrp="1"/>
          </p:cNvSpPr>
          <p:nvPr>
            <p:ph type="title"/>
          </p:nvPr>
        </p:nvSpPr>
        <p:spPr>
          <a:xfrm>
            <a:off x="628650" y="988111"/>
            <a:ext cx="7886700" cy="994172"/>
          </a:xfrm>
        </p:spPr>
        <p:txBody>
          <a:bodyPr>
            <a:normAutofit/>
          </a:bodyPr>
          <a:lstStyle/>
          <a:p>
            <a:pPr algn="ctr"/>
            <a:r>
              <a:rPr lang="en-US" sz="4050" cap="none" dirty="0">
                <a:latin typeface="Calibri" panose="020F0502020204030204" pitchFamily="34" charset="0"/>
                <a:cs typeface="Calibri" panose="020F0502020204030204" pitchFamily="34" charset="0"/>
              </a:rPr>
              <a:t>Three simple guidelines</a:t>
            </a:r>
          </a:p>
        </p:txBody>
      </p:sp>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628650" y="2075800"/>
            <a:ext cx="7886700" cy="3263504"/>
          </a:xfrm>
        </p:spPr>
        <p:txBody>
          <a:bodyPr>
            <a:normAutofit/>
          </a:bodyPr>
          <a:lstStyle/>
          <a:p>
            <a:pPr marL="0" indent="0" algn="ctr">
              <a:buNone/>
            </a:pPr>
            <a:r>
              <a:rPr lang="en-US" sz="3600" b="1" dirty="0">
                <a:solidFill>
                  <a:srgbClr val="22A9C4"/>
                </a:solidFill>
                <a:latin typeface="Calibri" panose="020F0502020204030204" pitchFamily="34" charset="0"/>
                <a:cs typeface="Calibri" panose="020F0502020204030204" pitchFamily="34" charset="0"/>
              </a:rPr>
              <a:t>Be genuine </a:t>
            </a:r>
          </a:p>
          <a:p>
            <a:pPr marL="0" indent="0" algn="ctr">
              <a:buNone/>
            </a:pPr>
            <a:r>
              <a:rPr lang="en-US" sz="3600" b="1" dirty="0">
                <a:solidFill>
                  <a:srgbClr val="22A9C4"/>
                </a:solidFill>
                <a:latin typeface="Calibri" panose="020F0502020204030204" pitchFamily="34" charset="0"/>
                <a:cs typeface="Calibri" panose="020F0502020204030204" pitchFamily="34" charset="0"/>
              </a:rPr>
              <a:t>Be specific</a:t>
            </a:r>
          </a:p>
          <a:p>
            <a:pPr marL="0" indent="0" algn="ctr">
              <a:buNone/>
            </a:pPr>
            <a:r>
              <a:rPr lang="en-US" sz="3600" b="1" dirty="0">
                <a:solidFill>
                  <a:srgbClr val="22A9C4"/>
                </a:solidFill>
                <a:latin typeface="Calibri" panose="020F0502020204030204" pitchFamily="34" charset="0"/>
                <a:cs typeface="Calibri" panose="020F0502020204030204" pitchFamily="34" charset="0"/>
              </a:rPr>
              <a:t>Be timely </a:t>
            </a:r>
          </a:p>
          <a:p>
            <a:pPr algn="ctr"/>
            <a:endParaRPr lang="en-US" sz="3600" b="1"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37656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586"/>
            <a:ext cx="9144000" cy="1392865"/>
          </a:xfrm>
          <a:prstGeom prst="rect">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TextBox 3"/>
          <p:cNvSpPr txBox="1"/>
          <p:nvPr/>
        </p:nvSpPr>
        <p:spPr>
          <a:xfrm>
            <a:off x="754912" y="1041991"/>
            <a:ext cx="7687339" cy="3693319"/>
          </a:xfrm>
          <a:prstGeom prst="rect">
            <a:avLst/>
          </a:prstGeom>
          <a:noFill/>
        </p:spPr>
        <p:txBody>
          <a:bodyPr wrap="square" rtlCol="0">
            <a:spAutoFit/>
          </a:bodyPr>
          <a:lstStyle/>
          <a:p>
            <a:pPr algn="ctr"/>
            <a:r>
              <a:rPr lang="en-US" sz="5400" dirty="0">
                <a:solidFill>
                  <a:schemeClr val="bg1"/>
                </a:solidFill>
                <a:latin typeface="Calibri" charset="0"/>
                <a:ea typeface="Calibri" charset="0"/>
                <a:cs typeface="Calibri" charset="0"/>
              </a:rPr>
              <a:t>Let’s practice!</a:t>
            </a:r>
          </a:p>
          <a:p>
            <a:pPr marL="342900" indent="-342900">
              <a:buFont typeface="Arial" charset="0"/>
              <a:buChar char="•"/>
            </a:pPr>
            <a:endParaRPr lang="en-US" sz="2000" dirty="0">
              <a:latin typeface="Calibri" charset="0"/>
              <a:ea typeface="Calibri" charset="0"/>
              <a:cs typeface="Calibri" charset="0"/>
            </a:endParaRPr>
          </a:p>
          <a:p>
            <a:pPr marL="342892" indent="-342892">
              <a:buClr>
                <a:srgbClr val="22A9C4"/>
              </a:buClr>
              <a:buFont typeface="Arial" charset="0"/>
              <a:buChar char="•"/>
            </a:pPr>
            <a:r>
              <a:rPr lang="en-US" sz="2000" dirty="0">
                <a:latin typeface="Calibri" charset="0"/>
                <a:ea typeface="Calibri" charset="0"/>
                <a:cs typeface="Calibri" charset="0"/>
              </a:rPr>
              <a:t>Working in small groups … </a:t>
            </a:r>
            <a:endParaRPr lang="en-US" sz="2000" b="1" i="1" dirty="0">
              <a:latin typeface="Calibri" charset="0"/>
              <a:ea typeface="Calibri" charset="0"/>
              <a:cs typeface="Calibri" charset="0"/>
            </a:endParaRPr>
          </a:p>
          <a:p>
            <a:pPr marL="342892" indent="-342892">
              <a:buClr>
                <a:srgbClr val="22A9C4"/>
              </a:buClr>
              <a:buFont typeface="Arial" charset="0"/>
              <a:buChar char="•"/>
            </a:pPr>
            <a:r>
              <a:rPr lang="en-US" sz="2000" dirty="0">
                <a:latin typeface="Calibri" charset="0"/>
                <a:ea typeface="Calibri" charset="0"/>
                <a:cs typeface="Calibri" charset="0"/>
              </a:rPr>
              <a:t>Choose a feedback scenario from the handout, add details to make the scenario relevant</a:t>
            </a:r>
          </a:p>
          <a:p>
            <a:pPr marL="342892" indent="-342892">
              <a:buClr>
                <a:srgbClr val="22A9C4"/>
              </a:buClr>
              <a:buFont typeface="Arial" charset="0"/>
              <a:buChar char="•"/>
            </a:pPr>
            <a:r>
              <a:rPr lang="en-US" sz="2000" dirty="0">
                <a:latin typeface="Calibri" charset="0"/>
                <a:ea typeface="Calibri" charset="0"/>
                <a:cs typeface="Calibri" charset="0"/>
              </a:rPr>
              <a:t>Answer the questions in the handout – how will you engage in honest and productive dialogue?  </a:t>
            </a:r>
          </a:p>
          <a:p>
            <a:pPr marL="342892" indent="-342892">
              <a:buClr>
                <a:srgbClr val="22A9C4"/>
              </a:buClr>
              <a:buFont typeface="Arial" charset="0"/>
              <a:buChar char="•"/>
            </a:pPr>
            <a:r>
              <a:rPr lang="en-US" sz="2000" dirty="0">
                <a:latin typeface="Calibri" charset="0"/>
                <a:ea typeface="Calibri" charset="0"/>
                <a:cs typeface="Calibri" charset="0"/>
              </a:rPr>
              <a:t>What feels new/different vs. how you’ve approached feedback conversations in the past? </a:t>
            </a:r>
          </a:p>
          <a:p>
            <a:pPr marL="342892" indent="-342892">
              <a:buClr>
                <a:srgbClr val="22A9C4"/>
              </a:buClr>
              <a:buFont typeface="Arial" charset="0"/>
              <a:buChar char="•"/>
            </a:pPr>
            <a:r>
              <a:rPr lang="en-US" sz="2000" dirty="0">
                <a:latin typeface="Calibri" charset="0"/>
                <a:ea typeface="Calibri" charset="0"/>
                <a:cs typeface="Calibri" charset="0"/>
              </a:rPr>
              <a:t>Share a few examples with the whole group </a:t>
            </a:r>
          </a:p>
        </p:txBody>
      </p:sp>
    </p:spTree>
    <p:extLst>
      <p:ext uri="{BB962C8B-B14F-4D97-AF65-F5344CB8AC3E}">
        <p14:creationId xmlns:p14="http://schemas.microsoft.com/office/powerpoint/2010/main" val="3767672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2"/>
          <p:cNvSpPr txBox="1">
            <a:spLocks/>
          </p:cNvSpPr>
          <p:nvPr/>
        </p:nvSpPr>
        <p:spPr>
          <a:xfrm>
            <a:off x="0" y="2244477"/>
            <a:ext cx="9144000" cy="46935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endParaRPr lang="en-US" sz="5400" b="1" cap="none" dirty="0">
              <a:solidFill>
                <a:schemeClr val="bg1"/>
              </a:solidFill>
              <a:latin typeface="Calibri" charset="0"/>
              <a:ea typeface="Calibri" charset="0"/>
              <a:cs typeface="Calibri" charset="0"/>
            </a:endParaRPr>
          </a:p>
          <a:p>
            <a:pPr algn="ctr"/>
            <a:r>
              <a:rPr lang="en-US" sz="5400" b="1" cap="none" dirty="0">
                <a:solidFill>
                  <a:schemeClr val="bg1"/>
                </a:solidFill>
                <a:latin typeface="Calibri" charset="0"/>
                <a:ea typeface="Calibri" charset="0"/>
                <a:cs typeface="Calibri" charset="0"/>
              </a:rPr>
              <a:t>MANAGING CONFLICT</a:t>
            </a:r>
            <a:r>
              <a:rPr lang="en-US" sz="2000" b="1" cap="none" dirty="0">
                <a:solidFill>
                  <a:schemeClr val="bg1"/>
                </a:solidFill>
                <a:latin typeface="Calibri" charset="0"/>
                <a:ea typeface="Calibri" charset="0"/>
                <a:cs typeface="Calibri" charset="0"/>
              </a:rPr>
              <a:t>	</a:t>
            </a:r>
          </a:p>
          <a:p>
            <a:pPr algn="ctr"/>
            <a:endParaRPr lang="en-US" sz="4400" b="1" cap="none" dirty="0">
              <a:solidFill>
                <a:schemeClr val="bg1"/>
              </a:solidFill>
              <a:latin typeface="Calibri" charset="0"/>
              <a:ea typeface="Calibri" charset="0"/>
              <a:cs typeface="Calibri" charset="0"/>
            </a:endParaRPr>
          </a:p>
        </p:txBody>
      </p:sp>
    </p:spTree>
    <p:extLst>
      <p:ext uri="{BB962C8B-B14F-4D97-AF65-F5344CB8AC3E}">
        <p14:creationId xmlns:p14="http://schemas.microsoft.com/office/powerpoint/2010/main" val="7435734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pPr>
              <a:defRPr/>
            </a:pPr>
            <a:r>
              <a:rPr lang="en-US" altLang="en-US" cap="none" dirty="0">
                <a:latin typeface="Calibri" charset="0"/>
                <a:ea typeface="Calibri" charset="0"/>
                <a:cs typeface="Calibri" charset="0"/>
              </a:rPr>
              <a:t>Internal evolution of conflict</a:t>
            </a:r>
          </a:p>
        </p:txBody>
      </p:sp>
      <p:sp>
        <p:nvSpPr>
          <p:cNvPr id="458755" name="Rectangle 3"/>
          <p:cNvSpPr>
            <a:spLocks noGrp="1" noChangeArrowheads="1"/>
          </p:cNvSpPr>
          <p:nvPr>
            <p:ph type="body" idx="1"/>
          </p:nvPr>
        </p:nvSpPr>
        <p:spPr>
          <a:extLst>
            <a:ext uri="{91240B29-F687-4f45-9708-019B960494DF}">
              <a14:hiddenLine xmlns="" xmlns:a14="http://schemas.microsoft.com/office/drawing/2010/main" w="9525" cap="flat" cmpd="sng">
                <a:solidFill>
                  <a:schemeClr val="tx1"/>
                </a:solidFill>
                <a:prstDash val="solid"/>
                <a:miter lim="800000"/>
                <a:headEnd/>
                <a:tailEn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a:lstStyle/>
          <a:p>
            <a:pPr marL="156264" indent="-156264">
              <a:spcBef>
                <a:spcPct val="0"/>
              </a:spcBef>
              <a:buClrTx/>
              <a:defRPr/>
            </a:pPr>
            <a:endParaRPr lang="en-US" altLang="en-US" sz="1266" dirty="0"/>
          </a:p>
          <a:p>
            <a:pPr marL="156264" indent="-156264">
              <a:lnSpc>
                <a:spcPct val="150000"/>
              </a:lnSpc>
              <a:spcBef>
                <a:spcPct val="0"/>
              </a:spcBef>
              <a:buClr>
                <a:srgbClr val="CC0066"/>
              </a:buClr>
              <a:buSzPct val="125000"/>
              <a:defRPr/>
            </a:pPr>
            <a:endParaRPr lang="en-US" altLang="en-US" dirty="0"/>
          </a:p>
        </p:txBody>
      </p:sp>
      <p:sp>
        <p:nvSpPr>
          <p:cNvPr id="458758" name="Text Box 6"/>
          <p:cNvSpPr txBox="1">
            <a:spLocks noChangeArrowheads="1"/>
          </p:cNvSpPr>
          <p:nvPr/>
        </p:nvSpPr>
        <p:spPr bwMode="auto">
          <a:xfrm>
            <a:off x="1464469" y="857250"/>
            <a:ext cx="964406" cy="2871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sz="1266" b="1" dirty="0">
                <a:latin typeface="Calibri" charset="0"/>
                <a:ea typeface="Calibri" charset="0"/>
                <a:cs typeface="Calibri" charset="0"/>
              </a:rPr>
              <a:t>Facts</a:t>
            </a:r>
            <a:endParaRPr lang="en-US" altLang="en-US" sz="1266" dirty="0">
              <a:latin typeface="Calibri" charset="0"/>
              <a:ea typeface="Calibri" charset="0"/>
              <a:cs typeface="Calibri" charset="0"/>
            </a:endParaRPr>
          </a:p>
        </p:txBody>
      </p:sp>
      <p:sp>
        <p:nvSpPr>
          <p:cNvPr id="458759" name="Text Box 7"/>
          <p:cNvSpPr txBox="1">
            <a:spLocks noChangeArrowheads="1"/>
          </p:cNvSpPr>
          <p:nvPr/>
        </p:nvSpPr>
        <p:spPr bwMode="auto">
          <a:xfrm>
            <a:off x="2053828" y="1446609"/>
            <a:ext cx="1875234" cy="3519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sz="1687" b="1" dirty="0">
                <a:latin typeface="Calibri" charset="0"/>
                <a:ea typeface="Calibri" charset="0"/>
                <a:cs typeface="Calibri" charset="0"/>
              </a:rPr>
              <a:t>Perceptions</a:t>
            </a:r>
            <a:endParaRPr lang="en-US" altLang="en-US" sz="1266" dirty="0">
              <a:latin typeface="Calibri" charset="0"/>
              <a:ea typeface="Calibri" charset="0"/>
              <a:cs typeface="Calibri" charset="0"/>
            </a:endParaRPr>
          </a:p>
        </p:txBody>
      </p:sp>
      <p:sp>
        <p:nvSpPr>
          <p:cNvPr id="458760" name="Text Box 8"/>
          <p:cNvSpPr txBox="1">
            <a:spLocks noChangeArrowheads="1"/>
          </p:cNvSpPr>
          <p:nvPr/>
        </p:nvSpPr>
        <p:spPr bwMode="auto">
          <a:xfrm>
            <a:off x="2964656" y="2035969"/>
            <a:ext cx="2035969" cy="4385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sz="2250" b="1" dirty="0">
                <a:latin typeface="Calibri" charset="0"/>
                <a:ea typeface="Calibri" charset="0"/>
                <a:cs typeface="Calibri" charset="0"/>
              </a:rPr>
              <a:t>Thoughts</a:t>
            </a:r>
            <a:endParaRPr lang="en-US" altLang="en-US" sz="1266" dirty="0">
              <a:latin typeface="Calibri" charset="0"/>
              <a:ea typeface="Calibri" charset="0"/>
              <a:cs typeface="Calibri" charset="0"/>
            </a:endParaRPr>
          </a:p>
        </p:txBody>
      </p:sp>
      <p:sp>
        <p:nvSpPr>
          <p:cNvPr id="458761" name="Text Box 9"/>
          <p:cNvSpPr txBox="1">
            <a:spLocks noChangeArrowheads="1"/>
          </p:cNvSpPr>
          <p:nvPr/>
        </p:nvSpPr>
        <p:spPr bwMode="auto">
          <a:xfrm>
            <a:off x="3821906" y="3000375"/>
            <a:ext cx="2770280" cy="923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defRPr/>
            </a:pPr>
            <a:r>
              <a:rPr lang="en-US" altLang="en-US" sz="5400" b="1" dirty="0">
                <a:latin typeface="Calibri" charset="0"/>
                <a:ea typeface="Calibri" charset="0"/>
                <a:cs typeface="Calibri" charset="0"/>
              </a:rPr>
              <a:t>Feelings</a:t>
            </a:r>
            <a:endParaRPr lang="en-US" altLang="en-US" sz="5400" dirty="0">
              <a:latin typeface="Calibri" charset="0"/>
              <a:ea typeface="Calibri" charset="0"/>
              <a:cs typeface="Calibri" charset="0"/>
            </a:endParaRPr>
          </a:p>
        </p:txBody>
      </p:sp>
      <p:sp>
        <p:nvSpPr>
          <p:cNvPr id="458762" name="Text Box 10"/>
          <p:cNvSpPr txBox="1">
            <a:spLocks noChangeArrowheads="1"/>
          </p:cNvSpPr>
          <p:nvPr/>
        </p:nvSpPr>
        <p:spPr bwMode="auto">
          <a:xfrm>
            <a:off x="2160985" y="3482578"/>
            <a:ext cx="1393031"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sz="3600" b="1" dirty="0">
                <a:latin typeface="Calibri" charset="0"/>
                <a:ea typeface="Calibri" charset="0"/>
                <a:cs typeface="Calibri" charset="0"/>
              </a:rPr>
              <a:t>Hopes</a:t>
            </a:r>
            <a:endParaRPr lang="en-US" altLang="en-US" sz="3600" dirty="0">
              <a:latin typeface="Calibri" charset="0"/>
              <a:ea typeface="Calibri" charset="0"/>
              <a:cs typeface="Calibri" charset="0"/>
            </a:endParaRPr>
          </a:p>
        </p:txBody>
      </p:sp>
      <p:sp>
        <p:nvSpPr>
          <p:cNvPr id="458763" name="Text Box 11"/>
          <p:cNvSpPr txBox="1">
            <a:spLocks noChangeArrowheads="1"/>
          </p:cNvSpPr>
          <p:nvPr/>
        </p:nvSpPr>
        <p:spPr bwMode="auto">
          <a:xfrm>
            <a:off x="6803217" y="3482577"/>
            <a:ext cx="2017528"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defRPr/>
            </a:pPr>
            <a:r>
              <a:rPr lang="en-US" altLang="en-US" sz="3600" b="1" dirty="0">
                <a:latin typeface="Calibri" charset="0"/>
                <a:ea typeface="Calibri" charset="0"/>
                <a:cs typeface="Calibri" charset="0"/>
              </a:rPr>
              <a:t>Fears</a:t>
            </a:r>
            <a:endParaRPr lang="en-US" altLang="en-US" sz="3600" dirty="0">
              <a:latin typeface="Calibri" charset="0"/>
              <a:ea typeface="Calibri" charset="0"/>
              <a:cs typeface="Calibri" charset="0"/>
            </a:endParaRPr>
          </a:p>
        </p:txBody>
      </p:sp>
    </p:spTree>
    <p:extLst>
      <p:ext uri="{BB962C8B-B14F-4D97-AF65-F5344CB8AC3E}">
        <p14:creationId xmlns:p14="http://schemas.microsoft.com/office/powerpoint/2010/main" val="33422679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458755">
                                            <p:txEl>
                                              <p:pRg st="0" end="0"/>
                                            </p:txEl>
                                          </p:spTgt>
                                        </p:tgtEl>
                                        <p:attrNameLst>
                                          <p:attrName>style.visibility</p:attrName>
                                        </p:attrNameLst>
                                      </p:cBhvr>
                                      <p:to>
                                        <p:strVal val="visible"/>
                                      </p:to>
                                    </p:set>
                                    <p:animEffect transition="in" filter="wipe(left)">
                                      <p:cBhvr>
                                        <p:cTn id="7" dur="500"/>
                                        <p:tgtEl>
                                          <p:spTgt spid="458755">
                                            <p:txEl>
                                              <p:pRg st="0" end="0"/>
                                            </p:txEl>
                                          </p:spTgt>
                                        </p:tgtEl>
                                      </p:cBhvr>
                                    </p:animEffect>
                                  </p:childTnLst>
                                  <p:subTnLst>
                                    <p:animClr clrSpc="rgb" dir="cw">
                                      <p:cBhvr override="childStyle">
                                        <p:cTn dur="1" fill="hold" display="0" masterRel="nextClick" afterEffect="1"/>
                                        <p:tgtEl>
                                          <p:spTgt spid="458755">
                                            <p:txEl>
                                              <p:pRg st="0" end="0"/>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5"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6035" name="Rectangle 3"/>
          <p:cNvSpPr>
            <a:spLocks noGrp="1" noChangeArrowheads="1"/>
          </p:cNvSpPr>
          <p:nvPr>
            <p:ph type="body" idx="1"/>
          </p:nvPr>
        </p:nvSpPr>
        <p:spPr>
          <a:xfrm>
            <a:off x="457200" y="984382"/>
            <a:ext cx="8229600" cy="4024275"/>
          </a:xfrm>
          <a:extLst>
            <a:ext uri="{91240B29-F687-4f45-9708-019B960494DF}">
              <a14:hiddenLine xmlns="" xmlns:a14="http://schemas.microsoft.com/office/drawing/2010/main" w="9525" cap="flat" cmpd="sng">
                <a:solidFill>
                  <a:schemeClr val="tx1"/>
                </a:solidFill>
                <a:prstDash val="solid"/>
                <a:miter lim="800000"/>
                <a:headEnd/>
                <a:tailEn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a:lstStyle/>
          <a:p>
            <a:pPr marL="0" indent="0" algn="ctr">
              <a:lnSpc>
                <a:spcPct val="90000"/>
              </a:lnSpc>
              <a:spcBef>
                <a:spcPct val="0"/>
              </a:spcBef>
              <a:buClrTx/>
              <a:buNone/>
              <a:defRPr/>
            </a:pPr>
            <a:endParaRPr lang="en-US" altLang="en-US" sz="4000" b="1" dirty="0">
              <a:latin typeface="Calibri" panose="020F0502020204030204" pitchFamily="34" charset="0"/>
              <a:ea typeface="Calibri" charset="0"/>
              <a:cs typeface="Calibri" panose="020F0502020204030204" pitchFamily="34" charset="0"/>
            </a:endParaRPr>
          </a:p>
          <a:p>
            <a:pPr marL="0" indent="0" algn="ctr">
              <a:spcBef>
                <a:spcPct val="0"/>
              </a:spcBef>
              <a:buNone/>
              <a:defRPr/>
            </a:pPr>
            <a:r>
              <a:rPr lang="en-GB" altLang="en-US" sz="4000" dirty="0">
                <a:latin typeface="Calibri" panose="020F0502020204030204" pitchFamily="34" charset="0"/>
                <a:cs typeface="Calibri" panose="020F0502020204030204" pitchFamily="34" charset="0"/>
              </a:rPr>
              <a:t>The key is to </a:t>
            </a:r>
            <a:r>
              <a:rPr lang="en-GB" altLang="en-US" sz="4000" b="1" dirty="0">
                <a:solidFill>
                  <a:srgbClr val="FF0000"/>
                </a:solidFill>
                <a:latin typeface="Calibri" panose="020F0502020204030204" pitchFamily="34" charset="0"/>
                <a:cs typeface="Calibri" panose="020F0502020204030204" pitchFamily="34" charset="0"/>
              </a:rPr>
              <a:t>unpack the process back to its roots</a:t>
            </a:r>
            <a:r>
              <a:rPr lang="en-GB" altLang="en-US" sz="4000" dirty="0">
                <a:latin typeface="Calibri" panose="020F0502020204030204" pitchFamily="34" charset="0"/>
                <a:cs typeface="Calibri" panose="020F0502020204030204" pitchFamily="34" charset="0"/>
              </a:rPr>
              <a:t>. Very often, the perception of the facts differs from the facts themselves.</a:t>
            </a:r>
            <a:endParaRPr lang="en-US" altLang="en-US" sz="4000" dirty="0">
              <a:latin typeface="Calibri" panose="020F0502020204030204" pitchFamily="34" charset="0"/>
              <a:cs typeface="Calibri" panose="020F0502020204030204" pitchFamily="34" charset="0"/>
            </a:endParaRPr>
          </a:p>
          <a:p>
            <a:pPr marL="0" indent="0" algn="ctr">
              <a:lnSpc>
                <a:spcPct val="90000"/>
              </a:lnSpc>
              <a:spcBef>
                <a:spcPct val="0"/>
              </a:spcBef>
              <a:buClrTx/>
              <a:buNone/>
              <a:defRPr/>
            </a:pPr>
            <a:endParaRPr lang="en-US" altLang="en-US" sz="4000" b="1" dirty="0">
              <a:latin typeface="Calibri" panose="020F0502020204030204" pitchFamily="34" charset="0"/>
              <a:ea typeface="Calibri" charset="0"/>
              <a:cs typeface="Calibri" panose="020F0502020204030204" pitchFamily="34" charset="0"/>
            </a:endParaRPr>
          </a:p>
        </p:txBody>
      </p:sp>
      <p:sp>
        <p:nvSpPr>
          <p:cNvPr id="6" name="Rectangle 2">
            <a:extLst>
              <a:ext uri="{FF2B5EF4-FFF2-40B4-BE49-F238E27FC236}">
                <a16:creationId xmlns:a16="http://schemas.microsoft.com/office/drawing/2014/main" id="{6A1A5F7D-2214-C04E-AC57-D82928705C02}"/>
              </a:ext>
            </a:extLst>
          </p:cNvPr>
          <p:cNvSpPr txBox="1">
            <a:spLocks noChangeArrowheads="1"/>
          </p:cNvSpPr>
          <p:nvPr/>
        </p:nvSpPr>
        <p:spPr>
          <a:xfrm>
            <a:off x="609600" y="396836"/>
            <a:ext cx="8229600" cy="469350"/>
          </a:xfrm>
          <a:prstGeom prst="rect">
            <a:avLst/>
          </a:prstGeom>
        </p:spPr>
        <p:txBody>
          <a:bodyPr vert="horz" lIns="91440" tIns="45720" rIns="91440" bIns="45720" rtlCol="0" anchor="t"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defRPr/>
            </a:pPr>
            <a:r>
              <a:rPr lang="en-US" altLang="en-US" cap="none" dirty="0">
                <a:latin typeface="Calibri" charset="0"/>
                <a:ea typeface="Calibri" charset="0"/>
                <a:cs typeface="Calibri" charset="0"/>
              </a:rPr>
              <a:t>Internal evolution of conflict</a:t>
            </a:r>
          </a:p>
        </p:txBody>
      </p:sp>
    </p:spTree>
    <p:extLst>
      <p:ext uri="{BB962C8B-B14F-4D97-AF65-F5344CB8AC3E}">
        <p14:creationId xmlns:p14="http://schemas.microsoft.com/office/powerpoint/2010/main" val="12335916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6035">
                                            <p:txEl>
                                              <p:pRg st="1" end="1"/>
                                            </p:txEl>
                                          </p:spTgt>
                                        </p:tgtEl>
                                        <p:attrNameLst>
                                          <p:attrName>style.visibility</p:attrName>
                                        </p:attrNameLst>
                                      </p:cBhvr>
                                      <p:to>
                                        <p:strVal val="visible"/>
                                      </p:to>
                                    </p:set>
                                    <p:animEffect transition="in" filter="wipe(left)">
                                      <p:cBhvr>
                                        <p:cTn id="7" dur="500"/>
                                        <p:tgtEl>
                                          <p:spTgt spid="556035">
                                            <p:txEl>
                                              <p:pRg st="1" end="1"/>
                                            </p:txEl>
                                          </p:spTgt>
                                        </p:tgtEl>
                                      </p:cBhvr>
                                    </p:animEffect>
                                  </p:childTnLst>
                                  <p:subTnLst>
                                    <p:animClr clrSpc="rgb" dir="cw">
                                      <p:cBhvr override="childStyle">
                                        <p:cTn dur="1" fill="hold" display="0" masterRel="nextClick" afterEffect="1"/>
                                        <p:tgtEl>
                                          <p:spTgt spid="556035">
                                            <p:txEl>
                                              <p:pRg st="1" end="1"/>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lstStyle/>
          <a:p>
            <a:pPr>
              <a:defRPr/>
            </a:pPr>
            <a:r>
              <a:rPr lang="en-US" altLang="en-US" cap="none" dirty="0">
                <a:latin typeface="Calibri" charset="0"/>
                <a:ea typeface="Calibri" charset="0"/>
                <a:cs typeface="Calibri" charset="0"/>
              </a:rPr>
              <a:t>Understanding conflict </a:t>
            </a:r>
          </a:p>
        </p:txBody>
      </p:sp>
      <p:sp>
        <p:nvSpPr>
          <p:cNvPr id="556035" name="Rectangle 3"/>
          <p:cNvSpPr>
            <a:spLocks noGrp="1" noChangeArrowheads="1"/>
          </p:cNvSpPr>
          <p:nvPr>
            <p:ph type="body" idx="1"/>
          </p:nvPr>
        </p:nvSpPr>
        <p:spPr>
          <a:extLst>
            <a:ext uri="{91240B29-F687-4f45-9708-019B960494DF}">
              <a14:hiddenLine xmlns="" xmlns:a14="http://schemas.microsoft.com/office/drawing/2010/main" w="9525" cap="flat" cmpd="sng">
                <a:solidFill>
                  <a:schemeClr val="tx1"/>
                </a:solidFill>
                <a:prstDash val="solid"/>
                <a:miter lim="800000"/>
                <a:headEnd/>
                <a:tailEn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a:lstStyle/>
          <a:p>
            <a:pPr marL="0" indent="0" algn="ctr">
              <a:lnSpc>
                <a:spcPct val="90000"/>
              </a:lnSpc>
              <a:spcBef>
                <a:spcPct val="0"/>
              </a:spcBef>
              <a:buClrTx/>
              <a:buNone/>
              <a:defRPr/>
            </a:pPr>
            <a:endParaRPr lang="en-US" altLang="en-US" sz="4000" b="1" dirty="0">
              <a:latin typeface="Calibri" charset="0"/>
              <a:ea typeface="Calibri" charset="0"/>
              <a:cs typeface="Calibri" charset="0"/>
            </a:endParaRPr>
          </a:p>
          <a:p>
            <a:pPr marL="0" indent="0" algn="ctr">
              <a:lnSpc>
                <a:spcPct val="90000"/>
              </a:lnSpc>
              <a:spcBef>
                <a:spcPct val="0"/>
              </a:spcBef>
              <a:buClrTx/>
              <a:buNone/>
              <a:defRPr/>
            </a:pPr>
            <a:endParaRPr lang="en-US" altLang="en-US" sz="4000" b="1" dirty="0">
              <a:latin typeface="Calibri" charset="0"/>
              <a:ea typeface="Calibri" charset="0"/>
              <a:cs typeface="Calibri" charset="0"/>
            </a:endParaRPr>
          </a:p>
          <a:p>
            <a:pPr marL="0" indent="0" algn="ctr">
              <a:lnSpc>
                <a:spcPct val="90000"/>
              </a:lnSpc>
              <a:spcBef>
                <a:spcPct val="0"/>
              </a:spcBef>
              <a:buClrTx/>
              <a:buNone/>
              <a:defRPr/>
            </a:pPr>
            <a:r>
              <a:rPr lang="en-US" altLang="en-US" sz="4000" b="1" dirty="0">
                <a:latin typeface="Calibri" charset="0"/>
                <a:ea typeface="Calibri" charset="0"/>
                <a:cs typeface="Calibri" charset="0"/>
              </a:rPr>
              <a:t>Why do we need conflict?</a:t>
            </a:r>
          </a:p>
          <a:p>
            <a:pPr marL="0" indent="0" algn="ctr">
              <a:lnSpc>
                <a:spcPct val="90000"/>
              </a:lnSpc>
              <a:spcBef>
                <a:spcPct val="0"/>
              </a:spcBef>
              <a:buClrTx/>
              <a:buNone/>
              <a:defRPr/>
            </a:pPr>
            <a:endParaRPr lang="en-US" altLang="en-US" sz="4000" b="1" dirty="0">
              <a:latin typeface="Calibri" charset="0"/>
              <a:ea typeface="Calibri" charset="0"/>
              <a:cs typeface="Calibri" charset="0"/>
            </a:endParaRPr>
          </a:p>
          <a:p>
            <a:pPr marL="0" indent="0" algn="ctr">
              <a:lnSpc>
                <a:spcPct val="90000"/>
              </a:lnSpc>
              <a:spcBef>
                <a:spcPct val="0"/>
              </a:spcBef>
              <a:buClrTx/>
              <a:buNone/>
              <a:defRPr/>
            </a:pPr>
            <a:r>
              <a:rPr lang="en-US" altLang="en-US" sz="4000" b="1" dirty="0">
                <a:latin typeface="Calibri" charset="0"/>
                <a:ea typeface="Calibri" charset="0"/>
                <a:cs typeface="Calibri" charset="0"/>
              </a:rPr>
              <a:t>When is conflict a problem?</a:t>
            </a:r>
          </a:p>
        </p:txBody>
      </p:sp>
    </p:spTree>
    <p:extLst>
      <p:ext uri="{BB962C8B-B14F-4D97-AF65-F5344CB8AC3E}">
        <p14:creationId xmlns:p14="http://schemas.microsoft.com/office/powerpoint/2010/main" val="8408377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6035">
                                            <p:txEl>
                                              <p:pRg st="2" end="2"/>
                                            </p:txEl>
                                          </p:spTgt>
                                        </p:tgtEl>
                                        <p:attrNameLst>
                                          <p:attrName>style.visibility</p:attrName>
                                        </p:attrNameLst>
                                      </p:cBhvr>
                                      <p:to>
                                        <p:strVal val="visible"/>
                                      </p:to>
                                    </p:set>
                                    <p:animEffect transition="in" filter="wipe(left)">
                                      <p:cBhvr>
                                        <p:cTn id="7" dur="500"/>
                                        <p:tgtEl>
                                          <p:spTgt spid="556035">
                                            <p:txEl>
                                              <p:pRg st="2" end="2"/>
                                            </p:txEl>
                                          </p:spTgt>
                                        </p:tgtEl>
                                      </p:cBhvr>
                                    </p:animEffect>
                                  </p:childTnLst>
                                  <p:subTnLst>
                                    <p:animClr clrSpc="rgb" dir="cw">
                                      <p:cBhvr override="childStyle">
                                        <p:cTn dur="1" fill="hold" display="0" masterRel="nextClick" afterEffect="1"/>
                                        <p:tgtEl>
                                          <p:spTgt spid="556035">
                                            <p:txEl>
                                              <p:pRg st="2" end="2"/>
                                            </p:txEl>
                                          </p:spTgt>
                                        </p:tgtEl>
                                        <p:attrNameLst>
                                          <p:attrName>ppt_c</p:attrName>
                                        </p:attrNameLst>
                                      </p:cBhvr>
                                      <p:to>
                                        <a:srgbClr val="B2B2B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6035">
                                            <p:txEl>
                                              <p:pRg st="4" end="4"/>
                                            </p:txEl>
                                          </p:spTgt>
                                        </p:tgtEl>
                                        <p:attrNameLst>
                                          <p:attrName>style.visibility</p:attrName>
                                        </p:attrNameLst>
                                      </p:cBhvr>
                                      <p:to>
                                        <p:strVal val="visible"/>
                                      </p:to>
                                    </p:set>
                                    <p:animEffect transition="in" filter="wipe(left)">
                                      <p:cBhvr>
                                        <p:cTn id="12" dur="500"/>
                                        <p:tgtEl>
                                          <p:spTgt spid="556035">
                                            <p:txEl>
                                              <p:pRg st="4" end="4"/>
                                            </p:txEl>
                                          </p:spTgt>
                                        </p:tgtEl>
                                      </p:cBhvr>
                                    </p:animEffect>
                                  </p:childTnLst>
                                  <p:subTnLst>
                                    <p:animClr clrSpc="rgb" dir="cw">
                                      <p:cBhvr override="childStyle">
                                        <p:cTn dur="1" fill="hold" display="0" masterRel="nextClick" afterEffect="1"/>
                                        <p:tgtEl>
                                          <p:spTgt spid="556035">
                                            <p:txEl>
                                              <p:pRg st="4" end="4"/>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02" name="Rectangle 2"/>
          <p:cNvSpPr>
            <a:spLocks noGrp="1" noChangeArrowheads="1"/>
          </p:cNvSpPr>
          <p:nvPr>
            <p:ph type="title"/>
          </p:nvPr>
        </p:nvSpPr>
        <p:spPr/>
        <p:txBody>
          <a:bodyPr/>
          <a:lstStyle/>
          <a:p>
            <a:pPr>
              <a:defRPr/>
            </a:pPr>
            <a:r>
              <a:rPr lang="en-US" altLang="en-US" cap="none" dirty="0">
                <a:latin typeface="Calibri" charset="0"/>
                <a:ea typeface="Calibri" charset="0"/>
                <a:cs typeface="Calibri" charset="0"/>
              </a:rPr>
              <a:t>Understanding conflict </a:t>
            </a:r>
          </a:p>
        </p:txBody>
      </p:sp>
      <p:sp>
        <p:nvSpPr>
          <p:cNvPr id="460803" name="Rectangle 3"/>
          <p:cNvSpPr>
            <a:spLocks noGrp="1" noChangeArrowheads="1"/>
          </p:cNvSpPr>
          <p:nvPr>
            <p:ph type="body" idx="1"/>
          </p:nvPr>
        </p:nvSpPr>
        <p:spPr>
          <a:extLst>
            <a:ext uri="{91240B29-F687-4f45-9708-019B960494DF}">
              <a14:hiddenLine xmlns="" xmlns:a14="http://schemas.microsoft.com/office/drawing/2010/main" w="9525" cap="flat" cmpd="sng">
                <a:solidFill>
                  <a:schemeClr val="tx1"/>
                </a:solidFill>
                <a:prstDash val="solid"/>
                <a:miter lim="800000"/>
                <a:headEnd/>
                <a:tailEn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a:lstStyle/>
          <a:p>
            <a:pPr marL="0" indent="0" algn="ctr">
              <a:lnSpc>
                <a:spcPct val="115000"/>
              </a:lnSpc>
              <a:spcBef>
                <a:spcPct val="0"/>
              </a:spcBef>
              <a:buClr>
                <a:srgbClr val="D145D1"/>
              </a:buClr>
              <a:buSzPct val="125000"/>
              <a:buNone/>
              <a:defRPr/>
            </a:pPr>
            <a:endParaRPr lang="en-US" altLang="en-US" sz="4000" b="1" dirty="0">
              <a:latin typeface="Calibri" charset="0"/>
              <a:ea typeface="Calibri" charset="0"/>
              <a:cs typeface="Calibri" charset="0"/>
            </a:endParaRPr>
          </a:p>
          <a:p>
            <a:pPr marL="0" indent="0" algn="ctr">
              <a:lnSpc>
                <a:spcPct val="115000"/>
              </a:lnSpc>
              <a:spcBef>
                <a:spcPct val="0"/>
              </a:spcBef>
              <a:buClr>
                <a:srgbClr val="D145D1"/>
              </a:buClr>
              <a:buSzPct val="125000"/>
              <a:buNone/>
              <a:defRPr/>
            </a:pPr>
            <a:r>
              <a:rPr lang="en-US" altLang="en-US" sz="4000" b="1" dirty="0">
                <a:latin typeface="Calibri" charset="0"/>
                <a:ea typeface="Calibri" charset="0"/>
                <a:cs typeface="Calibri" charset="0"/>
              </a:rPr>
              <a:t>What are examples of actions that cause conflicts?  </a:t>
            </a:r>
          </a:p>
          <a:p>
            <a:pPr marL="0" indent="0" algn="ctr">
              <a:lnSpc>
                <a:spcPct val="115000"/>
              </a:lnSpc>
              <a:spcBef>
                <a:spcPct val="0"/>
              </a:spcBef>
              <a:buClr>
                <a:srgbClr val="D145D1"/>
              </a:buClr>
              <a:buSzPct val="125000"/>
              <a:buNone/>
              <a:defRPr/>
            </a:pPr>
            <a:endParaRPr lang="en-US" altLang="en-US" sz="4000" b="1" dirty="0">
              <a:latin typeface="Calibri" charset="0"/>
              <a:ea typeface="Calibri" charset="0"/>
              <a:cs typeface="Calibri" charset="0"/>
            </a:endParaRPr>
          </a:p>
          <a:p>
            <a:pPr marL="0" indent="0" algn="ctr">
              <a:lnSpc>
                <a:spcPct val="115000"/>
              </a:lnSpc>
              <a:spcBef>
                <a:spcPct val="0"/>
              </a:spcBef>
              <a:buClr>
                <a:srgbClr val="D145D1"/>
              </a:buClr>
              <a:buSzPct val="125000"/>
              <a:buNone/>
              <a:defRPr/>
            </a:pPr>
            <a:r>
              <a:rPr lang="en-US" altLang="en-US" sz="4000" b="1" dirty="0">
                <a:latin typeface="Calibri" charset="0"/>
                <a:ea typeface="Calibri" charset="0"/>
                <a:cs typeface="Calibri" charset="0"/>
              </a:rPr>
              <a:t>What can help to minimize conflicts?</a:t>
            </a:r>
          </a:p>
          <a:p>
            <a:pPr>
              <a:lnSpc>
                <a:spcPct val="115000"/>
              </a:lnSpc>
              <a:spcBef>
                <a:spcPct val="0"/>
              </a:spcBef>
              <a:buClr>
                <a:srgbClr val="D145D1"/>
              </a:buClr>
              <a:buSzPct val="125000"/>
              <a:buFont typeface="Arial" charset="0"/>
              <a:buChar char="•"/>
              <a:defRPr/>
            </a:pPr>
            <a:endParaRPr lang="en-US" altLang="en-US" sz="1687" dirty="0">
              <a:latin typeface="Calibri" charset="0"/>
              <a:ea typeface="Calibri" charset="0"/>
              <a:cs typeface="Calibri" charset="0"/>
            </a:endParaRPr>
          </a:p>
          <a:p>
            <a:pPr>
              <a:lnSpc>
                <a:spcPct val="115000"/>
              </a:lnSpc>
              <a:spcBef>
                <a:spcPct val="0"/>
              </a:spcBef>
              <a:buClr>
                <a:srgbClr val="D145D1"/>
              </a:buClr>
              <a:buSzPct val="125000"/>
              <a:buFont typeface="Arial" charset="0"/>
              <a:buChar char="•"/>
              <a:defRPr/>
            </a:pPr>
            <a:endParaRPr lang="en-US" altLang="en-US" dirty="0">
              <a:latin typeface="Calibri" charset="0"/>
              <a:ea typeface="Calibri" charset="0"/>
              <a:cs typeface="Calibri" charset="0"/>
            </a:endParaRPr>
          </a:p>
        </p:txBody>
      </p:sp>
    </p:spTree>
    <p:extLst>
      <p:ext uri="{BB962C8B-B14F-4D97-AF65-F5344CB8AC3E}">
        <p14:creationId xmlns:p14="http://schemas.microsoft.com/office/powerpoint/2010/main" val="9931906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03">
                                            <p:txEl>
                                              <p:pRg st="1" end="1"/>
                                            </p:txEl>
                                          </p:spTgt>
                                        </p:tgtEl>
                                        <p:attrNameLst>
                                          <p:attrName>style.visibility</p:attrName>
                                        </p:attrNameLst>
                                      </p:cBhvr>
                                      <p:to>
                                        <p:strVal val="visible"/>
                                      </p:to>
                                    </p:set>
                                    <p:animEffect transition="in" filter="wipe(left)">
                                      <p:cBhvr>
                                        <p:cTn id="7" dur="500"/>
                                        <p:tgtEl>
                                          <p:spTgt spid="460803">
                                            <p:txEl>
                                              <p:pRg st="1" end="1"/>
                                            </p:txEl>
                                          </p:spTgt>
                                        </p:tgtEl>
                                      </p:cBhvr>
                                    </p:animEffect>
                                  </p:childTnLst>
                                  <p:subTnLst>
                                    <p:animClr clrSpc="rgb" dir="cw">
                                      <p:cBhvr override="childStyle">
                                        <p:cTn dur="1" fill="hold" display="0" masterRel="nextClick" afterEffect="1"/>
                                        <p:tgtEl>
                                          <p:spTgt spid="460803">
                                            <p:txEl>
                                              <p:pRg st="1" end="1"/>
                                            </p:txEl>
                                          </p:spTgt>
                                        </p:tgtEl>
                                        <p:attrNameLst>
                                          <p:attrName>ppt_c</p:attrName>
                                        </p:attrNameLst>
                                      </p:cBhvr>
                                      <p:to>
                                        <a:srgbClr val="B2B2B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0803">
                                            <p:txEl>
                                              <p:pRg st="3" end="3"/>
                                            </p:txEl>
                                          </p:spTgt>
                                        </p:tgtEl>
                                        <p:attrNameLst>
                                          <p:attrName>style.visibility</p:attrName>
                                        </p:attrNameLst>
                                      </p:cBhvr>
                                      <p:to>
                                        <p:strVal val="visible"/>
                                      </p:to>
                                    </p:set>
                                    <p:animEffect transition="in" filter="wipe(left)">
                                      <p:cBhvr>
                                        <p:cTn id="12" dur="500"/>
                                        <p:tgtEl>
                                          <p:spTgt spid="460803">
                                            <p:txEl>
                                              <p:pRg st="3" end="3"/>
                                            </p:txEl>
                                          </p:spTgt>
                                        </p:tgtEl>
                                      </p:cBhvr>
                                    </p:animEffect>
                                  </p:childTnLst>
                                  <p:subTnLst>
                                    <p:animClr clrSpc="rgb" dir="cw">
                                      <p:cBhvr override="childStyle">
                                        <p:cTn dur="1" fill="hold" display="0" masterRel="nextClick" afterEffect="1"/>
                                        <p:tgtEl>
                                          <p:spTgt spid="460803">
                                            <p:txEl>
                                              <p:pRg st="3" end="3"/>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3"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56" y="567661"/>
            <a:ext cx="8878186" cy="4047408"/>
          </a:xfrm>
          <a:prstGeom prst="rect">
            <a:avLst/>
          </a:prstGeom>
        </p:spPr>
      </p:pic>
      <p:sp>
        <p:nvSpPr>
          <p:cNvPr id="3" name="TextBox 2"/>
          <p:cNvSpPr txBox="1"/>
          <p:nvPr/>
        </p:nvSpPr>
        <p:spPr>
          <a:xfrm>
            <a:off x="233916" y="95693"/>
            <a:ext cx="6866680" cy="646331"/>
          </a:xfrm>
          <a:prstGeom prst="rect">
            <a:avLst/>
          </a:prstGeom>
          <a:noFill/>
        </p:spPr>
        <p:txBody>
          <a:bodyPr wrap="square" rtlCol="0">
            <a:spAutoFit/>
          </a:bodyPr>
          <a:lstStyle/>
          <a:p>
            <a:r>
              <a:rPr lang="en-US" b="1" dirty="0">
                <a:solidFill>
                  <a:schemeClr val="accent4"/>
                </a:solidFill>
                <a:latin typeface="Calibri" charset="0"/>
                <a:ea typeface="Calibri" charset="0"/>
                <a:cs typeface="Calibri" charset="0"/>
              </a:rPr>
              <a:t>What did we learn from the Thomas-Kilmann Conflict assessment? </a:t>
            </a:r>
          </a:p>
          <a:p>
            <a:endParaRPr lang="en-US" b="1" dirty="0">
              <a:solidFill>
                <a:schemeClr val="accent4"/>
              </a:solidFill>
              <a:latin typeface="Calibri" charset="0"/>
              <a:ea typeface="Calibri" charset="0"/>
              <a:cs typeface="Calibri" charset="0"/>
            </a:endParaRPr>
          </a:p>
        </p:txBody>
      </p:sp>
    </p:spTree>
    <p:extLst>
      <p:ext uri="{BB962C8B-B14F-4D97-AF65-F5344CB8AC3E}">
        <p14:creationId xmlns:p14="http://schemas.microsoft.com/office/powerpoint/2010/main" val="1825230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06316" y="4635669"/>
            <a:ext cx="1137684" cy="507831"/>
          </a:xfrm>
          <a:prstGeom prst="rect">
            <a:avLst/>
          </a:prstGeom>
          <a:noFill/>
        </p:spPr>
        <p:txBody>
          <a:bodyPr wrap="square" rtlCol="0">
            <a:spAutoFit/>
          </a:bodyPr>
          <a:lstStyle/>
          <a:p>
            <a:r>
              <a:rPr lang="en-US" sz="900" i="1" dirty="0"/>
              <a:t>Ref: From Thomas-Kilmann – Conflict Mode Instrument </a:t>
            </a:r>
            <a:endParaRPr lang="en-US" sz="9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686" y="316319"/>
            <a:ext cx="6680950" cy="4827181"/>
          </a:xfrm>
          <a:prstGeom prst="rect">
            <a:avLst/>
          </a:prstGeom>
        </p:spPr>
      </p:pic>
      <p:sp>
        <p:nvSpPr>
          <p:cNvPr id="6" name="TextBox 5"/>
          <p:cNvSpPr txBox="1"/>
          <p:nvPr/>
        </p:nvSpPr>
        <p:spPr>
          <a:xfrm>
            <a:off x="233916" y="95693"/>
            <a:ext cx="5507665" cy="646331"/>
          </a:xfrm>
          <a:prstGeom prst="rect">
            <a:avLst/>
          </a:prstGeom>
          <a:noFill/>
        </p:spPr>
        <p:txBody>
          <a:bodyPr wrap="square" rtlCol="0">
            <a:spAutoFit/>
          </a:bodyPr>
          <a:lstStyle/>
          <a:p>
            <a:r>
              <a:rPr lang="en-US" b="1" dirty="0">
                <a:solidFill>
                  <a:schemeClr val="accent4"/>
                </a:solidFill>
                <a:latin typeface="Calibri" charset="0"/>
                <a:ea typeface="Calibri" charset="0"/>
                <a:cs typeface="Calibri" charset="0"/>
              </a:rPr>
              <a:t>Thomas-Kilmann Conflict Styles</a:t>
            </a:r>
          </a:p>
          <a:p>
            <a:endParaRPr lang="en-US" b="1" dirty="0">
              <a:solidFill>
                <a:schemeClr val="accent4"/>
              </a:solidFill>
              <a:latin typeface="Calibri" charset="0"/>
              <a:ea typeface="Calibri" charset="0"/>
              <a:cs typeface="Calibri" charset="0"/>
            </a:endParaRPr>
          </a:p>
        </p:txBody>
      </p:sp>
    </p:spTree>
    <p:extLst>
      <p:ext uri="{BB962C8B-B14F-4D97-AF65-F5344CB8AC3E}">
        <p14:creationId xmlns:p14="http://schemas.microsoft.com/office/powerpoint/2010/main" val="22170784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961" y="434206"/>
            <a:ext cx="6093933" cy="4709294"/>
          </a:xfrm>
          <a:prstGeom prst="rect">
            <a:avLst/>
          </a:prstGeom>
        </p:spPr>
      </p:pic>
      <p:sp>
        <p:nvSpPr>
          <p:cNvPr id="3" name="TextBox 2"/>
          <p:cNvSpPr txBox="1"/>
          <p:nvPr/>
        </p:nvSpPr>
        <p:spPr>
          <a:xfrm>
            <a:off x="255181" y="106326"/>
            <a:ext cx="8665535" cy="369332"/>
          </a:xfrm>
          <a:prstGeom prst="rect">
            <a:avLst/>
          </a:prstGeom>
          <a:noFill/>
        </p:spPr>
        <p:txBody>
          <a:bodyPr wrap="square" rtlCol="0">
            <a:spAutoFit/>
          </a:bodyPr>
          <a:lstStyle/>
          <a:p>
            <a:r>
              <a:rPr lang="en-US" b="1" dirty="0">
                <a:solidFill>
                  <a:schemeClr val="accent4"/>
                </a:solidFill>
                <a:latin typeface="Calibri" charset="0"/>
                <a:ea typeface="Calibri" charset="0"/>
                <a:cs typeface="Calibri" charset="0"/>
              </a:rPr>
              <a:t>Appropriate Use of Conflict Styles</a:t>
            </a:r>
          </a:p>
        </p:txBody>
      </p:sp>
    </p:spTree>
    <p:extLst>
      <p:ext uri="{BB962C8B-B14F-4D97-AF65-F5344CB8AC3E}">
        <p14:creationId xmlns:p14="http://schemas.microsoft.com/office/powerpoint/2010/main" val="34073064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pPr>
              <a:defRPr/>
            </a:pPr>
            <a:r>
              <a:rPr lang="en-US" altLang="en-US" cap="none" dirty="0">
                <a:latin typeface="Calibri" charset="0"/>
                <a:ea typeface="Calibri" charset="0"/>
                <a:cs typeface="Calibri" charset="0"/>
              </a:rPr>
              <a:t>Constructive conflict dialogue</a:t>
            </a:r>
          </a:p>
        </p:txBody>
      </p:sp>
      <p:sp>
        <p:nvSpPr>
          <p:cNvPr id="543747" name="Rectangle 3"/>
          <p:cNvSpPr>
            <a:spLocks noGrp="1" noChangeArrowheads="1"/>
          </p:cNvSpPr>
          <p:nvPr>
            <p:ph type="body" idx="1"/>
          </p:nvPr>
        </p:nvSpPr>
        <p:spPr>
          <a:xfrm>
            <a:off x="457200" y="2022992"/>
            <a:ext cx="8229600" cy="2921147"/>
          </a:xfrm>
          <a:extLst>
            <a:ext uri="{91240B29-F687-4f45-9708-019B960494DF}">
              <a14:hiddenLine xmlns="" xmlns:a14="http://schemas.microsoft.com/office/drawing/2010/main" w="9525" cap="flat" cmpd="sng">
                <a:solidFill>
                  <a:schemeClr val="tx1"/>
                </a:solidFill>
                <a:prstDash val="solid"/>
                <a:miter lim="800000"/>
                <a:headEnd/>
                <a:tailEn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a:lstStyle/>
          <a:p>
            <a:pPr>
              <a:spcBef>
                <a:spcPct val="0"/>
              </a:spcBef>
              <a:buClr>
                <a:srgbClr val="D145D1"/>
              </a:buClr>
              <a:buFont typeface="Arial" charset="0"/>
              <a:buChar char="•"/>
              <a:defRPr/>
            </a:pPr>
            <a:r>
              <a:rPr lang="en-GB" altLang="en-US" dirty="0">
                <a:latin typeface="Calibri" charset="0"/>
                <a:ea typeface="Calibri" charset="0"/>
                <a:cs typeface="Calibri" charset="0"/>
              </a:rPr>
              <a:t>Plan, prepare, rehearse</a:t>
            </a:r>
          </a:p>
          <a:p>
            <a:pPr>
              <a:buClr>
                <a:srgbClr val="D145D1"/>
              </a:buClr>
              <a:buFont typeface="Arial" charset="0"/>
              <a:buChar char="•"/>
              <a:defRPr/>
            </a:pPr>
            <a:r>
              <a:rPr lang="en-GB" altLang="en-US" dirty="0">
                <a:latin typeface="Calibri" charset="0"/>
                <a:ea typeface="Calibri" charset="0"/>
                <a:cs typeface="Calibri" charset="0"/>
              </a:rPr>
              <a:t>Adopt a constructive attitude</a:t>
            </a:r>
          </a:p>
          <a:p>
            <a:pPr>
              <a:buClr>
                <a:srgbClr val="D145D1"/>
              </a:buClr>
              <a:buFont typeface="Arial" charset="0"/>
              <a:buChar char="•"/>
              <a:defRPr/>
            </a:pPr>
            <a:r>
              <a:rPr lang="en-GB" altLang="en-US" dirty="0">
                <a:latin typeface="Calibri" charset="0"/>
                <a:ea typeface="Calibri" charset="0"/>
                <a:cs typeface="Calibri" charset="0"/>
              </a:rPr>
              <a:t>Assertively state the message</a:t>
            </a:r>
          </a:p>
          <a:p>
            <a:pPr>
              <a:buClr>
                <a:srgbClr val="D145D1"/>
              </a:buClr>
              <a:buFont typeface="Arial" charset="0"/>
              <a:buChar char="•"/>
              <a:defRPr/>
            </a:pPr>
            <a:r>
              <a:rPr lang="en-GB" altLang="en-US" dirty="0">
                <a:latin typeface="Calibri" charset="0"/>
                <a:ea typeface="Calibri" charset="0"/>
                <a:cs typeface="Calibri" charset="0"/>
              </a:rPr>
              <a:t>Stay quiet while the other party processes the message</a:t>
            </a:r>
          </a:p>
          <a:p>
            <a:pPr>
              <a:buClr>
                <a:srgbClr val="D145D1"/>
              </a:buClr>
              <a:buFont typeface="Arial" charset="0"/>
              <a:buChar char="•"/>
              <a:defRPr/>
            </a:pPr>
            <a:r>
              <a:rPr lang="en-GB" altLang="en-US" dirty="0">
                <a:latin typeface="Calibri" charset="0"/>
                <a:ea typeface="Calibri" charset="0"/>
                <a:cs typeface="Calibri" charset="0"/>
              </a:rPr>
              <a:t>Patiently and actively listen to the response</a:t>
            </a:r>
          </a:p>
          <a:p>
            <a:pPr>
              <a:buClr>
                <a:srgbClr val="D145D1"/>
              </a:buClr>
              <a:buFont typeface="Arial" charset="0"/>
              <a:buChar char="•"/>
              <a:defRPr/>
            </a:pPr>
            <a:r>
              <a:rPr lang="en-GB" altLang="en-US" dirty="0">
                <a:latin typeface="Calibri" charset="0"/>
                <a:ea typeface="Calibri" charset="0"/>
                <a:cs typeface="Calibri" charset="0"/>
              </a:rPr>
              <a:t>Restate and clarify</a:t>
            </a:r>
          </a:p>
          <a:p>
            <a:pPr>
              <a:buClr>
                <a:srgbClr val="D145D1"/>
              </a:buClr>
              <a:buFont typeface="Arial" charset="0"/>
              <a:buChar char="•"/>
              <a:defRPr/>
            </a:pPr>
            <a:r>
              <a:rPr lang="en-GB" altLang="en-US" dirty="0">
                <a:latin typeface="Calibri" charset="0"/>
                <a:ea typeface="Calibri" charset="0"/>
                <a:cs typeface="Calibri" charset="0"/>
              </a:rPr>
              <a:t>Focus on solutions</a:t>
            </a:r>
            <a:endParaRPr lang="en-US" altLang="en-US" dirty="0">
              <a:latin typeface="Calibri" charset="0"/>
              <a:ea typeface="Calibri" charset="0"/>
              <a:cs typeface="Calibri" charset="0"/>
            </a:endParaRPr>
          </a:p>
        </p:txBody>
      </p:sp>
      <p:sp>
        <p:nvSpPr>
          <p:cNvPr id="2" name="TextBox 1"/>
          <p:cNvSpPr txBox="1"/>
          <p:nvPr/>
        </p:nvSpPr>
        <p:spPr>
          <a:xfrm>
            <a:off x="457200" y="1014446"/>
            <a:ext cx="8229600" cy="707886"/>
          </a:xfrm>
          <a:prstGeom prst="rect">
            <a:avLst/>
          </a:prstGeom>
          <a:solidFill>
            <a:srgbClr val="D145D1"/>
          </a:solidFill>
        </p:spPr>
        <p:txBody>
          <a:bodyPr wrap="square" rtlCol="0">
            <a:spAutoFit/>
          </a:bodyPr>
          <a:lstStyle/>
          <a:p>
            <a:pPr algn="ctr"/>
            <a:r>
              <a:rPr lang="en-GB" altLang="en-US" sz="2000" b="1" dirty="0">
                <a:solidFill>
                  <a:schemeClr val="bg1"/>
                </a:solidFill>
                <a:latin typeface="Calibri" charset="0"/>
                <a:ea typeface="Calibri" charset="0"/>
                <a:cs typeface="Calibri" charset="0"/>
              </a:rPr>
              <a:t>People are often so anxious about dealing with conflict that they cannot bring themselves to open a dialogue to resolve the issue.  </a:t>
            </a:r>
            <a:endParaRPr lang="en-US" sz="2000" b="1" dirty="0">
              <a:solidFill>
                <a:schemeClr val="bg1"/>
              </a:solidFill>
              <a:latin typeface="Calibri" charset="0"/>
              <a:ea typeface="Calibri" charset="0"/>
              <a:cs typeface="Calibri" charset="0"/>
            </a:endParaRPr>
          </a:p>
        </p:txBody>
      </p:sp>
    </p:spTree>
    <p:extLst>
      <p:ext uri="{BB962C8B-B14F-4D97-AF65-F5344CB8AC3E}">
        <p14:creationId xmlns:p14="http://schemas.microsoft.com/office/powerpoint/2010/main" val="3536851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3747">
                                            <p:txEl>
                                              <p:pRg st="0" end="0"/>
                                            </p:txEl>
                                          </p:spTgt>
                                        </p:tgtEl>
                                        <p:attrNameLst>
                                          <p:attrName>style.visibility</p:attrName>
                                        </p:attrNameLst>
                                      </p:cBhvr>
                                      <p:to>
                                        <p:strVal val="visible"/>
                                      </p:to>
                                    </p:set>
                                    <p:animEffect transition="in" filter="wipe(left)">
                                      <p:cBhvr>
                                        <p:cTn id="7" dur="500"/>
                                        <p:tgtEl>
                                          <p:spTgt spid="543747">
                                            <p:txEl>
                                              <p:pRg st="0" end="0"/>
                                            </p:txEl>
                                          </p:spTgt>
                                        </p:tgtEl>
                                      </p:cBhvr>
                                    </p:animEffect>
                                  </p:childTnLst>
                                  <p:subTnLst>
                                    <p:animClr clrSpc="rgb" dir="cw">
                                      <p:cBhvr override="childStyle">
                                        <p:cTn dur="1" fill="hold" display="0" masterRel="nextClick" afterEffect="1"/>
                                        <p:tgtEl>
                                          <p:spTgt spid="543747">
                                            <p:txEl>
                                              <p:pRg st="0" end="0"/>
                                            </p:txEl>
                                          </p:spTgt>
                                        </p:tgtEl>
                                        <p:attrNameLst>
                                          <p:attrName>ppt_c</p:attrName>
                                        </p:attrNameLst>
                                      </p:cBhvr>
                                      <p:to>
                                        <a:srgbClr val="B2B2B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3747">
                                            <p:txEl>
                                              <p:pRg st="1" end="1"/>
                                            </p:txEl>
                                          </p:spTgt>
                                        </p:tgtEl>
                                        <p:attrNameLst>
                                          <p:attrName>style.visibility</p:attrName>
                                        </p:attrNameLst>
                                      </p:cBhvr>
                                      <p:to>
                                        <p:strVal val="visible"/>
                                      </p:to>
                                    </p:set>
                                    <p:animEffect transition="in" filter="wipe(left)">
                                      <p:cBhvr>
                                        <p:cTn id="12" dur="500"/>
                                        <p:tgtEl>
                                          <p:spTgt spid="543747">
                                            <p:txEl>
                                              <p:pRg st="1" end="1"/>
                                            </p:txEl>
                                          </p:spTgt>
                                        </p:tgtEl>
                                      </p:cBhvr>
                                    </p:animEffect>
                                  </p:childTnLst>
                                  <p:subTnLst>
                                    <p:animClr clrSpc="rgb" dir="cw">
                                      <p:cBhvr override="childStyle">
                                        <p:cTn dur="1" fill="hold" display="0" masterRel="nextClick" afterEffect="1"/>
                                        <p:tgtEl>
                                          <p:spTgt spid="543747">
                                            <p:txEl>
                                              <p:pRg st="1" end="1"/>
                                            </p:txEl>
                                          </p:spTgt>
                                        </p:tgtEl>
                                        <p:attrNameLst>
                                          <p:attrName>ppt_c</p:attrName>
                                        </p:attrNameLst>
                                      </p:cBhvr>
                                      <p:to>
                                        <a:srgbClr val="B2B2B2"/>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3747">
                                            <p:txEl>
                                              <p:pRg st="2" end="2"/>
                                            </p:txEl>
                                          </p:spTgt>
                                        </p:tgtEl>
                                        <p:attrNameLst>
                                          <p:attrName>style.visibility</p:attrName>
                                        </p:attrNameLst>
                                      </p:cBhvr>
                                      <p:to>
                                        <p:strVal val="visible"/>
                                      </p:to>
                                    </p:set>
                                    <p:animEffect transition="in" filter="wipe(left)">
                                      <p:cBhvr>
                                        <p:cTn id="17" dur="500"/>
                                        <p:tgtEl>
                                          <p:spTgt spid="543747">
                                            <p:txEl>
                                              <p:pRg st="2" end="2"/>
                                            </p:txEl>
                                          </p:spTgt>
                                        </p:tgtEl>
                                      </p:cBhvr>
                                    </p:animEffect>
                                  </p:childTnLst>
                                  <p:subTnLst>
                                    <p:animClr clrSpc="rgb" dir="cw">
                                      <p:cBhvr override="childStyle">
                                        <p:cTn dur="1" fill="hold" display="0" masterRel="nextClick" afterEffect="1"/>
                                        <p:tgtEl>
                                          <p:spTgt spid="543747">
                                            <p:txEl>
                                              <p:pRg st="2" end="2"/>
                                            </p:txEl>
                                          </p:spTgt>
                                        </p:tgtEl>
                                        <p:attrNameLst>
                                          <p:attrName>ppt_c</p:attrName>
                                        </p:attrNameLst>
                                      </p:cBhvr>
                                      <p:to>
                                        <a:srgbClr val="B2B2B2"/>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3747">
                                            <p:txEl>
                                              <p:pRg st="3" end="3"/>
                                            </p:txEl>
                                          </p:spTgt>
                                        </p:tgtEl>
                                        <p:attrNameLst>
                                          <p:attrName>style.visibility</p:attrName>
                                        </p:attrNameLst>
                                      </p:cBhvr>
                                      <p:to>
                                        <p:strVal val="visible"/>
                                      </p:to>
                                    </p:set>
                                    <p:animEffect transition="in" filter="wipe(left)">
                                      <p:cBhvr>
                                        <p:cTn id="22" dur="500"/>
                                        <p:tgtEl>
                                          <p:spTgt spid="543747">
                                            <p:txEl>
                                              <p:pRg st="3" end="3"/>
                                            </p:txEl>
                                          </p:spTgt>
                                        </p:tgtEl>
                                      </p:cBhvr>
                                    </p:animEffect>
                                  </p:childTnLst>
                                  <p:subTnLst>
                                    <p:animClr clrSpc="rgb" dir="cw">
                                      <p:cBhvr override="childStyle">
                                        <p:cTn dur="1" fill="hold" display="0" masterRel="nextClick" afterEffect="1"/>
                                        <p:tgtEl>
                                          <p:spTgt spid="543747">
                                            <p:txEl>
                                              <p:pRg st="3" end="3"/>
                                            </p:txEl>
                                          </p:spTgt>
                                        </p:tgtEl>
                                        <p:attrNameLst>
                                          <p:attrName>ppt_c</p:attrName>
                                        </p:attrNameLst>
                                      </p:cBhvr>
                                      <p:to>
                                        <a:srgbClr val="B2B2B2"/>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43747">
                                            <p:txEl>
                                              <p:pRg st="4" end="4"/>
                                            </p:txEl>
                                          </p:spTgt>
                                        </p:tgtEl>
                                        <p:attrNameLst>
                                          <p:attrName>style.visibility</p:attrName>
                                        </p:attrNameLst>
                                      </p:cBhvr>
                                      <p:to>
                                        <p:strVal val="visible"/>
                                      </p:to>
                                    </p:set>
                                    <p:animEffect transition="in" filter="wipe(left)">
                                      <p:cBhvr>
                                        <p:cTn id="27" dur="500"/>
                                        <p:tgtEl>
                                          <p:spTgt spid="543747">
                                            <p:txEl>
                                              <p:pRg st="4" end="4"/>
                                            </p:txEl>
                                          </p:spTgt>
                                        </p:tgtEl>
                                      </p:cBhvr>
                                    </p:animEffect>
                                  </p:childTnLst>
                                  <p:subTnLst>
                                    <p:animClr clrSpc="rgb" dir="cw">
                                      <p:cBhvr override="childStyle">
                                        <p:cTn dur="1" fill="hold" display="0" masterRel="nextClick" afterEffect="1"/>
                                        <p:tgtEl>
                                          <p:spTgt spid="543747">
                                            <p:txEl>
                                              <p:pRg st="4" end="4"/>
                                            </p:txEl>
                                          </p:spTgt>
                                        </p:tgtEl>
                                        <p:attrNameLst>
                                          <p:attrName>ppt_c</p:attrName>
                                        </p:attrNameLst>
                                      </p:cBhvr>
                                      <p:to>
                                        <a:srgbClr val="B2B2B2"/>
                                      </p:to>
                                    </p:animClr>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43747">
                                            <p:txEl>
                                              <p:pRg st="5" end="5"/>
                                            </p:txEl>
                                          </p:spTgt>
                                        </p:tgtEl>
                                        <p:attrNameLst>
                                          <p:attrName>style.visibility</p:attrName>
                                        </p:attrNameLst>
                                      </p:cBhvr>
                                      <p:to>
                                        <p:strVal val="visible"/>
                                      </p:to>
                                    </p:set>
                                    <p:animEffect transition="in" filter="wipe(left)">
                                      <p:cBhvr>
                                        <p:cTn id="32" dur="500"/>
                                        <p:tgtEl>
                                          <p:spTgt spid="543747">
                                            <p:txEl>
                                              <p:pRg st="5" end="5"/>
                                            </p:txEl>
                                          </p:spTgt>
                                        </p:tgtEl>
                                      </p:cBhvr>
                                    </p:animEffect>
                                  </p:childTnLst>
                                  <p:subTnLst>
                                    <p:animClr clrSpc="rgb" dir="cw">
                                      <p:cBhvr override="childStyle">
                                        <p:cTn dur="1" fill="hold" display="0" masterRel="nextClick" afterEffect="1"/>
                                        <p:tgtEl>
                                          <p:spTgt spid="543747">
                                            <p:txEl>
                                              <p:pRg st="5" end="5"/>
                                            </p:txEl>
                                          </p:spTgt>
                                        </p:tgtEl>
                                        <p:attrNameLst>
                                          <p:attrName>ppt_c</p:attrName>
                                        </p:attrNameLst>
                                      </p:cBhvr>
                                      <p:to>
                                        <a:srgbClr val="B2B2B2"/>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43747">
                                            <p:txEl>
                                              <p:pRg st="6" end="6"/>
                                            </p:txEl>
                                          </p:spTgt>
                                        </p:tgtEl>
                                        <p:attrNameLst>
                                          <p:attrName>style.visibility</p:attrName>
                                        </p:attrNameLst>
                                      </p:cBhvr>
                                      <p:to>
                                        <p:strVal val="visible"/>
                                      </p:to>
                                    </p:set>
                                    <p:animEffect transition="in" filter="wipe(left)">
                                      <p:cBhvr>
                                        <p:cTn id="37" dur="500"/>
                                        <p:tgtEl>
                                          <p:spTgt spid="543747">
                                            <p:txEl>
                                              <p:pRg st="6" end="6"/>
                                            </p:txEl>
                                          </p:spTgt>
                                        </p:tgtEl>
                                      </p:cBhvr>
                                    </p:animEffect>
                                  </p:childTnLst>
                                  <p:subTnLst>
                                    <p:animClr clrSpc="rgb" dir="cw">
                                      <p:cBhvr override="childStyle">
                                        <p:cTn dur="1" fill="hold" display="0" masterRel="nextClick" afterEffect="1"/>
                                        <p:tgtEl>
                                          <p:spTgt spid="543747">
                                            <p:txEl>
                                              <p:pRg st="6" end="6"/>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7"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4862" y="1602269"/>
            <a:ext cx="3391786" cy="469350"/>
          </a:xfrm>
        </p:spPr>
        <p:txBody>
          <a:bodyPr/>
          <a:lstStyle/>
          <a:p>
            <a:r>
              <a:rPr lang="en-US" b="1" cap="none" dirty="0">
                <a:latin typeface="Calibri" charset="0"/>
                <a:ea typeface="Calibri" charset="0"/>
                <a:cs typeface="Calibri" charset="0"/>
              </a:rPr>
              <a:t>Avoid “fight or flight”</a:t>
            </a:r>
          </a:p>
        </p:txBody>
      </p:sp>
      <p:sp>
        <p:nvSpPr>
          <p:cNvPr id="6" name="Oval 5"/>
          <p:cNvSpPr/>
          <p:nvPr/>
        </p:nvSpPr>
        <p:spPr>
          <a:xfrm>
            <a:off x="1133328" y="3179134"/>
            <a:ext cx="1837513" cy="1786270"/>
          </a:xfrm>
          <a:prstGeom prst="ellipse">
            <a:avLst/>
          </a:prstGeom>
          <a:solidFill>
            <a:srgbClr val="D145D1"/>
          </a:solidFill>
          <a:ln w="762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TextBox 6"/>
          <p:cNvSpPr txBox="1"/>
          <p:nvPr/>
        </p:nvSpPr>
        <p:spPr>
          <a:xfrm>
            <a:off x="1303449" y="3749103"/>
            <a:ext cx="1499191" cy="646331"/>
          </a:xfrm>
          <a:prstGeom prst="rect">
            <a:avLst/>
          </a:prstGeom>
          <a:noFill/>
        </p:spPr>
        <p:txBody>
          <a:bodyPr wrap="square" rtlCol="0">
            <a:spAutoFit/>
          </a:bodyPr>
          <a:lstStyle/>
          <a:p>
            <a:pPr algn="ctr"/>
            <a:r>
              <a:rPr lang="en-US" b="1" dirty="0">
                <a:solidFill>
                  <a:schemeClr val="bg1"/>
                </a:solidFill>
                <a:latin typeface="Calibri" charset="0"/>
                <a:ea typeface="Calibri" charset="0"/>
                <a:cs typeface="Calibri" charset="0"/>
              </a:rPr>
              <a:t>Instinctive responses </a:t>
            </a:r>
          </a:p>
        </p:txBody>
      </p:sp>
      <p:sp>
        <p:nvSpPr>
          <p:cNvPr id="8" name="Right Arrow 7"/>
          <p:cNvSpPr/>
          <p:nvPr/>
        </p:nvSpPr>
        <p:spPr>
          <a:xfrm>
            <a:off x="3623526" y="3673548"/>
            <a:ext cx="1488558" cy="797442"/>
          </a:xfrm>
          <a:prstGeom prst="rightArrow">
            <a:avLst/>
          </a:prstGeom>
          <a:solidFill>
            <a:srgbClr val="D14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TextBox 8"/>
          <p:cNvSpPr txBox="1"/>
          <p:nvPr/>
        </p:nvSpPr>
        <p:spPr>
          <a:xfrm>
            <a:off x="5786033" y="3563448"/>
            <a:ext cx="2009553" cy="1077218"/>
          </a:xfrm>
          <a:prstGeom prst="rect">
            <a:avLst/>
          </a:prstGeom>
          <a:noFill/>
        </p:spPr>
        <p:txBody>
          <a:bodyPr wrap="square" rtlCol="0">
            <a:spAutoFit/>
          </a:bodyPr>
          <a:lstStyle/>
          <a:p>
            <a:pPr algn="ctr"/>
            <a:r>
              <a:rPr lang="en-US" sz="3200" b="1" dirty="0">
                <a:latin typeface="Calibri" charset="0"/>
                <a:ea typeface="Calibri" charset="0"/>
                <a:cs typeface="Calibri" charset="0"/>
              </a:rPr>
              <a:t>Substitute responses</a:t>
            </a:r>
          </a:p>
        </p:txBody>
      </p:sp>
      <p:cxnSp>
        <p:nvCxnSpPr>
          <p:cNvPr id="11" name="Straight Connector 10"/>
          <p:cNvCxnSpPr>
            <a:stCxn id="6" idx="1"/>
          </p:cNvCxnSpPr>
          <p:nvPr/>
        </p:nvCxnSpPr>
        <p:spPr>
          <a:xfrm>
            <a:off x="1402426" y="3440727"/>
            <a:ext cx="1230094" cy="1322658"/>
          </a:xfrm>
          <a:prstGeom prst="line">
            <a:avLst/>
          </a:prstGeom>
          <a:ln w="76200">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684" y="1022161"/>
            <a:ext cx="1034147" cy="1629565"/>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7293" y="1240043"/>
            <a:ext cx="1778000" cy="1193800"/>
          </a:xfrm>
          <a:prstGeom prst="rect">
            <a:avLst/>
          </a:prstGeom>
        </p:spPr>
      </p:pic>
    </p:spTree>
    <p:extLst>
      <p:ext uri="{BB962C8B-B14F-4D97-AF65-F5344CB8AC3E}">
        <p14:creationId xmlns:p14="http://schemas.microsoft.com/office/powerpoint/2010/main" val="35165997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63" y="0"/>
            <a:ext cx="8064808" cy="5143500"/>
          </a:xfrm>
          <a:prstGeom prst="rect">
            <a:avLst/>
          </a:prstGeom>
        </p:spPr>
      </p:pic>
    </p:spTree>
    <p:extLst>
      <p:ext uri="{BB962C8B-B14F-4D97-AF65-F5344CB8AC3E}">
        <p14:creationId xmlns:p14="http://schemas.microsoft.com/office/powerpoint/2010/main" val="2941489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 y="0"/>
            <a:ext cx="9051039" cy="5143500"/>
          </a:xfrm>
          <a:prstGeom prst="rect">
            <a:avLst/>
          </a:prstGeom>
        </p:spPr>
      </p:pic>
    </p:spTree>
    <p:extLst>
      <p:ext uri="{BB962C8B-B14F-4D97-AF65-F5344CB8AC3E}">
        <p14:creationId xmlns:p14="http://schemas.microsoft.com/office/powerpoint/2010/main" val="12440668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D00061-2162-0449-AA30-1A0827698CB4}"/>
              </a:ext>
            </a:extLst>
          </p:cNvPr>
          <p:cNvSpPr txBox="1"/>
          <p:nvPr/>
        </p:nvSpPr>
        <p:spPr>
          <a:xfrm>
            <a:off x="541947" y="2110084"/>
            <a:ext cx="3838713" cy="923330"/>
          </a:xfrm>
          <a:prstGeom prst="rect">
            <a:avLst/>
          </a:prstGeom>
          <a:noFill/>
        </p:spPr>
        <p:txBody>
          <a:bodyPr wrap="square" rtlCol="0">
            <a:spAutoFit/>
          </a:bodyPr>
          <a:lstStyle/>
          <a:p>
            <a:r>
              <a:rPr lang="en-US" sz="5400" dirty="0">
                <a:latin typeface="Calibri" panose="020F0502020204030204" pitchFamily="34" charset="0"/>
                <a:cs typeface="Calibri" panose="020F0502020204030204" pitchFamily="34" charset="0"/>
              </a:rPr>
              <a:t>LOST AT SEA!</a:t>
            </a:r>
          </a:p>
        </p:txBody>
      </p:sp>
      <p:pic>
        <p:nvPicPr>
          <p:cNvPr id="5" name="Picture 4">
            <a:extLst>
              <a:ext uri="{FF2B5EF4-FFF2-40B4-BE49-F238E27FC236}">
                <a16:creationId xmlns:a16="http://schemas.microsoft.com/office/drawing/2014/main" id="{0C99A9CD-770B-5C46-B2C7-93E0BDE55FBD}"/>
              </a:ext>
            </a:extLst>
          </p:cNvPr>
          <p:cNvPicPr>
            <a:picLocks noChangeAspect="1"/>
          </p:cNvPicPr>
          <p:nvPr/>
        </p:nvPicPr>
        <p:blipFill>
          <a:blip r:embed="rId2"/>
          <a:stretch>
            <a:fillRect/>
          </a:stretch>
        </p:blipFill>
        <p:spPr>
          <a:xfrm>
            <a:off x="4497765" y="589170"/>
            <a:ext cx="4104288" cy="3965159"/>
          </a:xfrm>
          <a:prstGeom prst="rect">
            <a:avLst/>
          </a:prstGeom>
        </p:spPr>
      </p:pic>
    </p:spTree>
    <p:extLst>
      <p:ext uri="{BB962C8B-B14F-4D97-AF65-F5344CB8AC3E}">
        <p14:creationId xmlns:p14="http://schemas.microsoft.com/office/powerpoint/2010/main" val="24157998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F9A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2"/>
          <p:cNvSpPr txBox="1">
            <a:spLocks/>
          </p:cNvSpPr>
          <p:nvPr/>
        </p:nvSpPr>
        <p:spPr>
          <a:xfrm>
            <a:off x="300941" y="2337075"/>
            <a:ext cx="8391645" cy="46935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r>
              <a:rPr lang="en-US" sz="5400" b="1" cap="none" dirty="0">
                <a:solidFill>
                  <a:schemeClr val="bg1"/>
                </a:solidFill>
                <a:latin typeface="Calibri" charset="0"/>
                <a:ea typeface="Calibri" charset="0"/>
                <a:cs typeface="Calibri" charset="0"/>
              </a:rPr>
              <a:t>This week’s assignments </a:t>
            </a:r>
          </a:p>
          <a:p>
            <a:pPr algn="ctr"/>
            <a:r>
              <a:rPr lang="en-US" sz="2000" b="1" cap="none" dirty="0">
                <a:solidFill>
                  <a:schemeClr val="bg1"/>
                </a:solidFill>
                <a:latin typeface="Calibri" charset="0"/>
                <a:ea typeface="Calibri" charset="0"/>
                <a:cs typeface="Calibri" charset="0"/>
              </a:rPr>
              <a:t>	</a:t>
            </a:r>
          </a:p>
          <a:p>
            <a:pPr algn="ctr"/>
            <a:endParaRPr lang="en-US" sz="4400" b="1" cap="none" dirty="0">
              <a:solidFill>
                <a:schemeClr val="bg1"/>
              </a:solidFill>
              <a:latin typeface="Calibri" charset="0"/>
              <a:ea typeface="Calibri" charset="0"/>
              <a:cs typeface="Calibri" charset="0"/>
            </a:endParaRPr>
          </a:p>
        </p:txBody>
      </p:sp>
    </p:spTree>
    <p:extLst>
      <p:ext uri="{BB962C8B-B14F-4D97-AF65-F5344CB8AC3E}">
        <p14:creationId xmlns:p14="http://schemas.microsoft.com/office/powerpoint/2010/main" val="13982536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417" y="19528"/>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Rectangle 3"/>
          <p:cNvSpPr/>
          <p:nvPr/>
        </p:nvSpPr>
        <p:spPr>
          <a:xfrm>
            <a:off x="194291" y="374124"/>
            <a:ext cx="8721109" cy="5078313"/>
          </a:xfrm>
          <a:prstGeom prst="rect">
            <a:avLst/>
          </a:prstGeom>
        </p:spPr>
        <p:txBody>
          <a:bodyPr wrap="square">
            <a:spAutoFit/>
          </a:bodyPr>
          <a:lstStyle/>
          <a:p>
            <a:pPr marL="285750" indent="-285750">
              <a:buFont typeface="Arial" panose="020B0604020202020204" pitchFamily="34" charset="0"/>
              <a:buChar char="•"/>
            </a:pPr>
            <a:r>
              <a:rPr lang="en-US" sz="1600" b="1" dirty="0">
                <a:solidFill>
                  <a:srgbClr val="1F9AB3"/>
                </a:solidFill>
                <a:latin typeface="Calibri" charset="0"/>
                <a:ea typeface="Calibri" charset="0"/>
                <a:cs typeface="Calibri" charset="0"/>
              </a:rPr>
              <a:t>Reflect</a:t>
            </a:r>
            <a:r>
              <a:rPr lang="en-US" sz="1600" dirty="0">
                <a:latin typeface="Calibri" charset="0"/>
                <a:ea typeface="Calibri" charset="0"/>
                <a:cs typeface="Calibri" charset="0"/>
              </a:rPr>
              <a:t> on how you set goals. What process do you use? What mantras do you abide by? What works and where do you struggle? It may be easiest to consider one particular goal you've set and relate the outcome from that experience to your overall goal-setting behavior. For inspiration, </a:t>
            </a:r>
            <a:r>
              <a:rPr lang="en-US" sz="1600" b="1" dirty="0">
                <a:solidFill>
                  <a:srgbClr val="1F9AB3"/>
                </a:solidFill>
                <a:latin typeface="Calibri" charset="0"/>
                <a:ea typeface="Calibri" charset="0"/>
                <a:cs typeface="Calibri" charset="0"/>
              </a:rPr>
              <a:t>choose from</a:t>
            </a:r>
            <a:r>
              <a:rPr lang="en-US" sz="1600" dirty="0">
                <a:latin typeface="Calibri" charset="0"/>
                <a:ea typeface="Calibri" charset="0"/>
                <a:cs typeface="Calibri" charset="0"/>
              </a:rPr>
              <a:t> Fast Company’s, </a:t>
            </a:r>
            <a:r>
              <a:rPr lang="en-US" sz="1600" u="sng" dirty="0">
                <a:latin typeface="Calibri" charset="0"/>
                <a:ea typeface="Calibri" charset="0"/>
                <a:cs typeface="Calibri" charset="0"/>
                <a:hlinkClick r:id="rId3"/>
              </a:rPr>
              <a:t>“</a:t>
            </a:r>
            <a:r>
              <a:rPr lang="en-US" sz="1600" u="sng" dirty="0">
                <a:latin typeface="Calibri" charset="0"/>
                <a:ea typeface="Calibri" charset="0"/>
                <a:cs typeface="Calibri" charset="0"/>
                <a:hlinkClick r:id="rId4"/>
              </a:rPr>
              <a:t>Setting Goals Might Be Preventing You From Actually Changing Anything</a:t>
            </a:r>
            <a:r>
              <a:rPr lang="en-US" sz="1600" dirty="0">
                <a:latin typeface="Calibri" charset="0"/>
                <a:ea typeface="Calibri" charset="0"/>
                <a:cs typeface="Calibri" charset="0"/>
                <a:hlinkClick r:id="rId3"/>
              </a:rPr>
              <a:t>”</a:t>
            </a:r>
            <a:r>
              <a:rPr lang="en-US" sz="1600" dirty="0">
                <a:latin typeface="Calibri" charset="0"/>
                <a:ea typeface="Calibri" charset="0"/>
                <a:cs typeface="Calibri" charset="0"/>
              </a:rPr>
              <a:t>, HBR’s, </a:t>
            </a:r>
            <a:r>
              <a:rPr lang="en-US" sz="1600" dirty="0">
                <a:latin typeface="Calibri" charset="0"/>
                <a:ea typeface="Calibri" charset="0"/>
                <a:cs typeface="Calibri" charset="0"/>
                <a:hlinkClick r:id="rId5"/>
              </a:rPr>
              <a:t>“Stop Setting Goals You Don’t Actually Care About”</a:t>
            </a:r>
            <a:r>
              <a:rPr lang="en-US" sz="1600" dirty="0">
                <a:latin typeface="Calibri" charset="0"/>
                <a:ea typeface="Calibri" charset="0"/>
                <a:cs typeface="Calibri" charset="0"/>
              </a:rPr>
              <a:t> and John Doerr’s TED Talk, </a:t>
            </a:r>
            <a:r>
              <a:rPr lang="en-US" sz="1600" dirty="0">
                <a:latin typeface="Calibri" charset="0"/>
                <a:ea typeface="Calibri" charset="0"/>
                <a:cs typeface="Calibri" charset="0"/>
                <a:hlinkClick r:id="rId6"/>
              </a:rPr>
              <a:t>“Why the Secret to Success is Setting the Right Goals.”</a:t>
            </a:r>
            <a:endParaRPr lang="en-US" sz="1600" b="1" i="0" u="none" strike="noStrike" dirty="0">
              <a:solidFill>
                <a:srgbClr val="24B2CE"/>
              </a:solidFill>
              <a:effectLst/>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1600" b="1" dirty="0">
              <a:solidFill>
                <a:srgbClr val="24B2CE"/>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i="0" u="none" strike="noStrike" dirty="0">
                <a:solidFill>
                  <a:srgbClr val="24B2CE"/>
                </a:solidFill>
                <a:effectLst/>
                <a:latin typeface="Calibri" panose="020F0502020204030204" pitchFamily="34" charset="0"/>
                <a:cs typeface="Calibri" panose="020F0502020204030204" pitchFamily="34" charset="0"/>
              </a:rPr>
              <a:t>Find </a:t>
            </a:r>
            <a:r>
              <a:rPr lang="en-US" sz="1600" b="0" i="0" u="none" strike="noStrike" dirty="0">
                <a:solidFill>
                  <a:srgbClr val="2D3B45"/>
                </a:solidFill>
                <a:effectLst/>
                <a:latin typeface="Calibri" panose="020F0502020204030204" pitchFamily="34" charset="0"/>
                <a:cs typeface="Calibri" panose="020F0502020204030204" pitchFamily="34" charset="0"/>
              </a:rPr>
              <a:t>an interesting article/podcast/video related to some component of Diversity, Equity, Inclusion, Belonging, and Justice (DEIB/J). </a:t>
            </a:r>
            <a:r>
              <a:rPr lang="en-US" sz="1600" b="1" i="0" u="none" strike="noStrike" dirty="0">
                <a:solidFill>
                  <a:srgbClr val="24B2CE"/>
                </a:solidFill>
                <a:effectLst/>
                <a:latin typeface="Calibri" panose="020F0502020204030204" pitchFamily="34" charset="0"/>
                <a:cs typeface="Calibri" panose="020F0502020204030204" pitchFamily="34" charset="0"/>
              </a:rPr>
              <a:t>Be prepared to s</a:t>
            </a:r>
            <a:r>
              <a:rPr lang="en-US" sz="1600" b="1" dirty="0">
                <a:solidFill>
                  <a:srgbClr val="24B2CE"/>
                </a:solidFill>
                <a:latin typeface="Calibri" panose="020F0502020204030204" pitchFamily="34" charset="0"/>
                <a:cs typeface="Calibri" panose="020F0502020204030204" pitchFamily="34" charset="0"/>
              </a:rPr>
              <a:t>hare in next week’s class </a:t>
            </a:r>
            <a:r>
              <a:rPr lang="en-US" sz="1600" b="0" i="0" u="none" strike="noStrike" dirty="0">
                <a:solidFill>
                  <a:srgbClr val="2D3B45"/>
                </a:solidFill>
                <a:effectLst/>
                <a:latin typeface="Calibri" panose="020F0502020204030204" pitchFamily="34" charset="0"/>
                <a:cs typeface="Calibri" panose="020F0502020204030204" pitchFamily="34" charset="0"/>
              </a:rPr>
              <a:t>(through your lived experiences) how it speaks to a bias you have experienced directly and/or a commitment you have for making sure all voices are heard/respected. For example: </a:t>
            </a:r>
          </a:p>
          <a:p>
            <a:pPr marL="1200150" lvl="2" indent="-285750">
              <a:buFont typeface="Courier New" panose="02070309020205020404" pitchFamily="49" charset="0"/>
              <a:buChar char="o"/>
            </a:pPr>
            <a:r>
              <a:rPr lang="en-US" sz="1600" b="0" i="0" u="sng" strike="noStrike" dirty="0">
                <a:solidFill>
                  <a:srgbClr val="2D3B45"/>
                </a:solidFill>
                <a:effectLst/>
                <a:latin typeface="Calibri" panose="020F0502020204030204" pitchFamily="34" charset="0"/>
                <a:cs typeface="Calibri" panose="020F0502020204030204" pitchFamily="34" charset="0"/>
                <a:hlinkClick r:id="rId7"/>
              </a:rPr>
              <a:t>This article</a:t>
            </a:r>
            <a:r>
              <a:rPr lang="en-US" sz="1600" b="0" i="0" strike="noStrike" dirty="0">
                <a:solidFill>
                  <a:srgbClr val="2D3B45"/>
                </a:solidFill>
                <a:effectLst/>
                <a:latin typeface="Calibri" panose="020F0502020204030204" pitchFamily="34" charset="0"/>
                <a:cs typeface="Calibri" panose="020F0502020204030204" pitchFamily="34" charset="0"/>
              </a:rPr>
              <a:t> </a:t>
            </a:r>
            <a:r>
              <a:rPr lang="en-US" sz="1600" b="0" i="0" u="none" strike="noStrike" dirty="0">
                <a:solidFill>
                  <a:srgbClr val="2D3B45"/>
                </a:solidFill>
                <a:effectLst/>
                <a:latin typeface="Calibri" panose="020F0502020204030204" pitchFamily="34" charset="0"/>
                <a:cs typeface="Calibri" panose="020F0502020204030204" pitchFamily="34" charset="0"/>
              </a:rPr>
              <a:t>resonates with Beth as a woman who teaches in higher ed.  While she's not a person of color, she sees the gender biases among faculty and can (to a point) appreciate this author’s experiences.  </a:t>
            </a:r>
          </a:p>
          <a:p>
            <a:pPr marL="1200150" lvl="2" indent="-285750">
              <a:buFont typeface="Courier New" panose="02070309020205020404" pitchFamily="49" charset="0"/>
              <a:buChar char="o"/>
            </a:pPr>
            <a:r>
              <a:rPr lang="en-US" sz="1600" b="0" i="0" u="none" strike="noStrike" dirty="0">
                <a:solidFill>
                  <a:srgbClr val="2D3B45"/>
                </a:solidFill>
                <a:effectLst/>
                <a:latin typeface="Calibri" panose="020F0502020204030204" pitchFamily="34" charset="0"/>
                <a:cs typeface="Calibri" panose="020F0502020204030204" pitchFamily="34" charset="0"/>
              </a:rPr>
              <a:t>Someone who is introverted may have chosen </a:t>
            </a:r>
            <a:r>
              <a:rPr lang="en-US" sz="1600" b="0" i="0" u="sng" strike="noStrike" dirty="0">
                <a:solidFill>
                  <a:srgbClr val="2D3B45"/>
                </a:solidFill>
                <a:effectLst/>
                <a:latin typeface="Calibri" panose="020F0502020204030204" pitchFamily="34" charset="0"/>
                <a:cs typeface="Calibri" panose="020F0502020204030204" pitchFamily="34" charset="0"/>
                <a:hlinkClick r:id="rId8"/>
              </a:rPr>
              <a:t>this TED Talk</a:t>
            </a:r>
            <a:r>
              <a:rPr lang="en-US" sz="1600" b="0" i="0" u="none" strike="noStrike" dirty="0">
                <a:solidFill>
                  <a:srgbClr val="2D3B45"/>
                </a:solidFill>
                <a:effectLst/>
                <a:latin typeface="Calibri" panose="020F0502020204030204" pitchFamily="34" charset="0"/>
                <a:cs typeface="Calibri" panose="020F0502020204030204" pitchFamily="34" charset="0"/>
              </a:rPr>
              <a:t> and understands what it means to be introverted and how leaders need to take different personality types </a:t>
            </a:r>
            <a:r>
              <a:rPr lang="en-US" sz="1600" dirty="0">
                <a:solidFill>
                  <a:srgbClr val="2D3B45"/>
                </a:solidFill>
                <a:latin typeface="Calibri" panose="020F0502020204030204" pitchFamily="34" charset="0"/>
                <a:cs typeface="Calibri" panose="020F0502020204030204" pitchFamily="34" charset="0"/>
              </a:rPr>
              <a:t>into consideration to achieve diversity of thought</a:t>
            </a:r>
            <a:r>
              <a:rPr lang="en-US" sz="1600" b="0" i="0" u="none" strike="noStrike" dirty="0">
                <a:solidFill>
                  <a:srgbClr val="2D3B45"/>
                </a:solidFill>
                <a:effectLst/>
                <a:latin typeface="Calibri" panose="020F0502020204030204" pitchFamily="34" charset="0"/>
                <a:cs typeface="Calibri" panose="020F0502020204030204" pitchFamily="34" charset="0"/>
              </a:rPr>
              <a:t>.</a:t>
            </a:r>
          </a:p>
          <a:p>
            <a:pPr lvl="0"/>
            <a:endParaRPr lang="en-US" sz="1600" dirty="0">
              <a:latin typeface="Calibri" charset="0"/>
              <a:ea typeface="Calibri" charset="0"/>
              <a:cs typeface="Calibri" charset="0"/>
            </a:endParaRPr>
          </a:p>
          <a:p>
            <a:endParaRPr lang="en-US" dirty="0">
              <a:latin typeface="Calibri" charset="0"/>
              <a:ea typeface="Calibri" charset="0"/>
              <a:cs typeface="Calibri" charset="0"/>
            </a:endParaRPr>
          </a:p>
          <a:p>
            <a:pPr lvl="0"/>
            <a:endParaRPr lang="en-US" dirty="0">
              <a:latin typeface="Calibri" charset="0"/>
              <a:ea typeface="Calibri" charset="0"/>
              <a:cs typeface="Calibri" charset="0"/>
            </a:endParaRPr>
          </a:p>
        </p:txBody>
      </p:sp>
    </p:spTree>
    <p:extLst>
      <p:ext uri="{BB962C8B-B14F-4D97-AF65-F5344CB8AC3E}">
        <p14:creationId xmlns:p14="http://schemas.microsoft.com/office/powerpoint/2010/main" val="1551315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F0A39C-3EFD-A161-099E-2C32CA2930B4}"/>
              </a:ext>
            </a:extLst>
          </p:cNvPr>
          <p:cNvSpPr txBox="1"/>
          <p:nvPr/>
        </p:nvSpPr>
        <p:spPr>
          <a:xfrm>
            <a:off x="177281" y="786367"/>
            <a:ext cx="8789437" cy="2308324"/>
          </a:xfrm>
          <a:prstGeom prst="rect">
            <a:avLst/>
          </a:prstGeom>
          <a:noFill/>
        </p:spPr>
        <p:txBody>
          <a:bodyPr wrap="square">
            <a:spAutoFit/>
          </a:bodyPr>
          <a:lstStyle/>
          <a:p>
            <a:pPr marL="342900" indent="-342900">
              <a:buFont typeface="Arial" charset="0"/>
              <a:buChar char="•"/>
            </a:pPr>
            <a:r>
              <a:rPr lang="en-US" sz="1600" b="1" dirty="0">
                <a:solidFill>
                  <a:srgbClr val="24B2CE"/>
                </a:solidFill>
                <a:latin typeface="Calibri" charset="0"/>
                <a:ea typeface="Calibri" charset="0"/>
                <a:cs typeface="Calibri" charset="0"/>
              </a:rPr>
              <a:t>Final project reminders:</a:t>
            </a:r>
          </a:p>
          <a:p>
            <a:pPr marL="800100" lvl="1" indent="-342900">
              <a:buFont typeface="Arial" charset="0"/>
              <a:buChar char="•"/>
            </a:pPr>
            <a:r>
              <a:rPr lang="en-US" sz="1600" b="1" dirty="0">
                <a:latin typeface="Calibri" charset="0"/>
                <a:ea typeface="Calibri" charset="0"/>
                <a:cs typeface="Calibri" charset="0"/>
              </a:rPr>
              <a:t>Team presentations </a:t>
            </a:r>
            <a:r>
              <a:rPr lang="en-US" sz="1600" dirty="0">
                <a:latin typeface="Calibri" charset="0"/>
                <a:ea typeface="Calibri" charset="0"/>
                <a:cs typeface="Calibri" charset="0"/>
              </a:rPr>
              <a:t>of the playbooks will happen during the last class </a:t>
            </a:r>
            <a:r>
              <a:rPr lang="en-US" sz="1600" b="1" dirty="0">
                <a:solidFill>
                  <a:srgbClr val="FF0000"/>
                </a:solidFill>
                <a:latin typeface="Calibri" charset="0"/>
                <a:ea typeface="Calibri" charset="0"/>
                <a:cs typeface="Calibri" charset="0"/>
              </a:rPr>
              <a:t>(Tuesday – 12/2; Thursday – 12/4)</a:t>
            </a:r>
          </a:p>
          <a:p>
            <a:endParaRPr lang="en-US" sz="1600" dirty="0">
              <a:latin typeface="Calibri" charset="0"/>
              <a:ea typeface="Calibri" charset="0"/>
              <a:cs typeface="Calibri" charset="0"/>
            </a:endParaRPr>
          </a:p>
          <a:p>
            <a:pPr marL="342900" indent="-342900">
              <a:buFont typeface="Arial" charset="0"/>
              <a:buChar char="•"/>
            </a:pPr>
            <a:r>
              <a:rPr lang="en-US" sz="1600" b="1" dirty="0">
                <a:solidFill>
                  <a:srgbClr val="24B2CE"/>
                </a:solidFill>
                <a:latin typeface="Calibri" charset="0"/>
                <a:cs typeface="Calibri" charset="0"/>
              </a:rPr>
              <a:t>Final team evaluation:</a:t>
            </a:r>
          </a:p>
          <a:p>
            <a:pPr marL="800100" lvl="1" indent="-342900">
              <a:buFont typeface="Arial" charset="0"/>
              <a:buChar char="•"/>
            </a:pPr>
            <a:r>
              <a:rPr lang="en-US" sz="1600" dirty="0">
                <a:latin typeface="Calibri" charset="0"/>
                <a:cs typeface="Calibri" charset="0"/>
              </a:rPr>
              <a:t>Be thinking about your </a:t>
            </a:r>
            <a:r>
              <a:rPr lang="en-US" sz="1600" b="1" dirty="0">
                <a:latin typeface="Calibri" charset="0"/>
                <a:cs typeface="Calibri" charset="0"/>
              </a:rPr>
              <a:t>second round of stop/start/continue </a:t>
            </a:r>
            <a:r>
              <a:rPr lang="en-US" sz="1600" dirty="0">
                <a:latin typeface="Calibri" charset="0"/>
                <a:cs typeface="Calibri" charset="0"/>
              </a:rPr>
              <a:t>as you reflect one last time on your team and the degree to which you successfully met goals, committed to team intentions, worked well together, etc.  </a:t>
            </a:r>
          </a:p>
          <a:p>
            <a:pPr marL="800100" lvl="1" indent="-342900">
              <a:buFont typeface="Arial" charset="0"/>
              <a:buChar char="•"/>
            </a:pPr>
            <a:r>
              <a:rPr lang="en-US" sz="1600" i="1" dirty="0">
                <a:latin typeface="Calibri" charset="0"/>
                <a:cs typeface="Calibri" charset="0"/>
              </a:rPr>
              <a:t>You’ll submit a collective stop/start/continue write up due before the last class.</a:t>
            </a:r>
            <a:endParaRPr lang="en-US" sz="1600"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600223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F9A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2"/>
          <p:cNvSpPr txBox="1">
            <a:spLocks/>
          </p:cNvSpPr>
          <p:nvPr/>
        </p:nvSpPr>
        <p:spPr>
          <a:xfrm>
            <a:off x="300941" y="2337075"/>
            <a:ext cx="8391645" cy="46935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r>
              <a:rPr lang="en-US" sz="5400" b="1" cap="none" dirty="0">
                <a:solidFill>
                  <a:schemeClr val="bg1"/>
                </a:solidFill>
                <a:latin typeface="Calibri" charset="0"/>
                <a:ea typeface="Calibri" charset="0"/>
                <a:cs typeface="Calibri" charset="0"/>
              </a:rPr>
              <a:t>Plan for next class</a:t>
            </a:r>
          </a:p>
          <a:p>
            <a:pPr algn="ctr"/>
            <a:r>
              <a:rPr lang="en-US" sz="2000" b="1" cap="none" dirty="0">
                <a:solidFill>
                  <a:schemeClr val="bg1"/>
                </a:solidFill>
                <a:latin typeface="Calibri" charset="0"/>
                <a:ea typeface="Calibri" charset="0"/>
                <a:cs typeface="Calibri" charset="0"/>
              </a:rPr>
              <a:t>	</a:t>
            </a:r>
          </a:p>
          <a:p>
            <a:pPr algn="ctr"/>
            <a:endParaRPr lang="en-US" sz="4400" b="1" cap="none" dirty="0">
              <a:solidFill>
                <a:schemeClr val="bg1"/>
              </a:solidFill>
              <a:latin typeface="Calibri" charset="0"/>
              <a:ea typeface="Calibri" charset="0"/>
              <a:cs typeface="Calibri" charset="0"/>
            </a:endParaRPr>
          </a:p>
        </p:txBody>
      </p:sp>
    </p:spTree>
    <p:extLst>
      <p:ext uri="{BB962C8B-B14F-4D97-AF65-F5344CB8AC3E}">
        <p14:creationId xmlns:p14="http://schemas.microsoft.com/office/powerpoint/2010/main" val="6258640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extBox 4"/>
          <p:cNvSpPr txBox="1"/>
          <p:nvPr/>
        </p:nvSpPr>
        <p:spPr>
          <a:xfrm>
            <a:off x="544010" y="682907"/>
            <a:ext cx="8055980" cy="1692771"/>
          </a:xfrm>
          <a:prstGeom prst="rect">
            <a:avLst/>
          </a:prstGeom>
          <a:noFill/>
        </p:spPr>
        <p:txBody>
          <a:bodyPr wrap="square" rtlCol="0">
            <a:spAutoFit/>
          </a:bodyPr>
          <a:lstStyle/>
          <a:p>
            <a:pPr marL="173038" lvl="1"/>
            <a:r>
              <a:rPr lang="en-US" sz="3200" b="1" dirty="0">
                <a:latin typeface="Calibri" charset="0"/>
                <a:ea typeface="Calibri" charset="0"/>
                <a:cs typeface="Calibri" charset="0"/>
              </a:rPr>
              <a:t>We’ll continue with </a:t>
            </a:r>
            <a:r>
              <a:rPr lang="en-US" sz="3200" b="1" i="1" dirty="0">
                <a:latin typeface="Calibri" charset="0"/>
                <a:ea typeface="Calibri" charset="0"/>
                <a:cs typeface="Calibri" charset="0"/>
              </a:rPr>
              <a:t>leadership out </a:t>
            </a:r>
            <a:r>
              <a:rPr lang="en-US" sz="3200" b="1" dirty="0">
                <a:latin typeface="Calibri" charset="0"/>
                <a:ea typeface="Calibri" charset="0"/>
                <a:cs typeface="Calibri" charset="0"/>
              </a:rPr>
              <a:t>by:</a:t>
            </a:r>
            <a:r>
              <a:rPr lang="en-US" sz="2400" dirty="0">
                <a:latin typeface="Calibri" charset="0"/>
                <a:ea typeface="Calibri" charset="0"/>
                <a:cs typeface="Calibri" charset="0"/>
              </a:rPr>
              <a:t> </a:t>
            </a:r>
          </a:p>
          <a:p>
            <a:pPr marL="342900" lvl="0" indent="-342900">
              <a:buClr>
                <a:srgbClr val="22A9C4"/>
              </a:buClr>
              <a:buFont typeface="Arial" charset="0"/>
              <a:buChar char="•"/>
            </a:pPr>
            <a:r>
              <a:rPr lang="en-US" sz="2400" dirty="0">
                <a:latin typeface="Calibri" charset="0"/>
                <a:ea typeface="Calibri" charset="0"/>
                <a:cs typeface="Calibri" charset="0"/>
              </a:rPr>
              <a:t>Networking</a:t>
            </a:r>
          </a:p>
          <a:p>
            <a:pPr marL="342900" lvl="0" indent="-342900">
              <a:buClr>
                <a:srgbClr val="22A9C4"/>
              </a:buClr>
              <a:buFont typeface="Arial" charset="0"/>
              <a:buChar char="•"/>
            </a:pPr>
            <a:r>
              <a:rPr lang="en-US" sz="2400" dirty="0">
                <a:latin typeface="Calibri" charset="0"/>
                <a:ea typeface="Calibri" charset="0"/>
                <a:cs typeface="Calibri" charset="0"/>
              </a:rPr>
              <a:t>Goal setting</a:t>
            </a:r>
          </a:p>
          <a:p>
            <a:pPr marL="342900" lvl="0" indent="-342900">
              <a:buClr>
                <a:srgbClr val="22A9C4"/>
              </a:buClr>
              <a:buFont typeface="Arial" charset="0"/>
              <a:buChar char="•"/>
            </a:pPr>
            <a:endParaRPr lang="en-US" sz="2400" dirty="0">
              <a:latin typeface="Calibri" charset="0"/>
              <a:ea typeface="Calibri" charset="0"/>
              <a:cs typeface="Calibri" charset="0"/>
            </a:endParaRPr>
          </a:p>
        </p:txBody>
      </p:sp>
    </p:spTree>
    <p:extLst>
      <p:ext uri="{BB962C8B-B14F-4D97-AF65-F5344CB8AC3E}">
        <p14:creationId xmlns:p14="http://schemas.microsoft.com/office/powerpoint/2010/main" val="9667293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Custom 13">
      <a:dk1>
        <a:srgbClr val="3F3F3F"/>
      </a:dk1>
      <a:lt1>
        <a:sysClr val="window" lastClr="FFFFFF"/>
      </a:lt1>
      <a:dk2>
        <a:srgbClr val="000000"/>
      </a:dk2>
      <a:lt2>
        <a:srgbClr val="999999"/>
      </a:lt2>
      <a:accent1>
        <a:srgbClr val="FFA117"/>
      </a:accent1>
      <a:accent2>
        <a:srgbClr val="BFD01E"/>
      </a:accent2>
      <a:accent3>
        <a:srgbClr val="51C9E1"/>
      </a:accent3>
      <a:accent4>
        <a:srgbClr val="D145D1"/>
      </a:accent4>
      <a:accent5>
        <a:srgbClr val="F7F735"/>
      </a:accent5>
      <a:accent6>
        <a:srgbClr val="F60000"/>
      </a:accent6>
      <a:hlink>
        <a:srgbClr val="3F3F3F"/>
      </a:hlink>
      <a:folHlink>
        <a:srgbClr val="3F3F3F"/>
      </a:folHlink>
    </a:clrScheme>
    <a:fontScheme name="Custom 2">
      <a:majorFont>
        <a:latin typeface="Franklin Gothic Medium"/>
        <a:ea typeface=""/>
        <a:cs typeface=""/>
      </a:majorFont>
      <a:minorFont>
        <a:latin typeface="Book Antiqu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a:ln w="12700"/>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5_Office Theme">
  <a:themeElements>
    <a:clrScheme name="Scholastic">
      <a:dk1>
        <a:sysClr val="windowText" lastClr="000000"/>
      </a:dk1>
      <a:lt1>
        <a:sysClr val="window" lastClr="FFFFFF"/>
      </a:lt1>
      <a:dk2>
        <a:srgbClr val="C4142F"/>
      </a:dk2>
      <a:lt2>
        <a:srgbClr val="FFFFFF"/>
      </a:lt2>
      <a:accent1>
        <a:srgbClr val="F9B93F"/>
      </a:accent1>
      <a:accent2>
        <a:srgbClr val="F4821F"/>
      </a:accent2>
      <a:accent3>
        <a:srgbClr val="ED1F30"/>
      </a:accent3>
      <a:accent4>
        <a:srgbClr val="48C0DB"/>
      </a:accent4>
      <a:accent5>
        <a:srgbClr val="877BB5"/>
      </a:accent5>
      <a:accent6>
        <a:srgbClr val="01649B"/>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3846</Words>
  <Application>Microsoft Macintosh PowerPoint</Application>
  <PresentationFormat>On-screen Show (16:9)</PresentationFormat>
  <Paragraphs>345</Paragraphs>
  <Slides>42</Slides>
  <Notes>29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42</vt:i4>
      </vt:variant>
    </vt:vector>
  </HeadingPairs>
  <TitlesOfParts>
    <vt:vector size="53" baseType="lpstr">
      <vt:lpstr>ＭＳ Ｐゴシック</vt:lpstr>
      <vt:lpstr>Arial</vt:lpstr>
      <vt:lpstr>Book Antiqua</vt:lpstr>
      <vt:lpstr>Calibri</vt:lpstr>
      <vt:lpstr>Courier New</vt:lpstr>
      <vt:lpstr>Franklin Gothic Medium</vt:lpstr>
      <vt:lpstr>Mission Script</vt:lpstr>
      <vt:lpstr>Times</vt:lpstr>
      <vt:lpstr>var(--artdeco-reset-typography-font-family-sans)</vt:lpstr>
      <vt:lpstr>Office Theme</vt:lpstr>
      <vt:lpstr>5_Office Theme</vt:lpstr>
      <vt:lpstr>Entrepreneurial Leadership ENT 107 Fall 2025  -TUESDAY Class 10 </vt:lpstr>
      <vt:lpstr>PowerPoint Presentation</vt:lpstr>
      <vt:lpstr>PowerPoint Presentation</vt:lpstr>
      <vt:lpstr>PowerPoint Presentation</vt:lpstr>
      <vt:lpstr>The feedback paradigm is shifting to more of an iterative vs. event based model </vt:lpstr>
      <vt:lpstr>Honing feedback skills is more critical now than ever</vt:lpstr>
      <vt:lpstr>Everything is rooted  in active listening</vt:lpstr>
      <vt:lpstr>      Active listening   Understanding not only the content of what others are saying, but also picking up the feelings behind the words that are being spoken.</vt:lpstr>
      <vt:lpstr>Do as Pareto says … live by the 80/20 rule</vt:lpstr>
      <vt:lpstr>PowerPoint Presentation</vt:lpstr>
      <vt:lpstr>Key planning steps when giving feedback</vt:lpstr>
      <vt:lpstr>     Lead with intent </vt:lpstr>
      <vt:lpstr>PowerPoint Presentation</vt:lpstr>
      <vt:lpstr>     Create context -      think about why first </vt:lpstr>
      <vt:lpstr>Help people understand why the feedback matters</vt:lpstr>
      <vt:lpstr>     Ask questions to understand and to be understood </vt:lpstr>
      <vt:lpstr>Shed the notion that giving feedback means doing most or all of the talking</vt:lpstr>
      <vt:lpstr>PowerPoint Presentation</vt:lpstr>
      <vt:lpstr>     Think partnership vs. transaction </vt:lpstr>
      <vt:lpstr>Practice same side feedback </vt:lpstr>
      <vt:lpstr>Use a SMART framework when setting goals</vt:lpstr>
      <vt:lpstr>     Don’t underestimate the power of positive feedback </vt:lpstr>
      <vt:lpstr>Three simple guidelines</vt:lpstr>
      <vt:lpstr>PowerPoint Presentation</vt:lpstr>
      <vt:lpstr>PowerPoint Presentation</vt:lpstr>
      <vt:lpstr>Internal evolution of conflict</vt:lpstr>
      <vt:lpstr>PowerPoint Presentation</vt:lpstr>
      <vt:lpstr>Understanding conflict </vt:lpstr>
      <vt:lpstr>Understanding conflict </vt:lpstr>
      <vt:lpstr>PowerPoint Presentation</vt:lpstr>
      <vt:lpstr>PowerPoint Presentation</vt:lpstr>
      <vt:lpstr>PowerPoint Presentation</vt:lpstr>
      <vt:lpstr>Constructive conflict dialogue</vt:lpstr>
      <vt:lpstr>Avoid “fight or flight”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cp:lastPrinted>2016-10-25T18:49:28Z</cp:lastPrinted>
  <dcterms:created xsi:type="dcterms:W3CDTF">2014-04-28T12:55:11Z</dcterms:created>
  <dcterms:modified xsi:type="dcterms:W3CDTF">2025-11-03T14:51:14Z</dcterms:modified>
</cp:coreProperties>
</file>